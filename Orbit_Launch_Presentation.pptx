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we're introducing Orbit — our own central workspace for the everyday essentials of work: availability, leave, work location, attendance, approvals, documents and HR requests. It's in beta as of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Orbit exist? Because we're a distributed team, and the most basic questions — is someone working, are they on leave, where are they, when are they available, how much leave do I have — take too long to answer. The information exists, it's just scattered. Orbit puts it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concrete problems. One: no single place to see who is working and who is away. Two: leave gets communicated through different channels, often at short notice. Three: nobody has one place to check their balances and past requests. Four: we're international — where and when people work matters more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changes with Orbit: one central place for the working status of the whole organization — who is working, who is on leave, who is remote, team availability, balances, request status. Land the key line: the goal is not to digitize a leave form; the goal is reliable visibility across the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in version one? We deliberately started with what touches everyone every day: leave, work location, attendance, the team calendar, and time-zone visibility. This is the foundation the broader HR platform gets built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tour, starting with roles. Everyone is an employee — attendance, balances, requests, calendar, profile, feedback. A manager gets the same plus an approvals queue and team announcements. Administrators handle company-wide people, policies and settings. All of this is already live in the beta.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Attendance is a simple flow: check in when you start, pause when you step away, check out when you're done. The system keeps the record — no manual timesheets — and every employee gets personal analytics and historical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without the guesswork. Everything is in one place: full days, half days, ranges, custom dates, different leave types, request status and balances. The balance moves only when a request is approved. No separate calculation, no digging through old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structured process for everyone. The employee submits in Orbit; the relevant manager reviews, approves or rejects, and can add context; then status, notifications and balances all update automatically. In the current beta, approvals go to the employee's direct manager.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team calendar is the heart of version one. Instead of asking around whether someone is working today, you check Orbit. It shows your own requests and their status, approved company leave, a monthly view — and it keeps the reasons for individual leave private.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Orbit has a central notification system: requests that need your action, decisions on your requests, upcoming approved time off, and important messages. Announcements go to relevant groups or teams. The point: operational information gets a dedicated home instead of living in scattered chat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employee gets a central profile: employment information, ID documents, certificates, contracts, and other HR records. Access is role-based — people only see what their role and relationship to the information justifies.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change, and it's the most important slide for behaviour. Going forward: balance checks, leave requests, WFH requests, who-is-away, request status — all of it goes through Orbit. The calendar is only as reliable as the information we put in it, so Orbit has to be the standard source, not one channel among 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matter? For employees: clarity and less uncertainty. For managers: real visibility of availability and upcoming absences. For teams: easier scheduling. For an international organization: knowing when and where colleagues work. And for the company: one consistent record instead of fragments.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bigger vision. Orbit is not just a leave application — the beta is the starting point. Over time it can bring together salary and compensation information, contracts, documents, policies, structured HR requests, and everyday employee administration. One employee, one workspace, one reliable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today, availability, calendar, leave, attendance and approvals. Next, documents, policies and structured HR requests. Over time, contracts, compensation and broader employee operations. And the principle guiding it: we don't add features for the sake of features — every new module must remove another fragmented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expectations: this is a first version. You may hit a bug, something unexpected, a clunky workflow, a missing feature, a usability issue — or you may simply have a better idea. In every one of those cases: we want to know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Reporting is easy: Orbit includes the same common feedback form used across our applications, and the Feedback and HR Request entry points are already in the interface. Four categories — bug, feature request, improvement, general feedback. During beta, this input directly shapes the next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asks. One: use Orbit — make it part of your normal routine. Two: keep it accurate — leave and WFH go through the platform, because the shared calendar is only as reliable as what we record. Three: tell us what needs improvement through the Feedback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questions Orbit answers: who's working, who's away, where are we working from, when are we available, what leave do I have, where do I make the request. One answer to all of them: Orbit. Beta today — the central employee workspace tomorrow. Then 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1.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9144000" y="274320"/>
            <a:ext cx="2011680" cy="2011680"/>
          </a:xfrm>
          <a:prstGeom prst="ellipse">
            <a:avLst/>
          </a:prstGeom>
          <a:ln w="12700">
            <a:solidFill>
              <a:srgbClr val="818CF8">
                <a:alpha val="18000"/>
              </a:srgbClr>
            </a:solidFill>
            <a:prstDash val="solid"/>
          </a:ln>
        </p:spPr>
      </p:sp>
      <p:sp>
        <p:nvSpPr>
          <p:cNvPr id="3" name="Shape 1"/>
          <p:cNvSpPr/>
          <p:nvPr/>
        </p:nvSpPr>
        <p:spPr>
          <a:xfrm>
            <a:off x="8412480" y="-457200"/>
            <a:ext cx="3474720" cy="3474720"/>
          </a:xfrm>
          <a:prstGeom prst="ellipse">
            <a:avLst/>
          </a:prstGeom>
          <a:ln w="12700">
            <a:solidFill>
              <a:srgbClr val="818CF8">
                <a:alpha val="18000"/>
              </a:srgbClr>
            </a:solidFill>
            <a:prstDash val="solid"/>
          </a:ln>
        </p:spPr>
      </p:sp>
      <p:sp>
        <p:nvSpPr>
          <p:cNvPr id="4" name="Shape 2"/>
          <p:cNvSpPr/>
          <p:nvPr/>
        </p:nvSpPr>
        <p:spPr>
          <a:xfrm>
            <a:off x="7589520" y="-1280160"/>
            <a:ext cx="5120640" cy="5120640"/>
          </a:xfrm>
          <a:prstGeom prst="ellipse">
            <a:avLst/>
          </a:prstGeom>
          <a:ln w="12700">
            <a:solidFill>
              <a:srgbClr val="818CF8">
                <a:alpha val="18000"/>
              </a:srgbClr>
            </a:solidFill>
            <a:prstDash val="solid"/>
          </a:ln>
        </p:spPr>
      </p:sp>
      <p:sp>
        <p:nvSpPr>
          <p:cNvPr id="5" name="Shape 3"/>
          <p:cNvSpPr/>
          <p:nvPr/>
        </p:nvSpPr>
        <p:spPr>
          <a:xfrm>
            <a:off x="6675120" y="-2194560"/>
            <a:ext cx="6949440" cy="6949440"/>
          </a:xfrm>
          <a:prstGeom prst="ellipse">
            <a:avLst/>
          </a:prstGeom>
          <a:ln w="12700">
            <a:solidFill>
              <a:srgbClr val="818CF8">
                <a:alpha val="18000"/>
              </a:srgbClr>
            </a:solidFill>
            <a:prstDash val="solid"/>
          </a:ln>
        </p:spPr>
      </p:sp>
      <p:sp>
        <p:nvSpPr>
          <p:cNvPr id="6" name="Shape 4"/>
          <p:cNvSpPr/>
          <p:nvPr/>
        </p:nvSpPr>
        <p:spPr>
          <a:xfrm>
            <a:off x="274320" y="5486400"/>
            <a:ext cx="1645920" cy="1645920"/>
          </a:xfrm>
          <a:prstGeom prst="ellipse">
            <a:avLst/>
          </a:prstGeom>
          <a:ln w="12700">
            <a:solidFill>
              <a:srgbClr val="818CF8">
                <a:alpha val="14000"/>
              </a:srgbClr>
            </a:solidFill>
            <a:prstDash val="solid"/>
          </a:ln>
        </p:spPr>
      </p:sp>
      <p:sp>
        <p:nvSpPr>
          <p:cNvPr id="7" name="Shape 5"/>
          <p:cNvSpPr/>
          <p:nvPr/>
        </p:nvSpPr>
        <p:spPr>
          <a:xfrm>
            <a:off x="-365760" y="4846320"/>
            <a:ext cx="2926080" cy="2926080"/>
          </a:xfrm>
          <a:prstGeom prst="ellipse">
            <a:avLst/>
          </a:prstGeom>
          <a:ln w="12700">
            <a:solidFill>
              <a:srgbClr val="818CF8">
                <a:alpha val="14000"/>
              </a:srgbClr>
            </a:solidFill>
            <a:prstDash val="solid"/>
          </a:ln>
        </p:spPr>
      </p:sp>
      <p:sp>
        <p:nvSpPr>
          <p:cNvPr id="8" name="Shape 6"/>
          <p:cNvSpPr/>
          <p:nvPr/>
        </p:nvSpPr>
        <p:spPr>
          <a:xfrm>
            <a:off x="-1097280" y="4114800"/>
            <a:ext cx="4389120" cy="4389120"/>
          </a:xfrm>
          <a:prstGeom prst="ellipse">
            <a:avLst/>
          </a:prstGeom>
          <a:ln w="12700">
            <a:solidFill>
              <a:srgbClr val="818CF8">
                <a:alpha val="14000"/>
              </a:srgbClr>
            </a:solidFill>
            <a:prstDash val="solid"/>
          </a:ln>
        </p:spPr>
      </p:sp>
      <p:sp>
        <p:nvSpPr>
          <p:cNvPr id="9" name="Shape 7"/>
          <p:cNvSpPr/>
          <p:nvPr/>
        </p:nvSpPr>
        <p:spPr>
          <a:xfrm>
            <a:off x="11823192" y="1216152"/>
            <a:ext cx="128016" cy="128016"/>
          </a:xfrm>
          <a:prstGeom prst="ellipse">
            <a:avLst/>
          </a:prstGeom>
          <a:solidFill>
            <a:srgbClr val="818CF8"/>
          </a:solidFill>
          <a:ln/>
        </p:spPr>
      </p:sp>
      <p:sp>
        <p:nvSpPr>
          <p:cNvPr id="10" name="Shape 8"/>
          <p:cNvSpPr/>
          <p:nvPr/>
        </p:nvSpPr>
        <p:spPr>
          <a:xfrm>
            <a:off x="10094976" y="3785616"/>
            <a:ext cx="109728" cy="109728"/>
          </a:xfrm>
          <a:prstGeom prst="ellipse">
            <a:avLst/>
          </a:prstGeom>
          <a:solidFill>
            <a:srgbClr val="4F46E5"/>
          </a:solidFill>
          <a:ln/>
        </p:spPr>
      </p:sp>
      <p:sp>
        <p:nvSpPr>
          <p:cNvPr id="11" name="Shape 9"/>
          <p:cNvSpPr/>
          <p:nvPr/>
        </p:nvSpPr>
        <p:spPr>
          <a:xfrm>
            <a:off x="768096" y="2112264"/>
            <a:ext cx="384048" cy="384048"/>
          </a:xfrm>
          <a:prstGeom prst="diamond">
            <a:avLst/>
          </a:prstGeom>
          <a:solidFill>
            <a:srgbClr val="4F46E5"/>
          </a:solidFill>
          <a:ln/>
        </p:spPr>
      </p:sp>
      <p:sp>
        <p:nvSpPr>
          <p:cNvPr id="12" name="Shape 10"/>
          <p:cNvSpPr/>
          <p:nvPr/>
        </p:nvSpPr>
        <p:spPr>
          <a:xfrm>
            <a:off x="868680" y="2212848"/>
            <a:ext cx="182880" cy="182880"/>
          </a:xfrm>
          <a:prstGeom prst="diamond">
            <a:avLst/>
          </a:prstGeom>
          <a:solidFill>
            <a:srgbClr val="818CF8"/>
          </a:solidFill>
          <a:ln/>
        </p:spPr>
      </p:sp>
      <p:sp>
        <p:nvSpPr>
          <p:cNvPr id="13" name="Text 11"/>
          <p:cNvSpPr/>
          <p:nvPr/>
        </p:nvSpPr>
        <p:spPr>
          <a:xfrm>
            <a:off x="1280160" y="1783080"/>
            <a:ext cx="7315200" cy="1097280"/>
          </a:xfrm>
          <a:prstGeom prst="rect">
            <a:avLst/>
          </a:prstGeom>
          <a:noFill/>
          <a:ln/>
        </p:spPr>
        <p:txBody>
          <a:bodyPr wrap="square" lIns="0" tIns="0" rIns="0" bIns="0" rtlCol="0" anchor="ctr"/>
          <a:lstStyle/>
          <a:p>
            <a:pPr indent="0" marL="0">
              <a:buNone/>
            </a:pPr>
            <a:r>
              <a:rPr lang="en-US" sz="6600" b="1" dirty="0">
                <a:solidFill>
                  <a:srgbClr val="FFFFFF"/>
                </a:solidFill>
                <a:latin typeface="Cambria" pitchFamily="34" charset="0"/>
                <a:ea typeface="Cambria" pitchFamily="34" charset="-122"/>
                <a:cs typeface="Cambria" pitchFamily="34" charset="-120"/>
              </a:rPr>
              <a:t>Orbit</a:t>
            </a:r>
            <a:endParaRPr lang="en-US" sz="6600" dirty="0"/>
          </a:p>
        </p:txBody>
      </p:sp>
      <p:sp>
        <p:nvSpPr>
          <p:cNvPr id="14" name="Text 12"/>
          <p:cNvSpPr/>
          <p:nvPr/>
        </p:nvSpPr>
        <p:spPr>
          <a:xfrm>
            <a:off x="1325880" y="2907792"/>
            <a:ext cx="5486400" cy="365760"/>
          </a:xfrm>
          <a:prstGeom prst="rect">
            <a:avLst/>
          </a:prstGeom>
          <a:noFill/>
          <a:ln/>
        </p:spPr>
        <p:txBody>
          <a:bodyPr wrap="square" lIns="0" tIns="0" rIns="0" bIns="0" rtlCol="0" anchor="ctr"/>
          <a:lstStyle/>
          <a:p>
            <a:pPr indent="0" marL="0">
              <a:buNone/>
            </a:pPr>
            <a:r>
              <a:rPr lang="en-US" sz="2000" dirty="0">
                <a:solidFill>
                  <a:srgbClr val="94A3B8"/>
                </a:solidFill>
                <a:latin typeface="Calibri" pitchFamily="34" charset="0"/>
                <a:ea typeface="Calibri" pitchFamily="34" charset="-122"/>
                <a:cs typeface="Calibri" pitchFamily="34" charset="-120"/>
              </a:rPr>
              <a:t>by </a:t>
            </a:r>
            <a:pPr indent="0" marL="0">
              <a:buNone/>
            </a:pPr>
            <a:r>
              <a:rPr lang="en-US" sz="2000" b="1" dirty="0">
                <a:solidFill>
                  <a:srgbClr val="818CF8"/>
                </a:solidFill>
                <a:latin typeface="Calibri" pitchFamily="34" charset="0"/>
                <a:ea typeface="Calibri" pitchFamily="34" charset="-122"/>
                <a:cs typeface="Calibri" pitchFamily="34" charset="-120"/>
              </a:rPr>
              <a:t>Trula.ai</a:t>
            </a:r>
            <a:endParaRPr lang="en-US" sz="2000" dirty="0"/>
          </a:p>
        </p:txBody>
      </p:sp>
      <p:sp>
        <p:nvSpPr>
          <p:cNvPr id="15" name="Text 13"/>
          <p:cNvSpPr/>
          <p:nvPr/>
        </p:nvSpPr>
        <p:spPr>
          <a:xfrm>
            <a:off x="1325880" y="3547872"/>
            <a:ext cx="8686800" cy="457200"/>
          </a:xfrm>
          <a:prstGeom prst="rect">
            <a:avLst/>
          </a:prstGeom>
          <a:noFill/>
          <a:ln/>
        </p:spPr>
        <p:txBody>
          <a:bodyPr wrap="square" lIns="0" tIns="0" rIns="0" bIns="0" rtlCol="0" anchor="ctr"/>
          <a:lstStyle/>
          <a:p>
            <a:pPr indent="0" marL="0">
              <a:buNone/>
            </a:pPr>
            <a:r>
              <a:rPr lang="en-US" sz="2200" i="1" dirty="0">
                <a:solidFill>
                  <a:srgbClr val="E2E8F0"/>
                </a:solidFill>
                <a:latin typeface="Calibri" pitchFamily="34" charset="0"/>
                <a:ea typeface="Calibri" pitchFamily="34" charset="-122"/>
                <a:cs typeface="Calibri" pitchFamily="34" charset="-120"/>
              </a:rPr>
              <a:t>The everyday essentials of work — in one place.</a:t>
            </a:r>
            <a:endParaRPr lang="en-US" sz="2200" dirty="0"/>
          </a:p>
        </p:txBody>
      </p:sp>
      <p:sp>
        <p:nvSpPr>
          <p:cNvPr id="16" name="Text 14"/>
          <p:cNvSpPr/>
          <p:nvPr/>
        </p:nvSpPr>
        <p:spPr>
          <a:xfrm>
            <a:off x="1325880" y="4160520"/>
            <a:ext cx="7315200" cy="292608"/>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 central workspace for:</a:t>
            </a:r>
            <a:endParaRPr lang="en-US" sz="1200" dirty="0"/>
          </a:p>
        </p:txBody>
      </p:sp>
      <p:sp>
        <p:nvSpPr>
          <p:cNvPr id="17" name="Text 15"/>
          <p:cNvSpPr/>
          <p:nvPr/>
        </p:nvSpPr>
        <p:spPr>
          <a:xfrm>
            <a:off x="1325880" y="4462272"/>
            <a:ext cx="10241280" cy="365760"/>
          </a:xfrm>
          <a:prstGeom prst="rect">
            <a:avLst/>
          </a:prstGeom>
          <a:noFill/>
          <a:ln/>
        </p:spPr>
        <p:txBody>
          <a:bodyPr wrap="square" lIns="0" tIns="0" rIns="0" bIns="0" rtlCol="0" anchor="ctr"/>
          <a:lstStyle/>
          <a:p>
            <a:pPr indent="0" marL="0">
              <a:buNone/>
            </a:pPr>
            <a:r>
              <a:rPr lang="en-US" sz="1400" dirty="0">
                <a:solidFill>
                  <a:srgbClr val="94A3B8"/>
                </a:solidFill>
                <a:latin typeface="Calibri" pitchFamily="34" charset="0"/>
                <a:ea typeface="Calibri" pitchFamily="34" charset="-122"/>
                <a:cs typeface="Calibri" pitchFamily="34" charset="-120"/>
              </a:rPr>
              <a:t>Availability  ·  Leave  ·  Work Location  ·  Attendance  ·  Approvals  ·  Documents  ·  HR Requests</a:t>
            </a:r>
            <a:endParaRPr lang="en-US" sz="1400" dirty="0"/>
          </a:p>
        </p:txBody>
      </p:sp>
      <p:sp>
        <p:nvSpPr>
          <p:cNvPr id="18" name="Shape 16"/>
          <p:cNvSpPr/>
          <p:nvPr/>
        </p:nvSpPr>
        <p:spPr>
          <a:xfrm>
            <a:off x="1325880" y="5166360"/>
            <a:ext cx="2926080" cy="0"/>
          </a:xfrm>
          <a:prstGeom prst="line">
            <a:avLst/>
          </a:prstGeom>
          <a:noFill/>
          <a:ln w="12700">
            <a:solidFill>
              <a:srgbClr val="1E293B"/>
            </a:solidFill>
            <a:prstDash val="solid"/>
          </a:ln>
        </p:spPr>
      </p:sp>
      <p:sp>
        <p:nvSpPr>
          <p:cNvPr id="19" name="Text 17"/>
          <p:cNvSpPr/>
          <p:nvPr/>
        </p:nvSpPr>
        <p:spPr>
          <a:xfrm>
            <a:off x="1325880" y="5330952"/>
            <a:ext cx="7315200" cy="32004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Beta Launch  ·  August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WHY ORBIT?</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As the team grows, visibility becomes important</a:t>
            </a:r>
            <a:endParaRPr lang="en-US" sz="3000" dirty="0"/>
          </a:p>
        </p:txBody>
      </p:sp>
      <p:sp>
        <p:nvSpPr>
          <p:cNvPr id="4" name="Shape 2"/>
          <p:cNvSpPr/>
          <p:nvPr/>
        </p:nvSpPr>
        <p:spPr>
          <a:xfrm>
            <a:off x="11341303" y="585216"/>
            <a:ext cx="146304" cy="146304"/>
          </a:xfrm>
          <a:prstGeom prst="diamond">
            <a:avLst/>
          </a:prstGeom>
          <a:solidFill>
            <a:srgbClr val="818CF8"/>
          </a:solidFill>
          <a:ln/>
        </p:spPr>
      </p:sp>
      <p:sp>
        <p:nvSpPr>
          <p:cNvPr id="5" name="Shape 3"/>
          <p:cNvSpPr/>
          <p:nvPr/>
        </p:nvSpPr>
        <p:spPr>
          <a:xfrm>
            <a:off x="548640" y="1691640"/>
            <a:ext cx="4937760" cy="4297680"/>
          </a:xfrm>
          <a:prstGeom prst="roundRect">
            <a:avLst>
              <a:gd name="adj" fmla="val 2128"/>
            </a:avLst>
          </a:prstGeom>
          <a:solidFill>
            <a:srgbClr val="EEF2FF"/>
          </a:solidFill>
          <a:ln w="12700">
            <a:solidFill>
              <a:srgbClr val="C7D2FE"/>
            </a:solidFill>
            <a:prstDash val="solid"/>
          </a:ln>
          <a:effectLst>
            <a:outerShdw sx="100000" sy="100000" kx="0" ky="0" algn="bl" rotWithShape="0" blurRad="76200" dist="12700" dir="5400000">
              <a:srgbClr val="94A3B8">
                <a:alpha val="18000"/>
              </a:srgbClr>
            </a:outerShdw>
          </a:effectLst>
        </p:spPr>
      </p:sp>
      <p:sp>
        <p:nvSpPr>
          <p:cNvPr id="6" name="Shape 4"/>
          <p:cNvSpPr/>
          <p:nvPr/>
        </p:nvSpPr>
        <p:spPr>
          <a:xfrm>
            <a:off x="914400" y="2039112"/>
            <a:ext cx="219456" cy="219456"/>
          </a:xfrm>
          <a:prstGeom prst="diamond">
            <a:avLst/>
          </a:prstGeom>
          <a:solidFill>
            <a:srgbClr val="4F46E5"/>
          </a:solidFill>
          <a:ln/>
        </p:spPr>
      </p:sp>
      <p:sp>
        <p:nvSpPr>
          <p:cNvPr id="7" name="Text 5"/>
          <p:cNvSpPr/>
          <p:nvPr/>
        </p:nvSpPr>
        <p:spPr>
          <a:xfrm>
            <a:off x="914400" y="2468880"/>
            <a:ext cx="4206240" cy="1005840"/>
          </a:xfrm>
          <a:prstGeom prst="rect">
            <a:avLst/>
          </a:prstGeom>
          <a:noFill/>
          <a:ln/>
        </p:spPr>
        <p:txBody>
          <a:bodyPr wrap="square" lIns="0" tIns="0" rIns="0" bIns="0" rtlCol="0" anchor="t"/>
          <a:lstStyle/>
          <a:p>
            <a:pPr indent="0" marL="0">
              <a:lnSpc>
                <a:spcPct val="120000"/>
              </a:lnSpc>
              <a:buNone/>
            </a:pPr>
            <a:r>
              <a:rPr lang="en-US" sz="1600" dirty="0">
                <a:solidFill>
                  <a:srgbClr val="0F172A"/>
                </a:solidFill>
                <a:latin typeface="Cambria" pitchFamily="34" charset="0"/>
                <a:ea typeface="Cambria" pitchFamily="34" charset="-122"/>
                <a:cs typeface="Cambria" pitchFamily="34" charset="-120"/>
              </a:rPr>
              <a:t>Our team is increasingly distributed — across different locations, working arrangements and time zones.</a:t>
            </a:r>
            <a:endParaRPr lang="en-US" sz="1600" dirty="0"/>
          </a:p>
        </p:txBody>
      </p:sp>
      <p:sp>
        <p:nvSpPr>
          <p:cNvPr id="8" name="Text 6"/>
          <p:cNvSpPr/>
          <p:nvPr/>
        </p:nvSpPr>
        <p:spPr>
          <a:xfrm>
            <a:off x="914400" y="3520440"/>
            <a:ext cx="4206240" cy="777240"/>
          </a:xfrm>
          <a:prstGeom prst="rect">
            <a:avLst/>
          </a:prstGeom>
          <a:noFill/>
          <a:ln/>
        </p:spPr>
        <p:txBody>
          <a:bodyPr wrap="square" lIns="0" tIns="0" rIns="0" bIns="0" rtlCol="0" anchor="t"/>
          <a:lstStyle/>
          <a:p>
            <a:pPr indent="0" marL="0">
              <a:buNone/>
            </a:pPr>
            <a:r>
              <a:rPr lang="en-US" sz="1350" dirty="0">
                <a:solidFill>
                  <a:srgbClr val="64748B"/>
                </a:solidFill>
                <a:latin typeface="Calibri" pitchFamily="34" charset="0"/>
                <a:ea typeface="Calibri" pitchFamily="34" charset="-122"/>
                <a:cs typeface="Calibri" pitchFamily="34" charset="-120"/>
              </a:rPr>
              <a:t>But today, some of the most basic questions are not always easy to answer.</a:t>
            </a:r>
            <a:endParaRPr lang="en-US" sz="1350" dirty="0"/>
          </a:p>
        </p:txBody>
      </p:sp>
      <p:sp>
        <p:nvSpPr>
          <p:cNvPr id="9" name="Text 7"/>
          <p:cNvSpPr/>
          <p:nvPr/>
        </p:nvSpPr>
        <p:spPr>
          <a:xfrm>
            <a:off x="914400" y="4572000"/>
            <a:ext cx="4206240" cy="1188720"/>
          </a:xfrm>
          <a:prstGeom prst="rect">
            <a:avLst/>
          </a:prstGeom>
          <a:noFill/>
          <a:ln/>
        </p:spPr>
        <p:txBody>
          <a:bodyPr wrap="square" lIns="0" tIns="0" rIns="0" bIns="0" rtlCol="0" anchor="t"/>
          <a:lstStyle/>
          <a:p>
            <a:pPr indent="0" marL="0">
              <a:spcAft>
                <a:spcPts val="800"/>
              </a:spcAft>
              <a:buNone/>
            </a:pPr>
            <a:r>
              <a:rPr lang="en-US" sz="1250" dirty="0">
                <a:solidFill>
                  <a:srgbClr val="0F172A"/>
                </a:solidFill>
                <a:latin typeface="Calibri" pitchFamily="34" charset="0"/>
                <a:ea typeface="Calibri" pitchFamily="34" charset="-122"/>
                <a:cs typeface="Calibri" pitchFamily="34" charset="-120"/>
              </a:rPr>
              <a:t>The information exists — it is just not structured in one place.
</a:t>
            </a:r>
            <a:endParaRPr lang="en-US" sz="1250" dirty="0"/>
          </a:p>
          <a:p>
            <a:pPr indent="0" marL="0">
              <a:spcAft>
                <a:spcPts val="800"/>
              </a:spcAft>
              <a:buNone/>
            </a:pPr>
            <a:r>
              <a:rPr lang="en-US" sz="1350" b="1" dirty="0">
                <a:solidFill>
                  <a:srgbClr val="4F46E5"/>
                </a:solidFill>
                <a:latin typeface="Calibri" pitchFamily="34" charset="0"/>
                <a:ea typeface="Calibri" pitchFamily="34" charset="-122"/>
                <a:cs typeface="Calibri" pitchFamily="34" charset="-120"/>
              </a:rPr>
              <a:t>Orbit is being built to change that.</a:t>
            </a:r>
            <a:endParaRPr lang="en-US" sz="1250" dirty="0"/>
          </a:p>
        </p:txBody>
      </p:sp>
      <p:sp>
        <p:nvSpPr>
          <p:cNvPr id="10" name="Shape 8"/>
          <p:cNvSpPr/>
          <p:nvPr/>
        </p:nvSpPr>
        <p:spPr>
          <a:xfrm>
            <a:off x="5806440" y="1691640"/>
            <a:ext cx="5806440" cy="749808"/>
          </a:xfrm>
          <a:prstGeom prst="roundRect">
            <a:avLst>
              <a:gd name="adj" fmla="val 12195"/>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1" name="Shape 9"/>
          <p:cNvSpPr/>
          <p:nvPr/>
        </p:nvSpPr>
        <p:spPr>
          <a:xfrm>
            <a:off x="6053328" y="1847088"/>
            <a:ext cx="438912" cy="438912"/>
          </a:xfrm>
          <a:prstGeom prst="roundRect">
            <a:avLst>
              <a:gd name="adj" fmla="val 18750"/>
            </a:avLst>
          </a:prstGeom>
          <a:solidFill>
            <a:srgbClr val="EEF2FF"/>
          </a:solidFill>
          <a:ln/>
        </p:spPr>
      </p:sp>
      <p:pic>
        <p:nvPicPr>
          <p:cNvPr id="12" name="Image 0" descr="preencoded.png">    </p:cNvPr>
          <p:cNvPicPr>
            <a:picLocks noChangeAspect="1"/>
          </p:cNvPicPr>
          <p:nvPr/>
        </p:nvPicPr>
        <p:blipFill>
          <a:blip r:embed="rId1"/>
          <a:stretch>
            <a:fillRect/>
          </a:stretch>
        </p:blipFill>
        <p:spPr>
          <a:xfrm>
            <a:off x="6149889" y="1943649"/>
            <a:ext cx="245791" cy="245791"/>
          </a:xfrm>
          <a:prstGeom prst="rect">
            <a:avLst/>
          </a:prstGeom>
        </p:spPr>
      </p:pic>
      <p:sp>
        <p:nvSpPr>
          <p:cNvPr id="13" name="Text 10"/>
          <p:cNvSpPr/>
          <p:nvPr/>
        </p:nvSpPr>
        <p:spPr>
          <a:xfrm>
            <a:off x="6656832" y="1691640"/>
            <a:ext cx="4754880" cy="749808"/>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Is someone working today?</a:t>
            </a:r>
            <a:endParaRPr lang="en-US" sz="1500" dirty="0"/>
          </a:p>
        </p:txBody>
      </p:sp>
      <p:sp>
        <p:nvSpPr>
          <p:cNvPr id="14" name="Shape 11"/>
          <p:cNvSpPr/>
          <p:nvPr/>
        </p:nvSpPr>
        <p:spPr>
          <a:xfrm>
            <a:off x="5806440" y="2578608"/>
            <a:ext cx="5806440" cy="749808"/>
          </a:xfrm>
          <a:prstGeom prst="roundRect">
            <a:avLst>
              <a:gd name="adj" fmla="val 12195"/>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5" name="Shape 12"/>
          <p:cNvSpPr/>
          <p:nvPr/>
        </p:nvSpPr>
        <p:spPr>
          <a:xfrm>
            <a:off x="6053328" y="2734056"/>
            <a:ext cx="438912" cy="438912"/>
          </a:xfrm>
          <a:prstGeom prst="roundRect">
            <a:avLst>
              <a:gd name="adj" fmla="val 18750"/>
            </a:avLst>
          </a:prstGeom>
          <a:solidFill>
            <a:srgbClr val="EEF2FF"/>
          </a:solidFill>
          <a:ln/>
        </p:spPr>
      </p:sp>
      <p:pic>
        <p:nvPicPr>
          <p:cNvPr id="16" name="Image 1" descr="preencoded.png">    </p:cNvPr>
          <p:cNvPicPr>
            <a:picLocks noChangeAspect="1"/>
          </p:cNvPicPr>
          <p:nvPr/>
        </p:nvPicPr>
        <p:blipFill>
          <a:blip r:embed="rId2"/>
          <a:stretch>
            <a:fillRect/>
          </a:stretch>
        </p:blipFill>
        <p:spPr>
          <a:xfrm>
            <a:off x="6149889" y="2830617"/>
            <a:ext cx="245791" cy="245791"/>
          </a:xfrm>
          <a:prstGeom prst="rect">
            <a:avLst/>
          </a:prstGeom>
        </p:spPr>
      </p:pic>
      <p:sp>
        <p:nvSpPr>
          <p:cNvPr id="17" name="Text 13"/>
          <p:cNvSpPr/>
          <p:nvPr/>
        </p:nvSpPr>
        <p:spPr>
          <a:xfrm>
            <a:off x="6656832" y="2578608"/>
            <a:ext cx="4754880" cy="749808"/>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Are they on leave?</a:t>
            </a:r>
            <a:endParaRPr lang="en-US" sz="1500" dirty="0"/>
          </a:p>
        </p:txBody>
      </p:sp>
      <p:sp>
        <p:nvSpPr>
          <p:cNvPr id="18" name="Shape 14"/>
          <p:cNvSpPr/>
          <p:nvPr/>
        </p:nvSpPr>
        <p:spPr>
          <a:xfrm>
            <a:off x="5806440" y="3465576"/>
            <a:ext cx="5806440" cy="749808"/>
          </a:xfrm>
          <a:prstGeom prst="roundRect">
            <a:avLst>
              <a:gd name="adj" fmla="val 12195"/>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9" name="Shape 15"/>
          <p:cNvSpPr/>
          <p:nvPr/>
        </p:nvSpPr>
        <p:spPr>
          <a:xfrm>
            <a:off x="6053328" y="3621024"/>
            <a:ext cx="438912" cy="438912"/>
          </a:xfrm>
          <a:prstGeom prst="roundRect">
            <a:avLst>
              <a:gd name="adj" fmla="val 18750"/>
            </a:avLst>
          </a:prstGeom>
          <a:solidFill>
            <a:srgbClr val="EEF2FF"/>
          </a:solidFill>
          <a:ln/>
        </p:spPr>
      </p:sp>
      <p:pic>
        <p:nvPicPr>
          <p:cNvPr id="20" name="Image 2" descr="preencoded.png">    </p:cNvPr>
          <p:cNvPicPr>
            <a:picLocks noChangeAspect="1"/>
          </p:cNvPicPr>
          <p:nvPr/>
        </p:nvPicPr>
        <p:blipFill>
          <a:blip r:embed="rId3"/>
          <a:stretch>
            <a:fillRect/>
          </a:stretch>
        </p:blipFill>
        <p:spPr>
          <a:xfrm>
            <a:off x="6149889" y="3717585"/>
            <a:ext cx="245791" cy="245791"/>
          </a:xfrm>
          <a:prstGeom prst="rect">
            <a:avLst/>
          </a:prstGeom>
        </p:spPr>
      </p:pic>
      <p:sp>
        <p:nvSpPr>
          <p:cNvPr id="21" name="Text 16"/>
          <p:cNvSpPr/>
          <p:nvPr/>
        </p:nvSpPr>
        <p:spPr>
          <a:xfrm>
            <a:off x="6656832" y="3465576"/>
            <a:ext cx="4754880" cy="749808"/>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Where are they working from?</a:t>
            </a:r>
            <a:endParaRPr lang="en-US" sz="1500" dirty="0"/>
          </a:p>
        </p:txBody>
      </p:sp>
      <p:sp>
        <p:nvSpPr>
          <p:cNvPr id="22" name="Shape 17"/>
          <p:cNvSpPr/>
          <p:nvPr/>
        </p:nvSpPr>
        <p:spPr>
          <a:xfrm>
            <a:off x="5806440" y="4352544"/>
            <a:ext cx="5806440" cy="749808"/>
          </a:xfrm>
          <a:prstGeom prst="roundRect">
            <a:avLst>
              <a:gd name="adj" fmla="val 12195"/>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3" name="Shape 18"/>
          <p:cNvSpPr/>
          <p:nvPr/>
        </p:nvSpPr>
        <p:spPr>
          <a:xfrm>
            <a:off x="6053328" y="4507992"/>
            <a:ext cx="438912" cy="438912"/>
          </a:xfrm>
          <a:prstGeom prst="roundRect">
            <a:avLst>
              <a:gd name="adj" fmla="val 18750"/>
            </a:avLst>
          </a:prstGeom>
          <a:solidFill>
            <a:srgbClr val="EEF2FF"/>
          </a:solidFill>
          <a:ln/>
        </p:spPr>
      </p:sp>
      <p:pic>
        <p:nvPicPr>
          <p:cNvPr id="24" name="Image 3" descr="preencoded.png">    </p:cNvPr>
          <p:cNvPicPr>
            <a:picLocks noChangeAspect="1"/>
          </p:cNvPicPr>
          <p:nvPr/>
        </p:nvPicPr>
        <p:blipFill>
          <a:blip r:embed="rId4"/>
          <a:stretch>
            <a:fillRect/>
          </a:stretch>
        </p:blipFill>
        <p:spPr>
          <a:xfrm>
            <a:off x="6149889" y="4604553"/>
            <a:ext cx="245791" cy="245791"/>
          </a:xfrm>
          <a:prstGeom prst="rect">
            <a:avLst/>
          </a:prstGeom>
        </p:spPr>
      </p:pic>
      <p:sp>
        <p:nvSpPr>
          <p:cNvPr id="25" name="Text 19"/>
          <p:cNvSpPr/>
          <p:nvPr/>
        </p:nvSpPr>
        <p:spPr>
          <a:xfrm>
            <a:off x="6656832" y="4352544"/>
            <a:ext cx="4754880" cy="749808"/>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When are they available?</a:t>
            </a:r>
            <a:endParaRPr lang="en-US" sz="1500" dirty="0"/>
          </a:p>
        </p:txBody>
      </p:sp>
      <p:sp>
        <p:nvSpPr>
          <p:cNvPr id="26" name="Shape 20"/>
          <p:cNvSpPr/>
          <p:nvPr/>
        </p:nvSpPr>
        <p:spPr>
          <a:xfrm>
            <a:off x="5806440" y="5239512"/>
            <a:ext cx="5806440" cy="749808"/>
          </a:xfrm>
          <a:prstGeom prst="roundRect">
            <a:avLst>
              <a:gd name="adj" fmla="val 12195"/>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7" name="Shape 21"/>
          <p:cNvSpPr/>
          <p:nvPr/>
        </p:nvSpPr>
        <p:spPr>
          <a:xfrm>
            <a:off x="6053328" y="5394960"/>
            <a:ext cx="438912" cy="438912"/>
          </a:xfrm>
          <a:prstGeom prst="roundRect">
            <a:avLst>
              <a:gd name="adj" fmla="val 18750"/>
            </a:avLst>
          </a:prstGeom>
          <a:solidFill>
            <a:srgbClr val="EEF2FF"/>
          </a:solidFill>
          <a:ln/>
        </p:spPr>
      </p:sp>
      <p:pic>
        <p:nvPicPr>
          <p:cNvPr id="28" name="Image 4" descr="preencoded.png">    </p:cNvPr>
          <p:cNvPicPr>
            <a:picLocks noChangeAspect="1"/>
          </p:cNvPicPr>
          <p:nvPr/>
        </p:nvPicPr>
        <p:blipFill>
          <a:blip r:embed="rId5"/>
          <a:stretch>
            <a:fillRect/>
          </a:stretch>
        </p:blipFill>
        <p:spPr>
          <a:xfrm>
            <a:off x="6149889" y="5491521"/>
            <a:ext cx="245791" cy="245791"/>
          </a:xfrm>
          <a:prstGeom prst="rect">
            <a:avLst/>
          </a:prstGeom>
        </p:spPr>
      </p:pic>
      <p:sp>
        <p:nvSpPr>
          <p:cNvPr id="29" name="Text 22"/>
          <p:cNvSpPr/>
          <p:nvPr/>
        </p:nvSpPr>
        <p:spPr>
          <a:xfrm>
            <a:off x="6656832" y="5239512"/>
            <a:ext cx="4754880" cy="749808"/>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How much leave do I have left?</a:t>
            </a:r>
            <a:endParaRPr lang="en-US" sz="1500" dirty="0"/>
          </a:p>
        </p:txBody>
      </p:sp>
      <p:sp>
        <p:nvSpPr>
          <p:cNvPr id="30" name="Text 23"/>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31" name="Text 24"/>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WHY ORBIT?</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The problems we have today</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Four simple problems create unnecessary confusion.</a:t>
            </a:r>
            <a:endParaRPr lang="en-US" sz="1400" dirty="0"/>
          </a:p>
        </p:txBody>
      </p:sp>
      <p:sp>
        <p:nvSpPr>
          <p:cNvPr id="5" name="Shape 3"/>
          <p:cNvSpPr/>
          <p:nvPr/>
        </p:nvSpPr>
        <p:spPr>
          <a:xfrm>
            <a:off x="11341303" y="585216"/>
            <a:ext cx="146304" cy="146304"/>
          </a:xfrm>
          <a:prstGeom prst="diamond">
            <a:avLst/>
          </a:prstGeom>
          <a:solidFill>
            <a:srgbClr val="818CF8"/>
          </a:solidFill>
          <a:ln/>
        </p:spPr>
      </p:sp>
      <p:sp>
        <p:nvSpPr>
          <p:cNvPr id="6" name="Shape 4"/>
          <p:cNvSpPr/>
          <p:nvPr/>
        </p:nvSpPr>
        <p:spPr>
          <a:xfrm>
            <a:off x="548640" y="1783080"/>
            <a:ext cx="5349240" cy="1965960"/>
          </a:xfrm>
          <a:prstGeom prst="roundRect">
            <a:avLst>
              <a:gd name="adj" fmla="val 4651"/>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7" name="Shape 5"/>
          <p:cNvSpPr/>
          <p:nvPr/>
        </p:nvSpPr>
        <p:spPr>
          <a:xfrm>
            <a:off x="804672" y="2039112"/>
            <a:ext cx="457200" cy="457200"/>
          </a:xfrm>
          <a:prstGeom prst="roundRect">
            <a:avLst>
              <a:gd name="adj" fmla="val 20000"/>
            </a:avLst>
          </a:prstGeom>
          <a:solidFill>
            <a:srgbClr val="4F46E5"/>
          </a:solidFill>
          <a:ln/>
        </p:spPr>
      </p:sp>
      <p:sp>
        <p:nvSpPr>
          <p:cNvPr id="8" name="Text 6"/>
          <p:cNvSpPr/>
          <p:nvPr/>
        </p:nvSpPr>
        <p:spPr>
          <a:xfrm>
            <a:off x="804672" y="203911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9" name="Text 7"/>
          <p:cNvSpPr/>
          <p:nvPr/>
        </p:nvSpPr>
        <p:spPr>
          <a:xfrm>
            <a:off x="1408176" y="2057400"/>
            <a:ext cx="4251960" cy="457200"/>
          </a:xfrm>
          <a:prstGeom prst="rect">
            <a:avLst/>
          </a:prstGeom>
          <a:noFill/>
          <a:ln/>
        </p:spPr>
        <p:txBody>
          <a:bodyPr wrap="square" lIns="0" tIns="0" rIns="0" bIns="0" rtlCol="0" anchor="t"/>
          <a:lstStyle/>
          <a:p>
            <a:pPr indent="0" marL="0">
              <a:buNone/>
            </a:pPr>
            <a:r>
              <a:rPr lang="en-US" sz="1550" b="1" dirty="0">
                <a:solidFill>
                  <a:srgbClr val="0F172A"/>
                </a:solidFill>
                <a:latin typeface="Cambria" pitchFamily="34" charset="0"/>
                <a:ea typeface="Cambria" pitchFamily="34" charset="-122"/>
                <a:cs typeface="Cambria" pitchFamily="34" charset="-120"/>
              </a:rPr>
              <a:t>No clear visibility of availability</a:t>
            </a:r>
            <a:endParaRPr lang="en-US" sz="1550" dirty="0"/>
          </a:p>
        </p:txBody>
      </p:sp>
      <p:sp>
        <p:nvSpPr>
          <p:cNvPr id="10" name="Text 8"/>
          <p:cNvSpPr/>
          <p:nvPr/>
        </p:nvSpPr>
        <p:spPr>
          <a:xfrm>
            <a:off x="1408176" y="2587752"/>
            <a:ext cx="4206240" cy="105156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There is no single place where everyone can reliably see who is working and who is away.</a:t>
            </a:r>
            <a:endParaRPr lang="en-US" sz="1200" dirty="0"/>
          </a:p>
        </p:txBody>
      </p:sp>
      <p:sp>
        <p:nvSpPr>
          <p:cNvPr id="11" name="Shape 9"/>
          <p:cNvSpPr/>
          <p:nvPr/>
        </p:nvSpPr>
        <p:spPr>
          <a:xfrm>
            <a:off x="6263640" y="1783080"/>
            <a:ext cx="5349240" cy="1965960"/>
          </a:xfrm>
          <a:prstGeom prst="roundRect">
            <a:avLst>
              <a:gd name="adj" fmla="val 4651"/>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2" name="Shape 10"/>
          <p:cNvSpPr/>
          <p:nvPr/>
        </p:nvSpPr>
        <p:spPr>
          <a:xfrm>
            <a:off x="6519672" y="2039112"/>
            <a:ext cx="457200" cy="457200"/>
          </a:xfrm>
          <a:prstGeom prst="roundRect">
            <a:avLst>
              <a:gd name="adj" fmla="val 20000"/>
            </a:avLst>
          </a:prstGeom>
          <a:solidFill>
            <a:srgbClr val="4F46E5"/>
          </a:solidFill>
          <a:ln/>
        </p:spPr>
      </p:sp>
      <p:sp>
        <p:nvSpPr>
          <p:cNvPr id="13" name="Text 11"/>
          <p:cNvSpPr/>
          <p:nvPr/>
        </p:nvSpPr>
        <p:spPr>
          <a:xfrm>
            <a:off x="6519672" y="203911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4" name="Text 12"/>
          <p:cNvSpPr/>
          <p:nvPr/>
        </p:nvSpPr>
        <p:spPr>
          <a:xfrm>
            <a:off x="7123176" y="2057400"/>
            <a:ext cx="4251960" cy="457200"/>
          </a:xfrm>
          <a:prstGeom prst="rect">
            <a:avLst/>
          </a:prstGeom>
          <a:noFill/>
          <a:ln/>
        </p:spPr>
        <p:txBody>
          <a:bodyPr wrap="square" lIns="0" tIns="0" rIns="0" bIns="0" rtlCol="0" anchor="t"/>
          <a:lstStyle/>
          <a:p>
            <a:pPr indent="0" marL="0">
              <a:buNone/>
            </a:pPr>
            <a:r>
              <a:rPr lang="en-US" sz="1550" b="1" dirty="0">
                <a:solidFill>
                  <a:srgbClr val="0F172A"/>
                </a:solidFill>
                <a:latin typeface="Cambria" pitchFamily="34" charset="0"/>
                <a:ea typeface="Cambria" pitchFamily="34" charset="-122"/>
                <a:cs typeface="Cambria" pitchFamily="34" charset="-120"/>
              </a:rPr>
              <a:t>Leave communication is unstructured</a:t>
            </a:r>
            <a:endParaRPr lang="en-US" sz="1550" dirty="0"/>
          </a:p>
        </p:txBody>
      </p:sp>
      <p:sp>
        <p:nvSpPr>
          <p:cNvPr id="15" name="Text 13"/>
          <p:cNvSpPr/>
          <p:nvPr/>
        </p:nvSpPr>
        <p:spPr>
          <a:xfrm>
            <a:off x="7123176" y="2587752"/>
            <a:ext cx="4206240" cy="105156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Leave is sometimes communicated through different channels, or at short notice — so a reliable company-wide view is hard to maintain.</a:t>
            </a:r>
            <a:endParaRPr lang="en-US" sz="1200" dirty="0"/>
          </a:p>
        </p:txBody>
      </p:sp>
      <p:sp>
        <p:nvSpPr>
          <p:cNvPr id="16" name="Shape 14"/>
          <p:cNvSpPr/>
          <p:nvPr/>
        </p:nvSpPr>
        <p:spPr>
          <a:xfrm>
            <a:off x="548640" y="4023360"/>
            <a:ext cx="5349240" cy="1965960"/>
          </a:xfrm>
          <a:prstGeom prst="roundRect">
            <a:avLst>
              <a:gd name="adj" fmla="val 4651"/>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7" name="Shape 15"/>
          <p:cNvSpPr/>
          <p:nvPr/>
        </p:nvSpPr>
        <p:spPr>
          <a:xfrm>
            <a:off x="804672" y="4279392"/>
            <a:ext cx="457200" cy="457200"/>
          </a:xfrm>
          <a:prstGeom prst="roundRect">
            <a:avLst>
              <a:gd name="adj" fmla="val 20000"/>
            </a:avLst>
          </a:prstGeom>
          <a:solidFill>
            <a:srgbClr val="4F46E5"/>
          </a:solidFill>
          <a:ln/>
        </p:spPr>
      </p:sp>
      <p:sp>
        <p:nvSpPr>
          <p:cNvPr id="18" name="Text 16"/>
          <p:cNvSpPr/>
          <p:nvPr/>
        </p:nvSpPr>
        <p:spPr>
          <a:xfrm>
            <a:off x="804672" y="427939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19" name="Text 17"/>
          <p:cNvSpPr/>
          <p:nvPr/>
        </p:nvSpPr>
        <p:spPr>
          <a:xfrm>
            <a:off x="1408176" y="4297680"/>
            <a:ext cx="4251960" cy="457200"/>
          </a:xfrm>
          <a:prstGeom prst="rect">
            <a:avLst/>
          </a:prstGeom>
          <a:noFill/>
          <a:ln/>
        </p:spPr>
        <p:txBody>
          <a:bodyPr wrap="square" lIns="0" tIns="0" rIns="0" bIns="0" rtlCol="0" anchor="t"/>
          <a:lstStyle/>
          <a:p>
            <a:pPr indent="0" marL="0">
              <a:buNone/>
            </a:pPr>
            <a:r>
              <a:rPr lang="en-US" sz="1550" b="1" dirty="0">
                <a:solidFill>
                  <a:srgbClr val="0F172A"/>
                </a:solidFill>
                <a:latin typeface="Cambria" pitchFamily="34" charset="0"/>
                <a:ea typeface="Cambria" pitchFamily="34" charset="-122"/>
                <a:cs typeface="Cambria" pitchFamily="34" charset="-120"/>
              </a:rPr>
              <a:t>Leave balances are not clearly visible</a:t>
            </a:r>
            <a:endParaRPr lang="en-US" sz="1550" dirty="0"/>
          </a:p>
        </p:txBody>
      </p:sp>
      <p:sp>
        <p:nvSpPr>
          <p:cNvPr id="20" name="Text 18"/>
          <p:cNvSpPr/>
          <p:nvPr/>
        </p:nvSpPr>
        <p:spPr>
          <a:xfrm>
            <a:off x="1408176" y="4828032"/>
            <a:ext cx="4206240" cy="105156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Employees do not have one place to check their available leave, leave types and previous requests.</a:t>
            </a:r>
            <a:endParaRPr lang="en-US" sz="1200" dirty="0"/>
          </a:p>
        </p:txBody>
      </p:sp>
      <p:sp>
        <p:nvSpPr>
          <p:cNvPr id="21" name="Shape 19"/>
          <p:cNvSpPr/>
          <p:nvPr/>
        </p:nvSpPr>
        <p:spPr>
          <a:xfrm>
            <a:off x="6263640" y="4023360"/>
            <a:ext cx="5349240" cy="1965960"/>
          </a:xfrm>
          <a:prstGeom prst="roundRect">
            <a:avLst>
              <a:gd name="adj" fmla="val 4651"/>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2" name="Shape 20"/>
          <p:cNvSpPr/>
          <p:nvPr/>
        </p:nvSpPr>
        <p:spPr>
          <a:xfrm>
            <a:off x="6519672" y="4279392"/>
            <a:ext cx="457200" cy="457200"/>
          </a:xfrm>
          <a:prstGeom prst="roundRect">
            <a:avLst>
              <a:gd name="adj" fmla="val 20000"/>
            </a:avLst>
          </a:prstGeom>
          <a:solidFill>
            <a:srgbClr val="4F46E5"/>
          </a:solidFill>
          <a:ln/>
        </p:spPr>
      </p:sp>
      <p:sp>
        <p:nvSpPr>
          <p:cNvPr id="23" name="Text 21"/>
          <p:cNvSpPr/>
          <p:nvPr/>
        </p:nvSpPr>
        <p:spPr>
          <a:xfrm>
            <a:off x="6519672" y="427939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4</a:t>
            </a:r>
            <a:endParaRPr lang="en-US" sz="1700" dirty="0"/>
          </a:p>
        </p:txBody>
      </p:sp>
      <p:sp>
        <p:nvSpPr>
          <p:cNvPr id="24" name="Text 22"/>
          <p:cNvSpPr/>
          <p:nvPr/>
        </p:nvSpPr>
        <p:spPr>
          <a:xfrm>
            <a:off x="7123176" y="4297680"/>
            <a:ext cx="4251960" cy="457200"/>
          </a:xfrm>
          <a:prstGeom prst="rect">
            <a:avLst/>
          </a:prstGeom>
          <a:noFill/>
          <a:ln/>
        </p:spPr>
        <p:txBody>
          <a:bodyPr wrap="square" lIns="0" tIns="0" rIns="0" bIns="0" rtlCol="0" anchor="t"/>
          <a:lstStyle/>
          <a:p>
            <a:pPr indent="0" marL="0">
              <a:buNone/>
            </a:pPr>
            <a:r>
              <a:rPr lang="en-US" sz="1550" b="1" dirty="0">
                <a:solidFill>
                  <a:srgbClr val="0F172A"/>
                </a:solidFill>
                <a:latin typeface="Cambria" pitchFamily="34" charset="0"/>
                <a:ea typeface="Cambria" pitchFamily="34" charset="-122"/>
                <a:cs typeface="Cambria" pitchFamily="34" charset="-120"/>
              </a:rPr>
              <a:t>We work across locations &amp; time zones</a:t>
            </a:r>
            <a:endParaRPr lang="en-US" sz="1550" dirty="0"/>
          </a:p>
        </p:txBody>
      </p:sp>
      <p:sp>
        <p:nvSpPr>
          <p:cNvPr id="25" name="Text 23"/>
          <p:cNvSpPr/>
          <p:nvPr/>
        </p:nvSpPr>
        <p:spPr>
          <a:xfrm>
            <a:off x="7123176" y="4828032"/>
            <a:ext cx="4206240" cy="105156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For an international team, understanding where and when colleagues are working becomes increasingly important.</a:t>
            </a:r>
            <a:endParaRPr lang="en-US" sz="1200" dirty="0"/>
          </a:p>
        </p:txBody>
      </p:sp>
      <p:sp>
        <p:nvSpPr>
          <p:cNvPr id="26" name="Text 24"/>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27" name="Text 25"/>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WHY ORBIT?</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What Orbit changes</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From scattered information to one source of truth.</a:t>
            </a:r>
            <a:endParaRPr lang="en-US" sz="1400" dirty="0"/>
          </a:p>
        </p:txBody>
      </p:sp>
      <p:sp>
        <p:nvSpPr>
          <p:cNvPr id="5" name="Shape 3"/>
          <p:cNvSpPr/>
          <p:nvPr/>
        </p:nvSpPr>
        <p:spPr>
          <a:xfrm>
            <a:off x="11341303" y="585216"/>
            <a:ext cx="146304" cy="146304"/>
          </a:xfrm>
          <a:prstGeom prst="diamond">
            <a:avLst/>
          </a:prstGeom>
          <a:solidFill>
            <a:srgbClr val="818CF8"/>
          </a:solidFill>
          <a:ln/>
        </p:spPr>
      </p:sp>
      <p:sp>
        <p:nvSpPr>
          <p:cNvPr id="6" name="Shape 4"/>
          <p:cNvSpPr/>
          <p:nvPr/>
        </p:nvSpPr>
        <p:spPr>
          <a:xfrm>
            <a:off x="548640" y="1783080"/>
            <a:ext cx="4937760" cy="4206240"/>
          </a:xfrm>
          <a:prstGeom prst="roundRect">
            <a:avLst>
              <a:gd name="adj" fmla="val 2174"/>
            </a:avLst>
          </a:prstGeom>
          <a:solidFill>
            <a:srgbClr val="EEF2FF"/>
          </a:solidFill>
          <a:ln w="12700">
            <a:solidFill>
              <a:srgbClr val="C7D2FE"/>
            </a:solidFill>
            <a:prstDash val="solid"/>
          </a:ln>
          <a:effectLst>
            <a:outerShdw sx="100000" sy="100000" kx="0" ky="0" algn="bl" rotWithShape="0" blurRad="76200" dist="12700" dir="5400000">
              <a:srgbClr val="94A3B8">
                <a:alpha val="18000"/>
              </a:srgbClr>
            </a:outerShdw>
          </a:effectLst>
        </p:spPr>
      </p:sp>
      <p:sp>
        <p:nvSpPr>
          <p:cNvPr id="7" name="Text 5"/>
          <p:cNvSpPr/>
          <p:nvPr/>
        </p:nvSpPr>
        <p:spPr>
          <a:xfrm>
            <a:off x="914400" y="2148840"/>
            <a:ext cx="4206240" cy="1097280"/>
          </a:xfrm>
          <a:prstGeom prst="rect">
            <a:avLst/>
          </a:prstGeom>
          <a:noFill/>
          <a:ln/>
        </p:spPr>
        <p:txBody>
          <a:bodyPr wrap="square" lIns="0" tIns="0" rIns="0" bIns="0" rtlCol="0" anchor="t"/>
          <a:lstStyle/>
          <a:p>
            <a:pPr indent="0" marL="0">
              <a:lnSpc>
                <a:spcPct val="120000"/>
              </a:lnSpc>
              <a:buNone/>
            </a:pPr>
            <a:r>
              <a:rPr lang="en-US" sz="1700" dirty="0">
                <a:solidFill>
                  <a:srgbClr val="0F172A"/>
                </a:solidFill>
                <a:latin typeface="Cambria" pitchFamily="34" charset="0"/>
                <a:ea typeface="Cambria" pitchFamily="34" charset="-122"/>
                <a:cs typeface="Cambria" pitchFamily="34" charset="-120"/>
              </a:rPr>
              <a:t>Orbit gives us one central place to understand the working status of the organization.</a:t>
            </a:r>
            <a:endParaRPr lang="en-US" sz="1700" dirty="0"/>
          </a:p>
        </p:txBody>
      </p:sp>
      <p:sp>
        <p:nvSpPr>
          <p:cNvPr id="8" name="Shape 6"/>
          <p:cNvSpPr/>
          <p:nvPr/>
        </p:nvSpPr>
        <p:spPr>
          <a:xfrm>
            <a:off x="914400" y="3566160"/>
            <a:ext cx="2011680" cy="0"/>
          </a:xfrm>
          <a:prstGeom prst="line">
            <a:avLst/>
          </a:prstGeom>
          <a:noFill/>
          <a:ln w="19050">
            <a:solidFill>
              <a:srgbClr val="C7D2FE"/>
            </a:solidFill>
            <a:prstDash val="solid"/>
          </a:ln>
        </p:spPr>
      </p:sp>
      <p:sp>
        <p:nvSpPr>
          <p:cNvPr id="9" name="Text 7"/>
          <p:cNvSpPr/>
          <p:nvPr/>
        </p:nvSpPr>
        <p:spPr>
          <a:xfrm>
            <a:off x="914400" y="3794760"/>
            <a:ext cx="4206240" cy="1737360"/>
          </a:xfrm>
          <a:prstGeom prst="rect">
            <a:avLst/>
          </a:prstGeom>
          <a:noFill/>
          <a:ln/>
        </p:spPr>
        <p:txBody>
          <a:bodyPr wrap="square" lIns="0" tIns="0" rIns="0" bIns="0" rtlCol="0" anchor="t"/>
          <a:lstStyle/>
          <a:p>
            <a:pPr indent="0" marL="0">
              <a:spcAft>
                <a:spcPts val="1000"/>
              </a:spcAft>
              <a:buNone/>
            </a:pPr>
            <a:r>
              <a:rPr lang="en-US" sz="1300" dirty="0">
                <a:solidFill>
                  <a:srgbClr val="64748B"/>
                </a:solidFill>
                <a:latin typeface="Calibri" pitchFamily="34" charset="0"/>
                <a:ea typeface="Calibri" pitchFamily="34" charset="-122"/>
                <a:cs typeface="Calibri" pitchFamily="34" charset="-120"/>
              </a:rPr>
              <a:t>The goal is not simply to digitize a leave form.
</a:t>
            </a:r>
            <a:endParaRPr lang="en-US" sz="1300" dirty="0"/>
          </a:p>
          <a:p>
            <a:pPr indent="0" marL="0">
              <a:spcAft>
                <a:spcPts val="1000"/>
              </a:spcAft>
              <a:buNone/>
            </a:pPr>
            <a:r>
              <a:rPr lang="en-US" sz="1500" b="1" dirty="0">
                <a:solidFill>
                  <a:srgbClr val="4F46E5"/>
                </a:solidFill>
                <a:latin typeface="Calibri" pitchFamily="34" charset="0"/>
                <a:ea typeface="Calibri" pitchFamily="34" charset="-122"/>
                <a:cs typeface="Calibri" pitchFamily="34" charset="-120"/>
              </a:rPr>
              <a:t>The goal is reliable visibility across the organization.</a:t>
            </a:r>
            <a:endParaRPr lang="en-US" sz="1300" dirty="0"/>
          </a:p>
        </p:txBody>
      </p:sp>
      <p:sp>
        <p:nvSpPr>
          <p:cNvPr id="10" name="Shape 8"/>
          <p:cNvSpPr/>
          <p:nvPr/>
        </p:nvSpPr>
        <p:spPr>
          <a:xfrm>
            <a:off x="5806440" y="1783080"/>
            <a:ext cx="5806440" cy="4206240"/>
          </a:xfrm>
          <a:prstGeom prst="roundRect">
            <a:avLst>
              <a:gd name="adj" fmla="val 2174"/>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1" name="Text 9"/>
          <p:cNvSpPr/>
          <p:nvPr/>
        </p:nvSpPr>
        <p:spPr>
          <a:xfrm>
            <a:off x="6126480" y="2011680"/>
            <a:ext cx="5120640" cy="36576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Employees and managers can see:</a:t>
            </a:r>
            <a:endParaRPr lang="en-US" sz="1400" dirty="0"/>
          </a:p>
        </p:txBody>
      </p:sp>
      <p:sp>
        <p:nvSpPr>
          <p:cNvPr id="12" name="Shape 10"/>
          <p:cNvSpPr/>
          <p:nvPr/>
        </p:nvSpPr>
        <p:spPr>
          <a:xfrm>
            <a:off x="6144768" y="2514600"/>
            <a:ext cx="329184" cy="329184"/>
          </a:xfrm>
          <a:prstGeom prst="roundRect">
            <a:avLst>
              <a:gd name="adj" fmla="val 25000"/>
            </a:avLst>
          </a:prstGeom>
          <a:solidFill>
            <a:srgbClr val="ECFDF5"/>
          </a:solidFill>
          <a:ln/>
        </p:spPr>
      </p:sp>
      <p:pic>
        <p:nvPicPr>
          <p:cNvPr id="13" name="Image 0" descr="preencoded.png">    </p:cNvPr>
          <p:cNvPicPr>
            <a:picLocks noChangeAspect="1"/>
          </p:cNvPicPr>
          <p:nvPr/>
        </p:nvPicPr>
        <p:blipFill>
          <a:blip r:embed="rId1"/>
          <a:stretch>
            <a:fillRect/>
          </a:stretch>
        </p:blipFill>
        <p:spPr>
          <a:xfrm>
            <a:off x="6217188" y="2587020"/>
            <a:ext cx="184343" cy="184343"/>
          </a:xfrm>
          <a:prstGeom prst="rect">
            <a:avLst/>
          </a:prstGeom>
        </p:spPr>
      </p:pic>
      <p:sp>
        <p:nvSpPr>
          <p:cNvPr id="14" name="Text 11"/>
          <p:cNvSpPr/>
          <p:nvPr/>
        </p:nvSpPr>
        <p:spPr>
          <a:xfrm>
            <a:off x="6620256" y="2468880"/>
            <a:ext cx="4846320" cy="420624"/>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Who is working</a:t>
            </a:r>
            <a:endParaRPr lang="en-US" sz="1300" dirty="0"/>
          </a:p>
        </p:txBody>
      </p:sp>
      <p:sp>
        <p:nvSpPr>
          <p:cNvPr id="15" name="Shape 12"/>
          <p:cNvSpPr/>
          <p:nvPr/>
        </p:nvSpPr>
        <p:spPr>
          <a:xfrm>
            <a:off x="6144768" y="2999232"/>
            <a:ext cx="329184" cy="329184"/>
          </a:xfrm>
          <a:prstGeom prst="roundRect">
            <a:avLst>
              <a:gd name="adj" fmla="val 25000"/>
            </a:avLst>
          </a:prstGeom>
          <a:solidFill>
            <a:srgbClr val="ECFDF5"/>
          </a:solidFill>
          <a:ln/>
        </p:spPr>
      </p:sp>
      <p:pic>
        <p:nvPicPr>
          <p:cNvPr id="16" name="Image 1" descr="preencoded.png">    </p:cNvPr>
          <p:cNvPicPr>
            <a:picLocks noChangeAspect="1"/>
          </p:cNvPicPr>
          <p:nvPr/>
        </p:nvPicPr>
        <p:blipFill>
          <a:blip r:embed="rId2"/>
          <a:stretch>
            <a:fillRect/>
          </a:stretch>
        </p:blipFill>
        <p:spPr>
          <a:xfrm>
            <a:off x="6217188" y="3071652"/>
            <a:ext cx="184343" cy="184343"/>
          </a:xfrm>
          <a:prstGeom prst="rect">
            <a:avLst/>
          </a:prstGeom>
        </p:spPr>
      </p:pic>
      <p:sp>
        <p:nvSpPr>
          <p:cNvPr id="17" name="Text 13"/>
          <p:cNvSpPr/>
          <p:nvPr/>
        </p:nvSpPr>
        <p:spPr>
          <a:xfrm>
            <a:off x="6620256" y="2953512"/>
            <a:ext cx="4846320" cy="420624"/>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Who is on leave</a:t>
            </a:r>
            <a:endParaRPr lang="en-US" sz="1300" dirty="0"/>
          </a:p>
        </p:txBody>
      </p:sp>
      <p:sp>
        <p:nvSpPr>
          <p:cNvPr id="18" name="Shape 14"/>
          <p:cNvSpPr/>
          <p:nvPr/>
        </p:nvSpPr>
        <p:spPr>
          <a:xfrm>
            <a:off x="6144768" y="3483864"/>
            <a:ext cx="329184" cy="329184"/>
          </a:xfrm>
          <a:prstGeom prst="roundRect">
            <a:avLst>
              <a:gd name="adj" fmla="val 25000"/>
            </a:avLst>
          </a:prstGeom>
          <a:solidFill>
            <a:srgbClr val="ECFDF5"/>
          </a:solidFill>
          <a:ln/>
        </p:spPr>
      </p:sp>
      <p:pic>
        <p:nvPicPr>
          <p:cNvPr id="19" name="Image 2" descr="preencoded.png">    </p:cNvPr>
          <p:cNvPicPr>
            <a:picLocks noChangeAspect="1"/>
          </p:cNvPicPr>
          <p:nvPr/>
        </p:nvPicPr>
        <p:blipFill>
          <a:blip r:embed="rId3"/>
          <a:stretch>
            <a:fillRect/>
          </a:stretch>
        </p:blipFill>
        <p:spPr>
          <a:xfrm>
            <a:off x="6217188" y="3556284"/>
            <a:ext cx="184343" cy="184343"/>
          </a:xfrm>
          <a:prstGeom prst="rect">
            <a:avLst/>
          </a:prstGeom>
        </p:spPr>
      </p:pic>
      <p:sp>
        <p:nvSpPr>
          <p:cNvPr id="20" name="Text 15"/>
          <p:cNvSpPr/>
          <p:nvPr/>
        </p:nvSpPr>
        <p:spPr>
          <a:xfrm>
            <a:off x="6620256" y="3438144"/>
            <a:ext cx="4846320" cy="420624"/>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Who is working remotely / from another location</a:t>
            </a:r>
            <a:endParaRPr lang="en-US" sz="1300" dirty="0"/>
          </a:p>
        </p:txBody>
      </p:sp>
      <p:sp>
        <p:nvSpPr>
          <p:cNvPr id="21" name="Shape 16"/>
          <p:cNvSpPr/>
          <p:nvPr/>
        </p:nvSpPr>
        <p:spPr>
          <a:xfrm>
            <a:off x="6144768" y="3968496"/>
            <a:ext cx="329184" cy="329184"/>
          </a:xfrm>
          <a:prstGeom prst="roundRect">
            <a:avLst>
              <a:gd name="adj" fmla="val 25000"/>
            </a:avLst>
          </a:prstGeom>
          <a:solidFill>
            <a:srgbClr val="ECFDF5"/>
          </a:solidFill>
          <a:ln/>
        </p:spPr>
      </p:sp>
      <p:pic>
        <p:nvPicPr>
          <p:cNvPr id="22" name="Image 3" descr="preencoded.png">    </p:cNvPr>
          <p:cNvPicPr>
            <a:picLocks noChangeAspect="1"/>
          </p:cNvPicPr>
          <p:nvPr/>
        </p:nvPicPr>
        <p:blipFill>
          <a:blip r:embed="rId4"/>
          <a:stretch>
            <a:fillRect/>
          </a:stretch>
        </p:blipFill>
        <p:spPr>
          <a:xfrm>
            <a:off x="6217188" y="4040916"/>
            <a:ext cx="184343" cy="184343"/>
          </a:xfrm>
          <a:prstGeom prst="rect">
            <a:avLst/>
          </a:prstGeom>
        </p:spPr>
      </p:pic>
      <p:sp>
        <p:nvSpPr>
          <p:cNvPr id="23" name="Text 17"/>
          <p:cNvSpPr/>
          <p:nvPr/>
        </p:nvSpPr>
        <p:spPr>
          <a:xfrm>
            <a:off x="6620256" y="3922776"/>
            <a:ext cx="4846320" cy="420624"/>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Team availability</a:t>
            </a:r>
            <a:endParaRPr lang="en-US" sz="1300" dirty="0"/>
          </a:p>
        </p:txBody>
      </p:sp>
      <p:sp>
        <p:nvSpPr>
          <p:cNvPr id="24" name="Shape 18"/>
          <p:cNvSpPr/>
          <p:nvPr/>
        </p:nvSpPr>
        <p:spPr>
          <a:xfrm>
            <a:off x="6144768" y="4453128"/>
            <a:ext cx="329184" cy="329184"/>
          </a:xfrm>
          <a:prstGeom prst="roundRect">
            <a:avLst>
              <a:gd name="adj" fmla="val 25000"/>
            </a:avLst>
          </a:prstGeom>
          <a:solidFill>
            <a:srgbClr val="ECFDF5"/>
          </a:solidFill>
          <a:ln/>
        </p:spPr>
      </p:sp>
      <p:pic>
        <p:nvPicPr>
          <p:cNvPr id="25" name="Image 4" descr="preencoded.png">    </p:cNvPr>
          <p:cNvPicPr>
            <a:picLocks noChangeAspect="1"/>
          </p:cNvPicPr>
          <p:nvPr/>
        </p:nvPicPr>
        <p:blipFill>
          <a:blip r:embed="rId5"/>
          <a:stretch>
            <a:fillRect/>
          </a:stretch>
        </p:blipFill>
        <p:spPr>
          <a:xfrm>
            <a:off x="6217188" y="4525548"/>
            <a:ext cx="184343" cy="184343"/>
          </a:xfrm>
          <a:prstGeom prst="rect">
            <a:avLst/>
          </a:prstGeom>
        </p:spPr>
      </p:pic>
      <p:sp>
        <p:nvSpPr>
          <p:cNvPr id="26" name="Text 19"/>
          <p:cNvSpPr/>
          <p:nvPr/>
        </p:nvSpPr>
        <p:spPr>
          <a:xfrm>
            <a:off x="6620256" y="4407408"/>
            <a:ext cx="4846320" cy="420624"/>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Leave balances</a:t>
            </a:r>
            <a:endParaRPr lang="en-US" sz="1300" dirty="0"/>
          </a:p>
        </p:txBody>
      </p:sp>
      <p:sp>
        <p:nvSpPr>
          <p:cNvPr id="27" name="Shape 20"/>
          <p:cNvSpPr/>
          <p:nvPr/>
        </p:nvSpPr>
        <p:spPr>
          <a:xfrm>
            <a:off x="6144768" y="4937760"/>
            <a:ext cx="329184" cy="329184"/>
          </a:xfrm>
          <a:prstGeom prst="roundRect">
            <a:avLst>
              <a:gd name="adj" fmla="val 25000"/>
            </a:avLst>
          </a:prstGeom>
          <a:solidFill>
            <a:srgbClr val="ECFDF5"/>
          </a:solidFill>
          <a:ln/>
        </p:spPr>
      </p:sp>
      <p:pic>
        <p:nvPicPr>
          <p:cNvPr id="28" name="Image 5" descr="preencoded.png">    </p:cNvPr>
          <p:cNvPicPr>
            <a:picLocks noChangeAspect="1"/>
          </p:cNvPicPr>
          <p:nvPr/>
        </p:nvPicPr>
        <p:blipFill>
          <a:blip r:embed="rId6"/>
          <a:stretch>
            <a:fillRect/>
          </a:stretch>
        </p:blipFill>
        <p:spPr>
          <a:xfrm>
            <a:off x="6217188" y="5010180"/>
            <a:ext cx="184343" cy="184343"/>
          </a:xfrm>
          <a:prstGeom prst="rect">
            <a:avLst/>
          </a:prstGeom>
        </p:spPr>
      </p:pic>
      <p:sp>
        <p:nvSpPr>
          <p:cNvPr id="29" name="Text 21"/>
          <p:cNvSpPr/>
          <p:nvPr/>
        </p:nvSpPr>
        <p:spPr>
          <a:xfrm>
            <a:off x="6620256" y="4892040"/>
            <a:ext cx="4846320" cy="420624"/>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Leave request status</a:t>
            </a:r>
            <a:endParaRPr lang="en-US" sz="1300" dirty="0"/>
          </a:p>
        </p:txBody>
      </p:sp>
      <p:sp>
        <p:nvSpPr>
          <p:cNvPr id="30" name="Shape 22"/>
          <p:cNvSpPr/>
          <p:nvPr/>
        </p:nvSpPr>
        <p:spPr>
          <a:xfrm>
            <a:off x="6144768" y="5422392"/>
            <a:ext cx="329184" cy="329184"/>
          </a:xfrm>
          <a:prstGeom prst="roundRect">
            <a:avLst>
              <a:gd name="adj" fmla="val 25000"/>
            </a:avLst>
          </a:prstGeom>
          <a:solidFill>
            <a:srgbClr val="ECFDF5"/>
          </a:solidFill>
          <a:ln/>
        </p:spPr>
      </p:sp>
      <p:pic>
        <p:nvPicPr>
          <p:cNvPr id="31" name="Image 6" descr="preencoded.png">    </p:cNvPr>
          <p:cNvPicPr>
            <a:picLocks noChangeAspect="1"/>
          </p:cNvPicPr>
          <p:nvPr/>
        </p:nvPicPr>
        <p:blipFill>
          <a:blip r:embed="rId7"/>
          <a:stretch>
            <a:fillRect/>
          </a:stretch>
        </p:blipFill>
        <p:spPr>
          <a:xfrm>
            <a:off x="6217188" y="5494812"/>
            <a:ext cx="184343" cy="184343"/>
          </a:xfrm>
          <a:prstGeom prst="rect">
            <a:avLst/>
          </a:prstGeom>
        </p:spPr>
      </p:pic>
      <p:sp>
        <p:nvSpPr>
          <p:cNvPr id="32" name="Text 23"/>
          <p:cNvSpPr/>
          <p:nvPr/>
        </p:nvSpPr>
        <p:spPr>
          <a:xfrm>
            <a:off x="6620256" y="5376672"/>
            <a:ext cx="4846320" cy="420624"/>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Relevant working-time information</a:t>
            </a:r>
            <a:endParaRPr lang="en-US" sz="1300" dirty="0"/>
          </a:p>
        </p:txBody>
      </p:sp>
      <p:sp>
        <p:nvSpPr>
          <p:cNvPr id="33" name="Text 24"/>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34" name="Text 25"/>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THE BETA</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Version 1: calendar first</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We are starting with what affects us every day.</a:t>
            </a:r>
            <a:endParaRPr lang="en-US" sz="1400" dirty="0"/>
          </a:p>
        </p:txBody>
      </p:sp>
      <p:sp>
        <p:nvSpPr>
          <p:cNvPr id="5" name="Shape 3"/>
          <p:cNvSpPr/>
          <p:nvPr/>
        </p:nvSpPr>
        <p:spPr>
          <a:xfrm>
            <a:off x="11341303" y="585216"/>
            <a:ext cx="146304" cy="146304"/>
          </a:xfrm>
          <a:prstGeom prst="diamond">
            <a:avLst/>
          </a:prstGeom>
          <a:solidFill>
            <a:srgbClr val="818CF8"/>
          </a:solidFill>
          <a:ln/>
        </p:spPr>
      </p:sp>
      <p:sp>
        <p:nvSpPr>
          <p:cNvPr id="6" name="Text 4"/>
          <p:cNvSpPr/>
          <p:nvPr/>
        </p:nvSpPr>
        <p:spPr>
          <a:xfrm>
            <a:off x="566928" y="1664208"/>
            <a:ext cx="10515600" cy="365760"/>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Orbit is currently in Beta. The first version is built primarily around the work calendar and day-to-day employee availability.</a:t>
            </a:r>
            <a:endParaRPr lang="en-US" sz="1300" dirty="0"/>
          </a:p>
        </p:txBody>
      </p:sp>
      <p:sp>
        <p:nvSpPr>
          <p:cNvPr id="7" name="Shape 5"/>
          <p:cNvSpPr/>
          <p:nvPr/>
        </p:nvSpPr>
        <p:spPr>
          <a:xfrm>
            <a:off x="548640" y="2194560"/>
            <a:ext cx="3657600" cy="1691640"/>
          </a:xfrm>
          <a:prstGeom prst="roundRect">
            <a:avLst>
              <a:gd name="adj" fmla="val 5405"/>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8" name="Shape 6"/>
          <p:cNvSpPr/>
          <p:nvPr/>
        </p:nvSpPr>
        <p:spPr>
          <a:xfrm>
            <a:off x="804672" y="2414016"/>
            <a:ext cx="438912" cy="438912"/>
          </a:xfrm>
          <a:prstGeom prst="roundRect">
            <a:avLst>
              <a:gd name="adj" fmla="val 18750"/>
            </a:avLst>
          </a:prstGeom>
          <a:solidFill>
            <a:srgbClr val="EEF2FF"/>
          </a:solidFill>
          <a:ln/>
        </p:spPr>
      </p:sp>
      <p:pic>
        <p:nvPicPr>
          <p:cNvPr id="9" name="Image 0" descr="preencoded.png">    </p:cNvPr>
          <p:cNvPicPr>
            <a:picLocks noChangeAspect="1"/>
          </p:cNvPicPr>
          <p:nvPr/>
        </p:nvPicPr>
        <p:blipFill>
          <a:blip r:embed="rId1"/>
          <a:stretch>
            <a:fillRect/>
          </a:stretch>
        </p:blipFill>
        <p:spPr>
          <a:xfrm>
            <a:off x="901233" y="2510577"/>
            <a:ext cx="245791" cy="245791"/>
          </a:xfrm>
          <a:prstGeom prst="rect">
            <a:avLst/>
          </a:prstGeom>
        </p:spPr>
      </p:pic>
      <p:sp>
        <p:nvSpPr>
          <p:cNvPr id="10" name="Text 7"/>
          <p:cNvSpPr/>
          <p:nvPr/>
        </p:nvSpPr>
        <p:spPr>
          <a:xfrm>
            <a:off x="1371600" y="2450592"/>
            <a:ext cx="2651760" cy="384048"/>
          </a:xfrm>
          <a:prstGeom prst="rect">
            <a:avLst/>
          </a:prstGeom>
          <a:noFill/>
          <a:ln/>
        </p:spPr>
        <p:txBody>
          <a:bodyPr wrap="square" lIns="0" tIns="0" rIns="0" bIns="0" rtlCol="0" anchor="ctr"/>
          <a:lstStyle/>
          <a:p>
            <a:pPr indent="0" marL="0">
              <a:buNone/>
            </a:pPr>
            <a:r>
              <a:rPr lang="en-US" sz="1500" b="1" dirty="0">
                <a:solidFill>
                  <a:srgbClr val="0F172A"/>
                </a:solidFill>
                <a:latin typeface="Cambria" pitchFamily="34" charset="0"/>
                <a:ea typeface="Cambria" pitchFamily="34" charset="-122"/>
                <a:cs typeface="Cambria" pitchFamily="34" charset="-120"/>
              </a:rPr>
              <a:t>Leave &amp; time off</a:t>
            </a:r>
            <a:endParaRPr lang="en-US" sz="1500" dirty="0"/>
          </a:p>
        </p:txBody>
      </p:sp>
      <p:sp>
        <p:nvSpPr>
          <p:cNvPr id="11" name="Text 8"/>
          <p:cNvSpPr/>
          <p:nvPr/>
        </p:nvSpPr>
        <p:spPr>
          <a:xfrm>
            <a:off x="804672" y="2971800"/>
            <a:ext cx="3145536" cy="822960"/>
          </a:xfrm>
          <a:prstGeom prst="rect">
            <a:avLst/>
          </a:prstGeom>
          <a:noFill/>
          <a:ln/>
        </p:spPr>
        <p:txBody>
          <a:bodyPr wrap="square" lIns="0" tIns="0" rIns="0" bIns="0" rtlCol="0" anchor="t"/>
          <a:lstStyle/>
          <a:p>
            <a:pPr indent="0" marL="0">
              <a:buNone/>
            </a:pPr>
            <a:r>
              <a:rPr lang="en-US" sz="1180" dirty="0">
                <a:solidFill>
                  <a:srgbClr val="64748B"/>
                </a:solidFill>
                <a:latin typeface="Calibri" pitchFamily="34" charset="0"/>
                <a:ea typeface="Calibri" pitchFamily="34" charset="-122"/>
                <a:cs typeface="Calibri" pitchFamily="34" charset="-120"/>
              </a:rPr>
              <a:t>Request leave and see approved absences.</a:t>
            </a:r>
            <a:endParaRPr lang="en-US" sz="1180" dirty="0"/>
          </a:p>
        </p:txBody>
      </p:sp>
      <p:sp>
        <p:nvSpPr>
          <p:cNvPr id="12" name="Shape 9"/>
          <p:cNvSpPr/>
          <p:nvPr/>
        </p:nvSpPr>
        <p:spPr>
          <a:xfrm>
            <a:off x="4370832" y="2194560"/>
            <a:ext cx="3657600" cy="1691640"/>
          </a:xfrm>
          <a:prstGeom prst="roundRect">
            <a:avLst>
              <a:gd name="adj" fmla="val 5405"/>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3" name="Shape 10"/>
          <p:cNvSpPr/>
          <p:nvPr/>
        </p:nvSpPr>
        <p:spPr>
          <a:xfrm>
            <a:off x="4626864" y="2414016"/>
            <a:ext cx="438912" cy="438912"/>
          </a:xfrm>
          <a:prstGeom prst="roundRect">
            <a:avLst>
              <a:gd name="adj" fmla="val 18750"/>
            </a:avLst>
          </a:prstGeom>
          <a:solidFill>
            <a:srgbClr val="EEF2FF"/>
          </a:solidFill>
          <a:ln/>
        </p:spPr>
      </p:sp>
      <p:pic>
        <p:nvPicPr>
          <p:cNvPr id="14" name="Image 1" descr="preencoded.png">    </p:cNvPr>
          <p:cNvPicPr>
            <a:picLocks noChangeAspect="1"/>
          </p:cNvPicPr>
          <p:nvPr/>
        </p:nvPicPr>
        <p:blipFill>
          <a:blip r:embed="rId2"/>
          <a:stretch>
            <a:fillRect/>
          </a:stretch>
        </p:blipFill>
        <p:spPr>
          <a:xfrm>
            <a:off x="4723425" y="2510577"/>
            <a:ext cx="245791" cy="245791"/>
          </a:xfrm>
          <a:prstGeom prst="rect">
            <a:avLst/>
          </a:prstGeom>
        </p:spPr>
      </p:pic>
      <p:sp>
        <p:nvSpPr>
          <p:cNvPr id="15" name="Text 11"/>
          <p:cNvSpPr/>
          <p:nvPr/>
        </p:nvSpPr>
        <p:spPr>
          <a:xfrm>
            <a:off x="5193792" y="2450592"/>
            <a:ext cx="2651760" cy="384048"/>
          </a:xfrm>
          <a:prstGeom prst="rect">
            <a:avLst/>
          </a:prstGeom>
          <a:noFill/>
          <a:ln/>
        </p:spPr>
        <p:txBody>
          <a:bodyPr wrap="square" lIns="0" tIns="0" rIns="0" bIns="0" rtlCol="0" anchor="ctr"/>
          <a:lstStyle/>
          <a:p>
            <a:pPr indent="0" marL="0">
              <a:buNone/>
            </a:pPr>
            <a:r>
              <a:rPr lang="en-US" sz="1500" b="1" dirty="0">
                <a:solidFill>
                  <a:srgbClr val="0F172A"/>
                </a:solidFill>
                <a:latin typeface="Cambria" pitchFamily="34" charset="0"/>
                <a:ea typeface="Cambria" pitchFamily="34" charset="-122"/>
                <a:cs typeface="Cambria" pitchFamily="34" charset="-120"/>
              </a:rPr>
              <a:t>Work location / WFH</a:t>
            </a:r>
            <a:endParaRPr lang="en-US" sz="1500" dirty="0"/>
          </a:p>
        </p:txBody>
      </p:sp>
      <p:sp>
        <p:nvSpPr>
          <p:cNvPr id="16" name="Text 12"/>
          <p:cNvSpPr/>
          <p:nvPr/>
        </p:nvSpPr>
        <p:spPr>
          <a:xfrm>
            <a:off x="4626864" y="2971800"/>
            <a:ext cx="3145536" cy="822960"/>
          </a:xfrm>
          <a:prstGeom prst="rect">
            <a:avLst/>
          </a:prstGeom>
          <a:noFill/>
          <a:ln/>
        </p:spPr>
        <p:txBody>
          <a:bodyPr wrap="square" lIns="0" tIns="0" rIns="0" bIns="0" rtlCol="0" anchor="t"/>
          <a:lstStyle/>
          <a:p>
            <a:pPr indent="0" marL="0">
              <a:buNone/>
            </a:pPr>
            <a:r>
              <a:rPr lang="en-US" sz="1180" dirty="0">
                <a:solidFill>
                  <a:srgbClr val="64748B"/>
                </a:solidFill>
                <a:latin typeface="Calibri" pitchFamily="34" charset="0"/>
                <a:ea typeface="Calibri" pitchFamily="34" charset="-122"/>
                <a:cs typeface="Calibri" pitchFamily="34" charset="-120"/>
              </a:rPr>
              <a:t>Make working arrangements visible.</a:t>
            </a:r>
            <a:endParaRPr lang="en-US" sz="1180" dirty="0"/>
          </a:p>
        </p:txBody>
      </p:sp>
      <p:sp>
        <p:nvSpPr>
          <p:cNvPr id="17" name="Shape 13"/>
          <p:cNvSpPr/>
          <p:nvPr/>
        </p:nvSpPr>
        <p:spPr>
          <a:xfrm>
            <a:off x="8193024" y="2194560"/>
            <a:ext cx="3657600" cy="1691640"/>
          </a:xfrm>
          <a:prstGeom prst="roundRect">
            <a:avLst>
              <a:gd name="adj" fmla="val 5405"/>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8" name="Shape 14"/>
          <p:cNvSpPr/>
          <p:nvPr/>
        </p:nvSpPr>
        <p:spPr>
          <a:xfrm>
            <a:off x="8449056" y="2414016"/>
            <a:ext cx="438912" cy="438912"/>
          </a:xfrm>
          <a:prstGeom prst="roundRect">
            <a:avLst>
              <a:gd name="adj" fmla="val 18750"/>
            </a:avLst>
          </a:prstGeom>
          <a:solidFill>
            <a:srgbClr val="EEF2FF"/>
          </a:solidFill>
          <a:ln/>
        </p:spPr>
      </p:sp>
      <p:pic>
        <p:nvPicPr>
          <p:cNvPr id="19" name="Image 2" descr="preencoded.png">    </p:cNvPr>
          <p:cNvPicPr>
            <a:picLocks noChangeAspect="1"/>
          </p:cNvPicPr>
          <p:nvPr/>
        </p:nvPicPr>
        <p:blipFill>
          <a:blip r:embed="rId3"/>
          <a:stretch>
            <a:fillRect/>
          </a:stretch>
        </p:blipFill>
        <p:spPr>
          <a:xfrm>
            <a:off x="8545617" y="2510577"/>
            <a:ext cx="245791" cy="245791"/>
          </a:xfrm>
          <a:prstGeom prst="rect">
            <a:avLst/>
          </a:prstGeom>
        </p:spPr>
      </p:pic>
      <p:sp>
        <p:nvSpPr>
          <p:cNvPr id="20" name="Text 15"/>
          <p:cNvSpPr/>
          <p:nvPr/>
        </p:nvSpPr>
        <p:spPr>
          <a:xfrm>
            <a:off x="9015984" y="2450592"/>
            <a:ext cx="2651760" cy="384048"/>
          </a:xfrm>
          <a:prstGeom prst="rect">
            <a:avLst/>
          </a:prstGeom>
          <a:noFill/>
          <a:ln/>
        </p:spPr>
        <p:txBody>
          <a:bodyPr wrap="square" lIns="0" tIns="0" rIns="0" bIns="0" rtlCol="0" anchor="ctr"/>
          <a:lstStyle/>
          <a:p>
            <a:pPr indent="0" marL="0">
              <a:buNone/>
            </a:pPr>
            <a:r>
              <a:rPr lang="en-US" sz="1500" b="1" dirty="0">
                <a:solidFill>
                  <a:srgbClr val="0F172A"/>
                </a:solidFill>
                <a:latin typeface="Cambria" pitchFamily="34" charset="0"/>
                <a:ea typeface="Cambria" pitchFamily="34" charset="-122"/>
                <a:cs typeface="Cambria" pitchFamily="34" charset="-120"/>
              </a:rPr>
              <a:t>Attendance</a:t>
            </a:r>
            <a:endParaRPr lang="en-US" sz="1500" dirty="0"/>
          </a:p>
        </p:txBody>
      </p:sp>
      <p:sp>
        <p:nvSpPr>
          <p:cNvPr id="21" name="Text 16"/>
          <p:cNvSpPr/>
          <p:nvPr/>
        </p:nvSpPr>
        <p:spPr>
          <a:xfrm>
            <a:off x="8449056" y="2971800"/>
            <a:ext cx="3145536" cy="822960"/>
          </a:xfrm>
          <a:prstGeom prst="rect">
            <a:avLst/>
          </a:prstGeom>
          <a:noFill/>
          <a:ln/>
        </p:spPr>
        <p:txBody>
          <a:bodyPr wrap="square" lIns="0" tIns="0" rIns="0" bIns="0" rtlCol="0" anchor="t"/>
          <a:lstStyle/>
          <a:p>
            <a:pPr indent="0" marL="0">
              <a:buNone/>
            </a:pPr>
            <a:r>
              <a:rPr lang="en-US" sz="1180" dirty="0">
                <a:solidFill>
                  <a:srgbClr val="64748B"/>
                </a:solidFill>
                <a:latin typeface="Calibri" pitchFamily="34" charset="0"/>
                <a:ea typeface="Calibri" pitchFamily="34" charset="-122"/>
                <a:cs typeface="Calibri" pitchFamily="34" charset="-120"/>
              </a:rPr>
              <a:t>Record and understand working days.</a:t>
            </a:r>
            <a:endParaRPr lang="en-US" sz="1180" dirty="0"/>
          </a:p>
        </p:txBody>
      </p:sp>
      <p:sp>
        <p:nvSpPr>
          <p:cNvPr id="22" name="Shape 17"/>
          <p:cNvSpPr/>
          <p:nvPr/>
        </p:nvSpPr>
        <p:spPr>
          <a:xfrm>
            <a:off x="548640" y="4114800"/>
            <a:ext cx="3657600" cy="1691640"/>
          </a:xfrm>
          <a:prstGeom prst="roundRect">
            <a:avLst>
              <a:gd name="adj" fmla="val 5405"/>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3" name="Shape 18"/>
          <p:cNvSpPr/>
          <p:nvPr/>
        </p:nvSpPr>
        <p:spPr>
          <a:xfrm>
            <a:off x="804672" y="4334256"/>
            <a:ext cx="438912" cy="438912"/>
          </a:xfrm>
          <a:prstGeom prst="roundRect">
            <a:avLst>
              <a:gd name="adj" fmla="val 18750"/>
            </a:avLst>
          </a:prstGeom>
          <a:solidFill>
            <a:srgbClr val="EEF2FF"/>
          </a:solidFill>
          <a:ln/>
        </p:spPr>
      </p:sp>
      <p:pic>
        <p:nvPicPr>
          <p:cNvPr id="24" name="Image 3" descr="preencoded.png">    </p:cNvPr>
          <p:cNvPicPr>
            <a:picLocks noChangeAspect="1"/>
          </p:cNvPicPr>
          <p:nvPr/>
        </p:nvPicPr>
        <p:blipFill>
          <a:blip r:embed="rId4"/>
          <a:stretch>
            <a:fillRect/>
          </a:stretch>
        </p:blipFill>
        <p:spPr>
          <a:xfrm>
            <a:off x="901233" y="4430817"/>
            <a:ext cx="245791" cy="245791"/>
          </a:xfrm>
          <a:prstGeom prst="rect">
            <a:avLst/>
          </a:prstGeom>
        </p:spPr>
      </p:pic>
      <p:sp>
        <p:nvSpPr>
          <p:cNvPr id="25" name="Text 19"/>
          <p:cNvSpPr/>
          <p:nvPr/>
        </p:nvSpPr>
        <p:spPr>
          <a:xfrm>
            <a:off x="1371600" y="4370832"/>
            <a:ext cx="2651760" cy="384048"/>
          </a:xfrm>
          <a:prstGeom prst="rect">
            <a:avLst/>
          </a:prstGeom>
          <a:noFill/>
          <a:ln/>
        </p:spPr>
        <p:txBody>
          <a:bodyPr wrap="square" lIns="0" tIns="0" rIns="0" bIns="0" rtlCol="0" anchor="ctr"/>
          <a:lstStyle/>
          <a:p>
            <a:pPr indent="0" marL="0">
              <a:buNone/>
            </a:pPr>
            <a:r>
              <a:rPr lang="en-US" sz="1500" b="1" dirty="0">
                <a:solidFill>
                  <a:srgbClr val="0F172A"/>
                </a:solidFill>
                <a:latin typeface="Cambria" pitchFamily="34" charset="0"/>
                <a:ea typeface="Cambria" pitchFamily="34" charset="-122"/>
                <a:cs typeface="Cambria" pitchFamily="34" charset="-120"/>
              </a:rPr>
              <a:t>Team calendar</a:t>
            </a:r>
            <a:endParaRPr lang="en-US" sz="1500" dirty="0"/>
          </a:p>
        </p:txBody>
      </p:sp>
      <p:sp>
        <p:nvSpPr>
          <p:cNvPr id="26" name="Text 20"/>
          <p:cNvSpPr/>
          <p:nvPr/>
        </p:nvSpPr>
        <p:spPr>
          <a:xfrm>
            <a:off x="804672" y="4892040"/>
            <a:ext cx="3145536" cy="822960"/>
          </a:xfrm>
          <a:prstGeom prst="rect">
            <a:avLst/>
          </a:prstGeom>
          <a:noFill/>
          <a:ln/>
        </p:spPr>
        <p:txBody>
          <a:bodyPr wrap="square" lIns="0" tIns="0" rIns="0" bIns="0" rtlCol="0" anchor="t"/>
          <a:lstStyle/>
          <a:p>
            <a:pPr indent="0" marL="0">
              <a:buNone/>
            </a:pPr>
            <a:r>
              <a:rPr lang="en-US" sz="1180" dirty="0">
                <a:solidFill>
                  <a:srgbClr val="64748B"/>
                </a:solidFill>
                <a:latin typeface="Calibri" pitchFamily="34" charset="0"/>
                <a:ea typeface="Calibri" pitchFamily="34" charset="-122"/>
                <a:cs typeface="Calibri" pitchFamily="34" charset="-120"/>
              </a:rPr>
              <a:t>See who is available and who is away.</a:t>
            </a:r>
            <a:endParaRPr lang="en-US" sz="1180" dirty="0"/>
          </a:p>
        </p:txBody>
      </p:sp>
      <p:sp>
        <p:nvSpPr>
          <p:cNvPr id="27" name="Shape 21"/>
          <p:cNvSpPr/>
          <p:nvPr/>
        </p:nvSpPr>
        <p:spPr>
          <a:xfrm>
            <a:off x="4370832" y="4114800"/>
            <a:ext cx="3657600" cy="1691640"/>
          </a:xfrm>
          <a:prstGeom prst="roundRect">
            <a:avLst>
              <a:gd name="adj" fmla="val 5405"/>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8" name="Shape 22"/>
          <p:cNvSpPr/>
          <p:nvPr/>
        </p:nvSpPr>
        <p:spPr>
          <a:xfrm>
            <a:off x="4626864" y="4334256"/>
            <a:ext cx="438912" cy="438912"/>
          </a:xfrm>
          <a:prstGeom prst="roundRect">
            <a:avLst>
              <a:gd name="adj" fmla="val 18750"/>
            </a:avLst>
          </a:prstGeom>
          <a:solidFill>
            <a:srgbClr val="EEF2FF"/>
          </a:solidFill>
          <a:ln/>
        </p:spPr>
      </p:sp>
      <p:pic>
        <p:nvPicPr>
          <p:cNvPr id="29" name="Image 4" descr="preencoded.png">    </p:cNvPr>
          <p:cNvPicPr>
            <a:picLocks noChangeAspect="1"/>
          </p:cNvPicPr>
          <p:nvPr/>
        </p:nvPicPr>
        <p:blipFill>
          <a:blip r:embed="rId5"/>
          <a:stretch>
            <a:fillRect/>
          </a:stretch>
        </p:blipFill>
        <p:spPr>
          <a:xfrm>
            <a:off x="4723425" y="4430817"/>
            <a:ext cx="245791" cy="245791"/>
          </a:xfrm>
          <a:prstGeom prst="rect">
            <a:avLst/>
          </a:prstGeom>
        </p:spPr>
      </p:pic>
      <p:sp>
        <p:nvSpPr>
          <p:cNvPr id="30" name="Text 23"/>
          <p:cNvSpPr/>
          <p:nvPr/>
        </p:nvSpPr>
        <p:spPr>
          <a:xfrm>
            <a:off x="5193792" y="4370832"/>
            <a:ext cx="2651760" cy="384048"/>
          </a:xfrm>
          <a:prstGeom prst="rect">
            <a:avLst/>
          </a:prstGeom>
          <a:noFill/>
          <a:ln/>
        </p:spPr>
        <p:txBody>
          <a:bodyPr wrap="square" lIns="0" tIns="0" rIns="0" bIns="0" rtlCol="0" anchor="ctr"/>
          <a:lstStyle/>
          <a:p>
            <a:pPr indent="0" marL="0">
              <a:buNone/>
            </a:pPr>
            <a:r>
              <a:rPr lang="en-US" sz="1500" b="1" dirty="0">
                <a:solidFill>
                  <a:srgbClr val="0F172A"/>
                </a:solidFill>
                <a:latin typeface="Cambria" pitchFamily="34" charset="0"/>
                <a:ea typeface="Cambria" pitchFamily="34" charset="-122"/>
                <a:cs typeface="Cambria" pitchFamily="34" charset="-120"/>
              </a:rPr>
              <a:t>Time-zone visibility</a:t>
            </a:r>
            <a:endParaRPr lang="en-US" sz="1500" dirty="0"/>
          </a:p>
        </p:txBody>
      </p:sp>
      <p:sp>
        <p:nvSpPr>
          <p:cNvPr id="31" name="Text 24"/>
          <p:cNvSpPr/>
          <p:nvPr/>
        </p:nvSpPr>
        <p:spPr>
          <a:xfrm>
            <a:off x="4626864" y="4892040"/>
            <a:ext cx="3145536" cy="822960"/>
          </a:xfrm>
          <a:prstGeom prst="rect">
            <a:avLst/>
          </a:prstGeom>
          <a:noFill/>
          <a:ln/>
        </p:spPr>
        <p:txBody>
          <a:bodyPr wrap="square" lIns="0" tIns="0" rIns="0" bIns="0" rtlCol="0" anchor="t"/>
          <a:lstStyle/>
          <a:p>
            <a:pPr indent="0" marL="0">
              <a:buNone/>
            </a:pPr>
            <a:r>
              <a:rPr lang="en-US" sz="1180" dirty="0">
                <a:solidFill>
                  <a:srgbClr val="64748B"/>
                </a:solidFill>
                <a:latin typeface="Calibri" pitchFamily="34" charset="0"/>
                <a:ea typeface="Calibri" pitchFamily="34" charset="-122"/>
                <a:cs typeface="Calibri" pitchFamily="34" charset="-120"/>
              </a:rPr>
              <a:t>Make collaboration across an international team easier.</a:t>
            </a:r>
            <a:endParaRPr lang="en-US" sz="1180" dirty="0"/>
          </a:p>
        </p:txBody>
      </p:sp>
      <p:sp>
        <p:nvSpPr>
          <p:cNvPr id="32" name="Shape 25"/>
          <p:cNvSpPr/>
          <p:nvPr/>
        </p:nvSpPr>
        <p:spPr>
          <a:xfrm>
            <a:off x="8193024" y="4114800"/>
            <a:ext cx="3657600" cy="1691640"/>
          </a:xfrm>
          <a:prstGeom prst="roundRect">
            <a:avLst>
              <a:gd name="adj" fmla="val 5405"/>
            </a:avLst>
          </a:prstGeom>
          <a:solidFill>
            <a:srgbClr val="EEF2FF"/>
          </a:solidFill>
          <a:ln w="12700">
            <a:solidFill>
              <a:srgbClr val="C7D2FE"/>
            </a:solidFill>
            <a:prstDash val="solid"/>
          </a:ln>
          <a:effectLst>
            <a:outerShdw sx="100000" sy="100000" kx="0" ky="0" algn="bl" rotWithShape="0" blurRad="76200" dist="12700" dir="5400000">
              <a:srgbClr val="94A3B8">
                <a:alpha val="18000"/>
              </a:srgbClr>
            </a:outerShdw>
          </a:effectLst>
        </p:spPr>
      </p:sp>
      <p:sp>
        <p:nvSpPr>
          <p:cNvPr id="33" name="Shape 26"/>
          <p:cNvSpPr/>
          <p:nvPr/>
        </p:nvSpPr>
        <p:spPr>
          <a:xfrm>
            <a:off x="8558784" y="4462272"/>
            <a:ext cx="219456" cy="219456"/>
          </a:xfrm>
          <a:prstGeom prst="diamond">
            <a:avLst/>
          </a:prstGeom>
          <a:solidFill>
            <a:srgbClr val="4F46E5"/>
          </a:solidFill>
          <a:ln/>
        </p:spPr>
      </p:sp>
      <p:sp>
        <p:nvSpPr>
          <p:cNvPr id="34" name="Text 27"/>
          <p:cNvSpPr/>
          <p:nvPr/>
        </p:nvSpPr>
        <p:spPr>
          <a:xfrm>
            <a:off x="8449056" y="4828032"/>
            <a:ext cx="3145536" cy="868680"/>
          </a:xfrm>
          <a:prstGeom prst="rect">
            <a:avLst/>
          </a:prstGeom>
          <a:noFill/>
          <a:ln/>
        </p:spPr>
        <p:txBody>
          <a:bodyPr wrap="square" lIns="0" tIns="0" rIns="0" bIns="0" rtlCol="0" anchor="t"/>
          <a:lstStyle/>
          <a:p>
            <a:pPr indent="0" marL="0">
              <a:buNone/>
            </a:pPr>
            <a:r>
              <a:rPr lang="en-US" sz="1250" b="1" dirty="0">
                <a:solidFill>
                  <a:srgbClr val="4F46E5"/>
                </a:solidFill>
                <a:latin typeface="Calibri" pitchFamily="34" charset="0"/>
                <a:ea typeface="Calibri" pitchFamily="34" charset="-122"/>
                <a:cs typeface="Calibri" pitchFamily="34" charset="-120"/>
              </a:rPr>
              <a:t>This gives us the foundation on which the broader HR platform can be built.</a:t>
            </a:r>
            <a:endParaRPr lang="en-US" sz="1250" dirty="0"/>
          </a:p>
        </p:txBody>
      </p:sp>
      <p:sp>
        <p:nvSpPr>
          <p:cNvPr id="35" name="Text 28"/>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36" name="Text 29"/>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PRODUCT TOUR</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One system, different roles</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Orbit adapts to your responsibility.</a:t>
            </a:r>
            <a:endParaRPr lang="en-US" sz="1400" dirty="0"/>
          </a:p>
        </p:txBody>
      </p:sp>
      <p:sp>
        <p:nvSpPr>
          <p:cNvPr id="5" name="Shape 3"/>
          <p:cNvSpPr/>
          <p:nvPr/>
        </p:nvSpPr>
        <p:spPr>
          <a:xfrm>
            <a:off x="11341303" y="585216"/>
            <a:ext cx="146304" cy="146304"/>
          </a:xfrm>
          <a:prstGeom prst="diamond">
            <a:avLst/>
          </a:prstGeom>
          <a:solidFill>
            <a:srgbClr val="818CF8"/>
          </a:solidFill>
          <a:ln/>
        </p:spPr>
      </p:sp>
      <p:sp>
        <p:nvSpPr>
          <p:cNvPr id="6" name="Shape 4"/>
          <p:cNvSpPr/>
          <p:nvPr/>
        </p:nvSpPr>
        <p:spPr>
          <a:xfrm>
            <a:off x="548640" y="1783080"/>
            <a:ext cx="3611880" cy="3886200"/>
          </a:xfrm>
          <a:prstGeom prst="roundRect">
            <a:avLst>
              <a:gd name="adj" fmla="val 253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7" name="Shape 5"/>
          <p:cNvSpPr/>
          <p:nvPr/>
        </p:nvSpPr>
        <p:spPr>
          <a:xfrm>
            <a:off x="822960" y="2057400"/>
            <a:ext cx="512064" cy="512064"/>
          </a:xfrm>
          <a:prstGeom prst="roundRect">
            <a:avLst>
              <a:gd name="adj" fmla="val 16071"/>
            </a:avLst>
          </a:prstGeom>
          <a:solidFill>
            <a:srgbClr val="EEF2FF"/>
          </a:solidFill>
          <a:ln/>
        </p:spPr>
      </p:sp>
      <p:pic>
        <p:nvPicPr>
          <p:cNvPr id="8" name="Image 0" descr="preencoded.png">    </p:cNvPr>
          <p:cNvPicPr>
            <a:picLocks noChangeAspect="1"/>
          </p:cNvPicPr>
          <p:nvPr/>
        </p:nvPicPr>
        <p:blipFill>
          <a:blip r:embed="rId1"/>
          <a:stretch>
            <a:fillRect/>
          </a:stretch>
        </p:blipFill>
        <p:spPr>
          <a:xfrm>
            <a:off x="935614" y="2170054"/>
            <a:ext cx="286756" cy="286756"/>
          </a:xfrm>
          <a:prstGeom prst="rect">
            <a:avLst/>
          </a:prstGeom>
        </p:spPr>
      </p:pic>
      <p:sp>
        <p:nvSpPr>
          <p:cNvPr id="9" name="Text 6"/>
          <p:cNvSpPr/>
          <p:nvPr/>
        </p:nvSpPr>
        <p:spPr>
          <a:xfrm>
            <a:off x="1463040" y="2112264"/>
            <a:ext cx="2514600" cy="411480"/>
          </a:xfrm>
          <a:prstGeom prst="rect">
            <a:avLst/>
          </a:prstGeom>
          <a:noFill/>
          <a:ln/>
        </p:spPr>
        <p:txBody>
          <a:bodyPr wrap="square" lIns="0" tIns="0" rIns="0" bIns="0" rtlCol="0" anchor="ctr"/>
          <a:lstStyle/>
          <a:p>
            <a:pPr indent="0" marL="0">
              <a:buNone/>
            </a:pPr>
            <a:r>
              <a:rPr lang="en-US" sz="1900" b="1" dirty="0">
                <a:solidFill>
                  <a:srgbClr val="0F172A"/>
                </a:solidFill>
                <a:latin typeface="Cambria" pitchFamily="34" charset="0"/>
                <a:ea typeface="Cambria" pitchFamily="34" charset="-122"/>
                <a:cs typeface="Cambria" pitchFamily="34" charset="-120"/>
              </a:rPr>
              <a:t>Employee</a:t>
            </a:r>
            <a:endParaRPr lang="en-US" sz="1900" dirty="0"/>
          </a:p>
        </p:txBody>
      </p:sp>
      <p:sp>
        <p:nvSpPr>
          <p:cNvPr id="10" name="Text 7"/>
          <p:cNvSpPr/>
          <p:nvPr/>
        </p:nvSpPr>
        <p:spPr>
          <a:xfrm>
            <a:off x="841248" y="2788920"/>
            <a:ext cx="3044952" cy="2743200"/>
          </a:xfrm>
          <a:prstGeom prst="rect">
            <a:avLst/>
          </a:prstGeom>
          <a:noFill/>
          <a:ln/>
        </p:spPr>
        <p:txBody>
          <a:bodyPr wrap="square" lIns="0" tIns="0" rIns="0" bIns="0" rtlCol="0" anchor="t"/>
          <a:lstStyle/>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Manage attendance</a:t>
            </a:r>
            <a:endParaRPr lang="en-US" sz="1230" dirty="0"/>
          </a:p>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Check leave balances</a:t>
            </a:r>
            <a:endParaRPr lang="en-US" sz="1230" dirty="0"/>
          </a:p>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Apply for leave and WFH</a:t>
            </a:r>
            <a:endParaRPr lang="en-US" sz="1230" dirty="0"/>
          </a:p>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View calendar and notifications</a:t>
            </a:r>
            <a:endParaRPr lang="en-US" sz="1230" dirty="0"/>
          </a:p>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Access profile and documents</a:t>
            </a:r>
            <a:endParaRPr lang="en-US" sz="1230" dirty="0"/>
          </a:p>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Submit feedback or HR requests</a:t>
            </a:r>
            <a:endParaRPr lang="en-US" sz="1230" dirty="0"/>
          </a:p>
        </p:txBody>
      </p:sp>
      <p:sp>
        <p:nvSpPr>
          <p:cNvPr id="11" name="Shape 8"/>
          <p:cNvSpPr/>
          <p:nvPr/>
        </p:nvSpPr>
        <p:spPr>
          <a:xfrm>
            <a:off x="4352544" y="1783080"/>
            <a:ext cx="3611880" cy="3886200"/>
          </a:xfrm>
          <a:prstGeom prst="roundRect">
            <a:avLst>
              <a:gd name="adj" fmla="val 2532"/>
            </a:avLst>
          </a:prstGeom>
          <a:solidFill>
            <a:srgbClr val="EEF2FF"/>
          </a:solidFill>
          <a:ln w="12700">
            <a:solidFill>
              <a:srgbClr val="C7D2FE"/>
            </a:solidFill>
            <a:prstDash val="solid"/>
          </a:ln>
          <a:effectLst>
            <a:outerShdw sx="100000" sy="100000" kx="0" ky="0" algn="bl" rotWithShape="0" blurRad="76200" dist="12700" dir="5400000">
              <a:srgbClr val="94A3B8">
                <a:alpha val="18000"/>
              </a:srgbClr>
            </a:outerShdw>
          </a:effectLst>
        </p:spPr>
      </p:sp>
      <p:sp>
        <p:nvSpPr>
          <p:cNvPr id="12" name="Shape 9"/>
          <p:cNvSpPr/>
          <p:nvPr/>
        </p:nvSpPr>
        <p:spPr>
          <a:xfrm>
            <a:off x="4626864" y="2057400"/>
            <a:ext cx="512064" cy="512064"/>
          </a:xfrm>
          <a:prstGeom prst="roundRect">
            <a:avLst>
              <a:gd name="adj" fmla="val 16071"/>
            </a:avLst>
          </a:prstGeom>
          <a:solidFill>
            <a:srgbClr val="E0E7FF"/>
          </a:solidFill>
          <a:ln/>
        </p:spPr>
      </p:sp>
      <p:pic>
        <p:nvPicPr>
          <p:cNvPr id="13" name="Image 1" descr="preencoded.png">    </p:cNvPr>
          <p:cNvPicPr>
            <a:picLocks noChangeAspect="1"/>
          </p:cNvPicPr>
          <p:nvPr/>
        </p:nvPicPr>
        <p:blipFill>
          <a:blip r:embed="rId2"/>
          <a:stretch>
            <a:fillRect/>
          </a:stretch>
        </p:blipFill>
        <p:spPr>
          <a:xfrm>
            <a:off x="4739518" y="2170054"/>
            <a:ext cx="286756" cy="286756"/>
          </a:xfrm>
          <a:prstGeom prst="rect">
            <a:avLst/>
          </a:prstGeom>
        </p:spPr>
      </p:pic>
      <p:sp>
        <p:nvSpPr>
          <p:cNvPr id="14" name="Text 10"/>
          <p:cNvSpPr/>
          <p:nvPr/>
        </p:nvSpPr>
        <p:spPr>
          <a:xfrm>
            <a:off x="5266944" y="2112264"/>
            <a:ext cx="2514600" cy="411480"/>
          </a:xfrm>
          <a:prstGeom prst="rect">
            <a:avLst/>
          </a:prstGeom>
          <a:noFill/>
          <a:ln/>
        </p:spPr>
        <p:txBody>
          <a:bodyPr wrap="square" lIns="0" tIns="0" rIns="0" bIns="0" rtlCol="0" anchor="ctr"/>
          <a:lstStyle/>
          <a:p>
            <a:pPr indent="0" marL="0">
              <a:buNone/>
            </a:pPr>
            <a:r>
              <a:rPr lang="en-US" sz="1900" b="1" dirty="0">
                <a:solidFill>
                  <a:srgbClr val="0F172A"/>
                </a:solidFill>
                <a:latin typeface="Cambria" pitchFamily="34" charset="0"/>
                <a:ea typeface="Cambria" pitchFamily="34" charset="-122"/>
                <a:cs typeface="Cambria" pitchFamily="34" charset="-120"/>
              </a:rPr>
              <a:t>Manager</a:t>
            </a:r>
            <a:endParaRPr lang="en-US" sz="1900" dirty="0"/>
          </a:p>
        </p:txBody>
      </p:sp>
      <p:sp>
        <p:nvSpPr>
          <p:cNvPr id="15" name="Text 11"/>
          <p:cNvSpPr/>
          <p:nvPr/>
        </p:nvSpPr>
        <p:spPr>
          <a:xfrm>
            <a:off x="4645152" y="2788920"/>
            <a:ext cx="3044952" cy="2743200"/>
          </a:xfrm>
          <a:prstGeom prst="rect">
            <a:avLst/>
          </a:prstGeom>
          <a:noFill/>
          <a:ln/>
        </p:spPr>
        <p:txBody>
          <a:bodyPr wrap="square" lIns="0" tIns="0" rIns="0" bIns="0" rtlCol="0" anchor="t"/>
          <a:lstStyle/>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Everything available to an employee</a:t>
            </a:r>
            <a:endParaRPr lang="en-US" sz="1230" dirty="0"/>
          </a:p>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Review requests from direct reports</a:t>
            </a:r>
            <a:endParaRPr lang="en-US" sz="1230" dirty="0"/>
          </a:p>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Approve or reject requests</a:t>
            </a:r>
            <a:endParaRPr lang="en-US" sz="1230" dirty="0"/>
          </a:p>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See relevant team information</a:t>
            </a:r>
            <a:endParaRPr lang="en-US" sz="1230" dirty="0"/>
          </a:p>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Manage team announcements</a:t>
            </a:r>
            <a:endParaRPr lang="en-US" sz="1230" dirty="0"/>
          </a:p>
        </p:txBody>
      </p:sp>
      <p:sp>
        <p:nvSpPr>
          <p:cNvPr id="16" name="Shape 12"/>
          <p:cNvSpPr/>
          <p:nvPr/>
        </p:nvSpPr>
        <p:spPr>
          <a:xfrm>
            <a:off x="8156448" y="1783080"/>
            <a:ext cx="3611880" cy="3886200"/>
          </a:xfrm>
          <a:prstGeom prst="roundRect">
            <a:avLst>
              <a:gd name="adj" fmla="val 253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7" name="Shape 13"/>
          <p:cNvSpPr/>
          <p:nvPr/>
        </p:nvSpPr>
        <p:spPr>
          <a:xfrm>
            <a:off x="8430768" y="2057400"/>
            <a:ext cx="512064" cy="512064"/>
          </a:xfrm>
          <a:prstGeom prst="roundRect">
            <a:avLst>
              <a:gd name="adj" fmla="val 16071"/>
            </a:avLst>
          </a:prstGeom>
          <a:solidFill>
            <a:srgbClr val="EEF2FF"/>
          </a:solidFill>
          <a:ln/>
        </p:spPr>
      </p:sp>
      <p:pic>
        <p:nvPicPr>
          <p:cNvPr id="18" name="Image 2" descr="preencoded.png">    </p:cNvPr>
          <p:cNvPicPr>
            <a:picLocks noChangeAspect="1"/>
          </p:cNvPicPr>
          <p:nvPr/>
        </p:nvPicPr>
        <p:blipFill>
          <a:blip r:embed="rId3"/>
          <a:stretch>
            <a:fillRect/>
          </a:stretch>
        </p:blipFill>
        <p:spPr>
          <a:xfrm>
            <a:off x="8543422" y="2170054"/>
            <a:ext cx="286756" cy="286756"/>
          </a:xfrm>
          <a:prstGeom prst="rect">
            <a:avLst/>
          </a:prstGeom>
        </p:spPr>
      </p:pic>
      <p:sp>
        <p:nvSpPr>
          <p:cNvPr id="19" name="Text 14"/>
          <p:cNvSpPr/>
          <p:nvPr/>
        </p:nvSpPr>
        <p:spPr>
          <a:xfrm>
            <a:off x="9070848" y="2112264"/>
            <a:ext cx="2514600" cy="411480"/>
          </a:xfrm>
          <a:prstGeom prst="rect">
            <a:avLst/>
          </a:prstGeom>
          <a:noFill/>
          <a:ln/>
        </p:spPr>
        <p:txBody>
          <a:bodyPr wrap="square" lIns="0" tIns="0" rIns="0" bIns="0" rtlCol="0" anchor="ctr"/>
          <a:lstStyle/>
          <a:p>
            <a:pPr indent="0" marL="0">
              <a:buNone/>
            </a:pPr>
            <a:r>
              <a:rPr lang="en-US" sz="1900" b="1" dirty="0">
                <a:solidFill>
                  <a:srgbClr val="0F172A"/>
                </a:solidFill>
                <a:latin typeface="Cambria" pitchFamily="34" charset="0"/>
                <a:ea typeface="Cambria" pitchFamily="34" charset="-122"/>
                <a:cs typeface="Cambria" pitchFamily="34" charset="-120"/>
              </a:rPr>
              <a:t>Administrator</a:t>
            </a:r>
            <a:endParaRPr lang="en-US" sz="1900" dirty="0"/>
          </a:p>
        </p:txBody>
      </p:sp>
      <p:sp>
        <p:nvSpPr>
          <p:cNvPr id="20" name="Text 15"/>
          <p:cNvSpPr/>
          <p:nvPr/>
        </p:nvSpPr>
        <p:spPr>
          <a:xfrm>
            <a:off x="8449056" y="2788920"/>
            <a:ext cx="3044952" cy="2743200"/>
          </a:xfrm>
          <a:prstGeom prst="rect">
            <a:avLst/>
          </a:prstGeom>
          <a:noFill/>
          <a:ln/>
        </p:spPr>
        <p:txBody>
          <a:bodyPr wrap="square" lIns="0" tIns="0" rIns="0" bIns="0" rtlCol="0" anchor="t"/>
          <a:lstStyle/>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Company-wide administration</a:t>
            </a:r>
            <a:endParaRPr lang="en-US" sz="1230" dirty="0"/>
          </a:p>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Employee and reporting-line management</a:t>
            </a:r>
            <a:endParaRPr lang="en-US" sz="1230" dirty="0"/>
          </a:p>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Leave and employment policies</a:t>
            </a:r>
            <a:endParaRPr lang="en-US" sz="1230" dirty="0"/>
          </a:p>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Organization-level visibility and settings</a:t>
            </a:r>
            <a:endParaRPr lang="en-US" sz="1230" dirty="0"/>
          </a:p>
        </p:txBody>
      </p:sp>
      <p:sp>
        <p:nvSpPr>
          <p:cNvPr id="21" name="Text 16"/>
          <p:cNvSpPr/>
          <p:nvPr/>
        </p:nvSpPr>
        <p:spPr>
          <a:xfrm>
            <a:off x="566928" y="5852160"/>
            <a:ext cx="10515600" cy="292608"/>
          </a:xfrm>
          <a:prstGeom prst="rect">
            <a:avLst/>
          </a:prstGeom>
          <a:noFill/>
          <a:ln/>
        </p:spPr>
        <p:txBody>
          <a:bodyPr wrap="square" lIns="0" tIns="0" rIns="0" bIns="0" rtlCol="0" anchor="ctr"/>
          <a:lstStyle/>
          <a:p>
            <a:pPr indent="0" marL="0">
              <a:buNone/>
            </a:pPr>
            <a:r>
              <a:rPr lang="en-US" sz="1150" i="1" dirty="0">
                <a:solidFill>
                  <a:srgbClr val="64748B"/>
                </a:solidFill>
                <a:latin typeface="Calibri" pitchFamily="34" charset="0"/>
                <a:ea typeface="Calibri" pitchFamily="34" charset="-122"/>
                <a:cs typeface="Calibri" pitchFamily="34" charset="-120"/>
              </a:rPr>
              <a:t>These roles and capabilities are already available in the current beta.</a:t>
            </a:r>
            <a:endParaRPr lang="en-US" sz="1150" dirty="0"/>
          </a:p>
        </p:txBody>
      </p:sp>
      <p:sp>
        <p:nvSpPr>
          <p:cNvPr id="22" name="Text 17"/>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23" name="Text 18"/>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PRODUCT TOUR</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Attendance</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Your working day, recorded in one place.</a:t>
            </a:r>
            <a:endParaRPr lang="en-US" sz="1400" dirty="0"/>
          </a:p>
        </p:txBody>
      </p:sp>
      <p:sp>
        <p:nvSpPr>
          <p:cNvPr id="5" name="Shape 3"/>
          <p:cNvSpPr/>
          <p:nvPr/>
        </p:nvSpPr>
        <p:spPr>
          <a:xfrm>
            <a:off x="11341303" y="585216"/>
            <a:ext cx="146304" cy="146304"/>
          </a:xfrm>
          <a:prstGeom prst="diamond">
            <a:avLst/>
          </a:prstGeom>
          <a:solidFill>
            <a:srgbClr val="818CF8"/>
          </a:solidFill>
          <a:ln/>
        </p:spPr>
      </p:sp>
      <p:sp>
        <p:nvSpPr>
          <p:cNvPr id="6" name="Shape 4"/>
          <p:cNvSpPr/>
          <p:nvPr/>
        </p:nvSpPr>
        <p:spPr>
          <a:xfrm>
            <a:off x="548640" y="1920240"/>
            <a:ext cx="493776" cy="493776"/>
          </a:xfrm>
          <a:prstGeom prst="roundRect">
            <a:avLst>
              <a:gd name="adj" fmla="val 16667"/>
            </a:avLst>
          </a:prstGeom>
          <a:solidFill>
            <a:srgbClr val="EEF2FF"/>
          </a:solidFill>
          <a:ln/>
        </p:spPr>
      </p:sp>
      <p:pic>
        <p:nvPicPr>
          <p:cNvPr id="7" name="Image 0" descr="preencoded.png">    </p:cNvPr>
          <p:cNvPicPr>
            <a:picLocks noChangeAspect="1"/>
          </p:cNvPicPr>
          <p:nvPr/>
        </p:nvPicPr>
        <p:blipFill>
          <a:blip r:embed="rId1"/>
          <a:stretch>
            <a:fillRect/>
          </a:stretch>
        </p:blipFill>
        <p:spPr>
          <a:xfrm>
            <a:off x="657271" y="2028871"/>
            <a:ext cx="276515" cy="276515"/>
          </a:xfrm>
          <a:prstGeom prst="rect">
            <a:avLst/>
          </a:prstGeom>
        </p:spPr>
      </p:pic>
      <p:sp>
        <p:nvSpPr>
          <p:cNvPr id="8" name="Text 5"/>
          <p:cNvSpPr/>
          <p:nvPr/>
        </p:nvSpPr>
        <p:spPr>
          <a:xfrm>
            <a:off x="1188720" y="1901952"/>
            <a:ext cx="4389120" cy="365760"/>
          </a:xfrm>
          <a:prstGeom prst="rect">
            <a:avLst/>
          </a:prstGeom>
          <a:noFill/>
          <a:ln/>
        </p:spPr>
        <p:txBody>
          <a:bodyPr wrap="square" lIns="0" tIns="0" rIns="0" bIns="0" rtlCol="0" anchor="ctr"/>
          <a:lstStyle/>
          <a:p>
            <a:pPr indent="0" marL="0">
              <a:buNone/>
            </a:pPr>
            <a:r>
              <a:rPr lang="en-US" sz="1700" b="1" dirty="0">
                <a:solidFill>
                  <a:srgbClr val="0F172A"/>
                </a:solidFill>
                <a:latin typeface="Cambria" pitchFamily="34" charset="0"/>
                <a:ea typeface="Cambria" pitchFamily="34" charset="-122"/>
                <a:cs typeface="Cambria" pitchFamily="34" charset="-120"/>
              </a:rPr>
              <a:t>1.  Check in</a:t>
            </a:r>
            <a:endParaRPr lang="en-US" sz="1700" dirty="0"/>
          </a:p>
        </p:txBody>
      </p:sp>
      <p:sp>
        <p:nvSpPr>
          <p:cNvPr id="9" name="Text 6"/>
          <p:cNvSpPr/>
          <p:nvPr/>
        </p:nvSpPr>
        <p:spPr>
          <a:xfrm>
            <a:off x="1188720" y="2286000"/>
            <a:ext cx="4572000" cy="68580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Start your working day.</a:t>
            </a:r>
            <a:endParaRPr lang="en-US" sz="1250" dirty="0"/>
          </a:p>
        </p:txBody>
      </p:sp>
      <p:sp>
        <p:nvSpPr>
          <p:cNvPr id="10" name="Shape 7"/>
          <p:cNvSpPr/>
          <p:nvPr/>
        </p:nvSpPr>
        <p:spPr>
          <a:xfrm>
            <a:off x="786384" y="2487168"/>
            <a:ext cx="0" cy="777240"/>
          </a:xfrm>
          <a:prstGeom prst="line">
            <a:avLst/>
          </a:prstGeom>
          <a:noFill/>
          <a:ln w="19050">
            <a:solidFill>
              <a:srgbClr val="C7D2FE"/>
            </a:solidFill>
            <a:prstDash val="dash"/>
          </a:ln>
        </p:spPr>
      </p:sp>
      <p:sp>
        <p:nvSpPr>
          <p:cNvPr id="11" name="Shape 8"/>
          <p:cNvSpPr/>
          <p:nvPr/>
        </p:nvSpPr>
        <p:spPr>
          <a:xfrm>
            <a:off x="548640" y="3273552"/>
            <a:ext cx="493776" cy="493776"/>
          </a:xfrm>
          <a:prstGeom prst="roundRect">
            <a:avLst>
              <a:gd name="adj" fmla="val 16667"/>
            </a:avLst>
          </a:prstGeom>
          <a:solidFill>
            <a:srgbClr val="FFFBEB"/>
          </a:solidFill>
          <a:ln/>
        </p:spPr>
      </p:sp>
      <p:pic>
        <p:nvPicPr>
          <p:cNvPr id="12" name="Image 1" descr="preencoded.png">    </p:cNvPr>
          <p:cNvPicPr>
            <a:picLocks noChangeAspect="1"/>
          </p:cNvPicPr>
          <p:nvPr/>
        </p:nvPicPr>
        <p:blipFill>
          <a:blip r:embed="rId2"/>
          <a:stretch>
            <a:fillRect/>
          </a:stretch>
        </p:blipFill>
        <p:spPr>
          <a:xfrm>
            <a:off x="657271" y="3382183"/>
            <a:ext cx="276515" cy="276515"/>
          </a:xfrm>
          <a:prstGeom prst="rect">
            <a:avLst/>
          </a:prstGeom>
        </p:spPr>
      </p:pic>
      <p:sp>
        <p:nvSpPr>
          <p:cNvPr id="13" name="Text 9"/>
          <p:cNvSpPr/>
          <p:nvPr/>
        </p:nvSpPr>
        <p:spPr>
          <a:xfrm>
            <a:off x="1188720" y="3255264"/>
            <a:ext cx="4389120" cy="365760"/>
          </a:xfrm>
          <a:prstGeom prst="rect">
            <a:avLst/>
          </a:prstGeom>
          <a:noFill/>
          <a:ln/>
        </p:spPr>
        <p:txBody>
          <a:bodyPr wrap="square" lIns="0" tIns="0" rIns="0" bIns="0" rtlCol="0" anchor="ctr"/>
          <a:lstStyle/>
          <a:p>
            <a:pPr indent="0" marL="0">
              <a:buNone/>
            </a:pPr>
            <a:r>
              <a:rPr lang="en-US" sz="1700" b="1" dirty="0">
                <a:solidFill>
                  <a:srgbClr val="0F172A"/>
                </a:solidFill>
                <a:latin typeface="Cambria" pitchFamily="34" charset="0"/>
                <a:ea typeface="Cambria" pitchFamily="34" charset="-122"/>
                <a:cs typeface="Cambria" pitchFamily="34" charset="-120"/>
              </a:rPr>
              <a:t>2.  Pause / Resume</a:t>
            </a:r>
            <a:endParaRPr lang="en-US" sz="1700" dirty="0"/>
          </a:p>
        </p:txBody>
      </p:sp>
      <p:sp>
        <p:nvSpPr>
          <p:cNvPr id="14" name="Text 10"/>
          <p:cNvSpPr/>
          <p:nvPr/>
        </p:nvSpPr>
        <p:spPr>
          <a:xfrm>
            <a:off x="1188720" y="3639312"/>
            <a:ext cx="4572000" cy="68580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Pause the timer when required — breaks are not counted as working time.</a:t>
            </a:r>
            <a:endParaRPr lang="en-US" sz="1250" dirty="0"/>
          </a:p>
        </p:txBody>
      </p:sp>
      <p:sp>
        <p:nvSpPr>
          <p:cNvPr id="15" name="Shape 11"/>
          <p:cNvSpPr/>
          <p:nvPr/>
        </p:nvSpPr>
        <p:spPr>
          <a:xfrm>
            <a:off x="786384" y="3840480"/>
            <a:ext cx="0" cy="777240"/>
          </a:xfrm>
          <a:prstGeom prst="line">
            <a:avLst/>
          </a:prstGeom>
          <a:noFill/>
          <a:ln w="19050">
            <a:solidFill>
              <a:srgbClr val="C7D2FE"/>
            </a:solidFill>
            <a:prstDash val="dash"/>
          </a:ln>
        </p:spPr>
      </p:sp>
      <p:sp>
        <p:nvSpPr>
          <p:cNvPr id="16" name="Shape 12"/>
          <p:cNvSpPr/>
          <p:nvPr/>
        </p:nvSpPr>
        <p:spPr>
          <a:xfrm>
            <a:off x="548640" y="4626864"/>
            <a:ext cx="493776" cy="493776"/>
          </a:xfrm>
          <a:prstGeom prst="roundRect">
            <a:avLst>
              <a:gd name="adj" fmla="val 16667"/>
            </a:avLst>
          </a:prstGeom>
          <a:solidFill>
            <a:srgbClr val="EEF2FF"/>
          </a:solidFill>
          <a:ln/>
        </p:spPr>
      </p:sp>
      <p:pic>
        <p:nvPicPr>
          <p:cNvPr id="17" name="Image 2" descr="preencoded.png">    </p:cNvPr>
          <p:cNvPicPr>
            <a:picLocks noChangeAspect="1"/>
          </p:cNvPicPr>
          <p:nvPr/>
        </p:nvPicPr>
        <p:blipFill>
          <a:blip r:embed="rId3"/>
          <a:stretch>
            <a:fillRect/>
          </a:stretch>
        </p:blipFill>
        <p:spPr>
          <a:xfrm>
            <a:off x="657271" y="4735495"/>
            <a:ext cx="276515" cy="276515"/>
          </a:xfrm>
          <a:prstGeom prst="rect">
            <a:avLst/>
          </a:prstGeom>
        </p:spPr>
      </p:pic>
      <p:sp>
        <p:nvSpPr>
          <p:cNvPr id="18" name="Text 13"/>
          <p:cNvSpPr/>
          <p:nvPr/>
        </p:nvSpPr>
        <p:spPr>
          <a:xfrm>
            <a:off x="1188720" y="4608576"/>
            <a:ext cx="4389120" cy="365760"/>
          </a:xfrm>
          <a:prstGeom prst="rect">
            <a:avLst/>
          </a:prstGeom>
          <a:noFill/>
          <a:ln/>
        </p:spPr>
        <p:txBody>
          <a:bodyPr wrap="square" lIns="0" tIns="0" rIns="0" bIns="0" rtlCol="0" anchor="ctr"/>
          <a:lstStyle/>
          <a:p>
            <a:pPr indent="0" marL="0">
              <a:buNone/>
            </a:pPr>
            <a:r>
              <a:rPr lang="en-US" sz="1700" b="1" dirty="0">
                <a:solidFill>
                  <a:srgbClr val="0F172A"/>
                </a:solidFill>
                <a:latin typeface="Cambria" pitchFamily="34" charset="0"/>
                <a:ea typeface="Cambria" pitchFamily="34" charset="-122"/>
                <a:cs typeface="Cambria" pitchFamily="34" charset="-120"/>
              </a:rPr>
              <a:t>3.  Check out</a:t>
            </a:r>
            <a:endParaRPr lang="en-US" sz="1700" dirty="0"/>
          </a:p>
        </p:txBody>
      </p:sp>
      <p:sp>
        <p:nvSpPr>
          <p:cNvPr id="19" name="Text 14"/>
          <p:cNvSpPr/>
          <p:nvPr/>
        </p:nvSpPr>
        <p:spPr>
          <a:xfrm>
            <a:off x="1188720" y="4992624"/>
            <a:ext cx="4572000" cy="68580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End the working day and record the accumulated working time.</a:t>
            </a:r>
            <a:endParaRPr lang="en-US" sz="1250" dirty="0"/>
          </a:p>
        </p:txBody>
      </p:sp>
      <p:sp>
        <p:nvSpPr>
          <p:cNvPr id="20" name="Shape 15"/>
          <p:cNvSpPr/>
          <p:nvPr/>
        </p:nvSpPr>
        <p:spPr>
          <a:xfrm>
            <a:off x="6263640" y="1920240"/>
            <a:ext cx="5349240" cy="1737360"/>
          </a:xfrm>
          <a:prstGeom prst="roundRect">
            <a:avLst>
              <a:gd name="adj" fmla="val 5263"/>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1" name="Shape 16"/>
          <p:cNvSpPr/>
          <p:nvPr/>
        </p:nvSpPr>
        <p:spPr>
          <a:xfrm>
            <a:off x="6510528" y="2194560"/>
            <a:ext cx="457200" cy="457200"/>
          </a:xfrm>
          <a:prstGeom prst="roundRect">
            <a:avLst>
              <a:gd name="adj" fmla="val 18000"/>
            </a:avLst>
          </a:prstGeom>
          <a:solidFill>
            <a:srgbClr val="EEF2FF"/>
          </a:solidFill>
          <a:ln/>
        </p:spPr>
      </p:sp>
      <p:pic>
        <p:nvPicPr>
          <p:cNvPr id="22" name="Image 3" descr="preencoded.png">    </p:cNvPr>
          <p:cNvPicPr>
            <a:picLocks noChangeAspect="1"/>
          </p:cNvPicPr>
          <p:nvPr/>
        </p:nvPicPr>
        <p:blipFill>
          <a:blip r:embed="rId4"/>
          <a:stretch>
            <a:fillRect/>
          </a:stretch>
        </p:blipFill>
        <p:spPr>
          <a:xfrm>
            <a:off x="6611112" y="2295144"/>
            <a:ext cx="256032" cy="256032"/>
          </a:xfrm>
          <a:prstGeom prst="rect">
            <a:avLst/>
          </a:prstGeom>
        </p:spPr>
      </p:pic>
      <p:sp>
        <p:nvSpPr>
          <p:cNvPr id="23" name="Text 17"/>
          <p:cNvSpPr/>
          <p:nvPr/>
        </p:nvSpPr>
        <p:spPr>
          <a:xfrm>
            <a:off x="7114032" y="2212848"/>
            <a:ext cx="429768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Maintained by the system</a:t>
            </a:r>
            <a:endParaRPr lang="en-US" sz="1450" dirty="0"/>
          </a:p>
        </p:txBody>
      </p:sp>
      <p:sp>
        <p:nvSpPr>
          <p:cNvPr id="24" name="Text 18"/>
          <p:cNvSpPr/>
          <p:nvPr/>
        </p:nvSpPr>
        <p:spPr>
          <a:xfrm>
            <a:off x="7114032" y="2606040"/>
            <a:ext cx="4251960" cy="91440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The attendance record is kept by Orbit itself — it does not depend on manual timesheets.</a:t>
            </a:r>
            <a:endParaRPr lang="en-US" sz="1200" dirty="0"/>
          </a:p>
        </p:txBody>
      </p:sp>
      <p:sp>
        <p:nvSpPr>
          <p:cNvPr id="25" name="Shape 19"/>
          <p:cNvSpPr/>
          <p:nvPr/>
        </p:nvSpPr>
        <p:spPr>
          <a:xfrm>
            <a:off x="6263640" y="3886200"/>
            <a:ext cx="5349240" cy="1737360"/>
          </a:xfrm>
          <a:prstGeom prst="roundRect">
            <a:avLst>
              <a:gd name="adj" fmla="val 5263"/>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6" name="Shape 20"/>
          <p:cNvSpPr/>
          <p:nvPr/>
        </p:nvSpPr>
        <p:spPr>
          <a:xfrm>
            <a:off x="6510528" y="4160520"/>
            <a:ext cx="457200" cy="457200"/>
          </a:xfrm>
          <a:prstGeom prst="roundRect">
            <a:avLst>
              <a:gd name="adj" fmla="val 18000"/>
            </a:avLst>
          </a:prstGeom>
          <a:solidFill>
            <a:srgbClr val="EEF2FF"/>
          </a:solidFill>
          <a:ln/>
        </p:spPr>
      </p:sp>
      <p:pic>
        <p:nvPicPr>
          <p:cNvPr id="27" name="Image 4" descr="preencoded.png">    </p:cNvPr>
          <p:cNvPicPr>
            <a:picLocks noChangeAspect="1"/>
          </p:cNvPicPr>
          <p:nvPr/>
        </p:nvPicPr>
        <p:blipFill>
          <a:blip r:embed="rId5"/>
          <a:stretch>
            <a:fillRect/>
          </a:stretch>
        </p:blipFill>
        <p:spPr>
          <a:xfrm>
            <a:off x="6611112" y="4261104"/>
            <a:ext cx="256032" cy="256032"/>
          </a:xfrm>
          <a:prstGeom prst="rect">
            <a:avLst/>
          </a:prstGeom>
        </p:spPr>
      </p:pic>
      <p:sp>
        <p:nvSpPr>
          <p:cNvPr id="28" name="Text 21"/>
          <p:cNvSpPr/>
          <p:nvPr/>
        </p:nvSpPr>
        <p:spPr>
          <a:xfrm>
            <a:off x="7114032" y="4178808"/>
            <a:ext cx="429768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Personal analytics included</a:t>
            </a:r>
            <a:endParaRPr lang="en-US" sz="1450" dirty="0"/>
          </a:p>
        </p:txBody>
      </p:sp>
      <p:sp>
        <p:nvSpPr>
          <p:cNvPr id="29" name="Text 22"/>
          <p:cNvSpPr/>
          <p:nvPr/>
        </p:nvSpPr>
        <p:spPr>
          <a:xfrm>
            <a:off x="7114032" y="4572000"/>
            <a:ext cx="4251960" cy="91440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The beta already provides personal attendance analytics and historical patterns for every employee.</a:t>
            </a:r>
            <a:endParaRPr lang="en-US" sz="1200" dirty="0"/>
          </a:p>
        </p:txBody>
      </p:sp>
      <p:sp>
        <p:nvSpPr>
          <p:cNvPr id="30" name="Text 23"/>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31" name="Text 24"/>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PRODUCT TOUR</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Leave, without the guesswork</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Know what you have before you request it.</a:t>
            </a:r>
            <a:endParaRPr lang="en-US" sz="1400" dirty="0"/>
          </a:p>
        </p:txBody>
      </p:sp>
      <p:sp>
        <p:nvSpPr>
          <p:cNvPr id="5" name="Shape 3"/>
          <p:cNvSpPr/>
          <p:nvPr/>
        </p:nvSpPr>
        <p:spPr>
          <a:xfrm>
            <a:off x="11341303" y="585216"/>
            <a:ext cx="146304" cy="146304"/>
          </a:xfrm>
          <a:prstGeom prst="diamond">
            <a:avLst/>
          </a:prstGeom>
          <a:solidFill>
            <a:srgbClr val="818CF8"/>
          </a:solidFill>
          <a:ln/>
        </p:spPr>
      </p:sp>
      <p:sp>
        <p:nvSpPr>
          <p:cNvPr id="6" name="Shape 4"/>
          <p:cNvSpPr/>
          <p:nvPr/>
        </p:nvSpPr>
        <p:spPr>
          <a:xfrm>
            <a:off x="548640" y="1783080"/>
            <a:ext cx="5349240" cy="4160520"/>
          </a:xfrm>
          <a:prstGeom prst="roundRect">
            <a:avLst>
              <a:gd name="adj" fmla="val 2198"/>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7" name="Text 5"/>
          <p:cNvSpPr/>
          <p:nvPr/>
        </p:nvSpPr>
        <p:spPr>
          <a:xfrm>
            <a:off x="868680" y="2011680"/>
            <a:ext cx="4572000" cy="36576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The beta supports:</a:t>
            </a:r>
            <a:endParaRPr lang="en-US" sz="1400" dirty="0"/>
          </a:p>
        </p:txBody>
      </p:sp>
      <p:sp>
        <p:nvSpPr>
          <p:cNvPr id="8" name="Shape 6"/>
          <p:cNvSpPr/>
          <p:nvPr/>
        </p:nvSpPr>
        <p:spPr>
          <a:xfrm>
            <a:off x="886968" y="2487168"/>
            <a:ext cx="329184" cy="329184"/>
          </a:xfrm>
          <a:prstGeom prst="roundRect">
            <a:avLst>
              <a:gd name="adj" fmla="val 25000"/>
            </a:avLst>
          </a:prstGeom>
          <a:solidFill>
            <a:srgbClr val="ECFDF5"/>
          </a:solidFill>
          <a:ln/>
        </p:spPr>
      </p:sp>
      <p:pic>
        <p:nvPicPr>
          <p:cNvPr id="9" name="Image 0" descr="preencoded.png">    </p:cNvPr>
          <p:cNvPicPr>
            <a:picLocks noChangeAspect="1"/>
          </p:cNvPicPr>
          <p:nvPr/>
        </p:nvPicPr>
        <p:blipFill>
          <a:blip r:embed="rId1"/>
          <a:stretch>
            <a:fillRect/>
          </a:stretch>
        </p:blipFill>
        <p:spPr>
          <a:xfrm>
            <a:off x="959388" y="2559588"/>
            <a:ext cx="184343" cy="184343"/>
          </a:xfrm>
          <a:prstGeom prst="rect">
            <a:avLst/>
          </a:prstGeom>
        </p:spPr>
      </p:pic>
      <p:sp>
        <p:nvSpPr>
          <p:cNvPr id="10" name="Text 7"/>
          <p:cNvSpPr/>
          <p:nvPr/>
        </p:nvSpPr>
        <p:spPr>
          <a:xfrm>
            <a:off x="1362456" y="2441448"/>
            <a:ext cx="4297680" cy="420624"/>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Full-day leave</a:t>
            </a:r>
            <a:endParaRPr lang="en-US" sz="1300" dirty="0"/>
          </a:p>
        </p:txBody>
      </p:sp>
      <p:sp>
        <p:nvSpPr>
          <p:cNvPr id="11" name="Shape 8"/>
          <p:cNvSpPr/>
          <p:nvPr/>
        </p:nvSpPr>
        <p:spPr>
          <a:xfrm>
            <a:off x="886968" y="2962656"/>
            <a:ext cx="329184" cy="329184"/>
          </a:xfrm>
          <a:prstGeom prst="roundRect">
            <a:avLst>
              <a:gd name="adj" fmla="val 25000"/>
            </a:avLst>
          </a:prstGeom>
          <a:solidFill>
            <a:srgbClr val="ECFDF5"/>
          </a:solidFill>
          <a:ln/>
        </p:spPr>
      </p:sp>
      <p:pic>
        <p:nvPicPr>
          <p:cNvPr id="12" name="Image 1" descr="preencoded.png">    </p:cNvPr>
          <p:cNvPicPr>
            <a:picLocks noChangeAspect="1"/>
          </p:cNvPicPr>
          <p:nvPr/>
        </p:nvPicPr>
        <p:blipFill>
          <a:blip r:embed="rId2"/>
          <a:stretch>
            <a:fillRect/>
          </a:stretch>
        </p:blipFill>
        <p:spPr>
          <a:xfrm>
            <a:off x="959388" y="3035076"/>
            <a:ext cx="184343" cy="184343"/>
          </a:xfrm>
          <a:prstGeom prst="rect">
            <a:avLst/>
          </a:prstGeom>
        </p:spPr>
      </p:pic>
      <p:sp>
        <p:nvSpPr>
          <p:cNvPr id="13" name="Text 9"/>
          <p:cNvSpPr/>
          <p:nvPr/>
        </p:nvSpPr>
        <p:spPr>
          <a:xfrm>
            <a:off x="1362456" y="2916936"/>
            <a:ext cx="4297680" cy="420624"/>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Half-day leave</a:t>
            </a:r>
            <a:endParaRPr lang="en-US" sz="1300" dirty="0"/>
          </a:p>
        </p:txBody>
      </p:sp>
      <p:sp>
        <p:nvSpPr>
          <p:cNvPr id="14" name="Shape 10"/>
          <p:cNvSpPr/>
          <p:nvPr/>
        </p:nvSpPr>
        <p:spPr>
          <a:xfrm>
            <a:off x="886968" y="3438144"/>
            <a:ext cx="329184" cy="329184"/>
          </a:xfrm>
          <a:prstGeom prst="roundRect">
            <a:avLst>
              <a:gd name="adj" fmla="val 25000"/>
            </a:avLst>
          </a:prstGeom>
          <a:solidFill>
            <a:srgbClr val="ECFDF5"/>
          </a:solidFill>
          <a:ln/>
        </p:spPr>
      </p:sp>
      <p:pic>
        <p:nvPicPr>
          <p:cNvPr id="15" name="Image 2" descr="preencoded.png">    </p:cNvPr>
          <p:cNvPicPr>
            <a:picLocks noChangeAspect="1"/>
          </p:cNvPicPr>
          <p:nvPr/>
        </p:nvPicPr>
        <p:blipFill>
          <a:blip r:embed="rId3"/>
          <a:stretch>
            <a:fillRect/>
          </a:stretch>
        </p:blipFill>
        <p:spPr>
          <a:xfrm>
            <a:off x="959388" y="3510564"/>
            <a:ext cx="184343" cy="184343"/>
          </a:xfrm>
          <a:prstGeom prst="rect">
            <a:avLst/>
          </a:prstGeom>
        </p:spPr>
      </p:pic>
      <p:sp>
        <p:nvSpPr>
          <p:cNvPr id="16" name="Text 11"/>
          <p:cNvSpPr/>
          <p:nvPr/>
        </p:nvSpPr>
        <p:spPr>
          <a:xfrm>
            <a:off x="1362456" y="3392424"/>
            <a:ext cx="4297680" cy="420624"/>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Consecutive date ranges</a:t>
            </a:r>
            <a:endParaRPr lang="en-US" sz="1300" dirty="0"/>
          </a:p>
        </p:txBody>
      </p:sp>
      <p:sp>
        <p:nvSpPr>
          <p:cNvPr id="17" name="Shape 12"/>
          <p:cNvSpPr/>
          <p:nvPr/>
        </p:nvSpPr>
        <p:spPr>
          <a:xfrm>
            <a:off x="886968" y="3913632"/>
            <a:ext cx="329184" cy="329184"/>
          </a:xfrm>
          <a:prstGeom prst="roundRect">
            <a:avLst>
              <a:gd name="adj" fmla="val 25000"/>
            </a:avLst>
          </a:prstGeom>
          <a:solidFill>
            <a:srgbClr val="ECFDF5"/>
          </a:solidFill>
          <a:ln/>
        </p:spPr>
      </p:sp>
      <p:pic>
        <p:nvPicPr>
          <p:cNvPr id="18" name="Image 3" descr="preencoded.png">    </p:cNvPr>
          <p:cNvPicPr>
            <a:picLocks noChangeAspect="1"/>
          </p:cNvPicPr>
          <p:nvPr/>
        </p:nvPicPr>
        <p:blipFill>
          <a:blip r:embed="rId4"/>
          <a:stretch>
            <a:fillRect/>
          </a:stretch>
        </p:blipFill>
        <p:spPr>
          <a:xfrm>
            <a:off x="959388" y="3986052"/>
            <a:ext cx="184343" cy="184343"/>
          </a:xfrm>
          <a:prstGeom prst="rect">
            <a:avLst/>
          </a:prstGeom>
        </p:spPr>
      </p:pic>
      <p:sp>
        <p:nvSpPr>
          <p:cNvPr id="19" name="Text 13"/>
          <p:cNvSpPr/>
          <p:nvPr/>
        </p:nvSpPr>
        <p:spPr>
          <a:xfrm>
            <a:off x="1362456" y="3867912"/>
            <a:ext cx="4297680" cy="420624"/>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Selected / custom dates</a:t>
            </a:r>
            <a:endParaRPr lang="en-US" sz="1300" dirty="0"/>
          </a:p>
        </p:txBody>
      </p:sp>
      <p:sp>
        <p:nvSpPr>
          <p:cNvPr id="20" name="Shape 14"/>
          <p:cNvSpPr/>
          <p:nvPr/>
        </p:nvSpPr>
        <p:spPr>
          <a:xfrm>
            <a:off x="886968" y="4389120"/>
            <a:ext cx="329184" cy="329184"/>
          </a:xfrm>
          <a:prstGeom prst="roundRect">
            <a:avLst>
              <a:gd name="adj" fmla="val 25000"/>
            </a:avLst>
          </a:prstGeom>
          <a:solidFill>
            <a:srgbClr val="ECFDF5"/>
          </a:solidFill>
          <a:ln/>
        </p:spPr>
      </p:sp>
      <p:pic>
        <p:nvPicPr>
          <p:cNvPr id="21" name="Image 4" descr="preencoded.png">    </p:cNvPr>
          <p:cNvPicPr>
            <a:picLocks noChangeAspect="1"/>
          </p:cNvPicPr>
          <p:nvPr/>
        </p:nvPicPr>
        <p:blipFill>
          <a:blip r:embed="rId5"/>
          <a:stretch>
            <a:fillRect/>
          </a:stretch>
        </p:blipFill>
        <p:spPr>
          <a:xfrm>
            <a:off x="959388" y="4461540"/>
            <a:ext cx="184343" cy="184343"/>
          </a:xfrm>
          <a:prstGeom prst="rect">
            <a:avLst/>
          </a:prstGeom>
        </p:spPr>
      </p:pic>
      <p:sp>
        <p:nvSpPr>
          <p:cNvPr id="22" name="Text 15"/>
          <p:cNvSpPr/>
          <p:nvPr/>
        </p:nvSpPr>
        <p:spPr>
          <a:xfrm>
            <a:off x="1362456" y="4343400"/>
            <a:ext cx="4297680" cy="420624"/>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Different leave types</a:t>
            </a:r>
            <a:endParaRPr lang="en-US" sz="1300" dirty="0"/>
          </a:p>
        </p:txBody>
      </p:sp>
      <p:sp>
        <p:nvSpPr>
          <p:cNvPr id="23" name="Shape 16"/>
          <p:cNvSpPr/>
          <p:nvPr/>
        </p:nvSpPr>
        <p:spPr>
          <a:xfrm>
            <a:off x="886968" y="4864608"/>
            <a:ext cx="329184" cy="329184"/>
          </a:xfrm>
          <a:prstGeom prst="roundRect">
            <a:avLst>
              <a:gd name="adj" fmla="val 25000"/>
            </a:avLst>
          </a:prstGeom>
          <a:solidFill>
            <a:srgbClr val="ECFDF5"/>
          </a:solidFill>
          <a:ln/>
        </p:spPr>
      </p:sp>
      <p:pic>
        <p:nvPicPr>
          <p:cNvPr id="24" name="Image 5" descr="preencoded.png">    </p:cNvPr>
          <p:cNvPicPr>
            <a:picLocks noChangeAspect="1"/>
          </p:cNvPicPr>
          <p:nvPr/>
        </p:nvPicPr>
        <p:blipFill>
          <a:blip r:embed="rId6"/>
          <a:stretch>
            <a:fillRect/>
          </a:stretch>
        </p:blipFill>
        <p:spPr>
          <a:xfrm>
            <a:off x="959388" y="4937028"/>
            <a:ext cx="184343" cy="184343"/>
          </a:xfrm>
          <a:prstGeom prst="rect">
            <a:avLst/>
          </a:prstGeom>
        </p:spPr>
      </p:pic>
      <p:sp>
        <p:nvSpPr>
          <p:cNvPr id="25" name="Text 17"/>
          <p:cNvSpPr/>
          <p:nvPr/>
        </p:nvSpPr>
        <p:spPr>
          <a:xfrm>
            <a:off x="1362456" y="4818888"/>
            <a:ext cx="4297680" cy="420624"/>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Request status</a:t>
            </a:r>
            <a:endParaRPr lang="en-US" sz="1300" dirty="0"/>
          </a:p>
        </p:txBody>
      </p:sp>
      <p:sp>
        <p:nvSpPr>
          <p:cNvPr id="26" name="Shape 18"/>
          <p:cNvSpPr/>
          <p:nvPr/>
        </p:nvSpPr>
        <p:spPr>
          <a:xfrm>
            <a:off x="886968" y="5340096"/>
            <a:ext cx="329184" cy="329184"/>
          </a:xfrm>
          <a:prstGeom prst="roundRect">
            <a:avLst>
              <a:gd name="adj" fmla="val 25000"/>
            </a:avLst>
          </a:prstGeom>
          <a:solidFill>
            <a:srgbClr val="ECFDF5"/>
          </a:solidFill>
          <a:ln/>
        </p:spPr>
      </p:sp>
      <p:pic>
        <p:nvPicPr>
          <p:cNvPr id="27" name="Image 6" descr="preencoded.png">    </p:cNvPr>
          <p:cNvPicPr>
            <a:picLocks noChangeAspect="1"/>
          </p:cNvPicPr>
          <p:nvPr/>
        </p:nvPicPr>
        <p:blipFill>
          <a:blip r:embed="rId7"/>
          <a:stretch>
            <a:fillRect/>
          </a:stretch>
        </p:blipFill>
        <p:spPr>
          <a:xfrm>
            <a:off x="959388" y="5412516"/>
            <a:ext cx="184343" cy="184343"/>
          </a:xfrm>
          <a:prstGeom prst="rect">
            <a:avLst/>
          </a:prstGeom>
        </p:spPr>
      </p:pic>
      <p:sp>
        <p:nvSpPr>
          <p:cNvPr id="28" name="Text 19"/>
          <p:cNvSpPr/>
          <p:nvPr/>
        </p:nvSpPr>
        <p:spPr>
          <a:xfrm>
            <a:off x="1362456" y="5294376"/>
            <a:ext cx="4297680" cy="420624"/>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Available balances</a:t>
            </a:r>
            <a:endParaRPr lang="en-US" sz="1300" dirty="0"/>
          </a:p>
        </p:txBody>
      </p:sp>
      <p:sp>
        <p:nvSpPr>
          <p:cNvPr id="29" name="Shape 20"/>
          <p:cNvSpPr/>
          <p:nvPr/>
        </p:nvSpPr>
        <p:spPr>
          <a:xfrm>
            <a:off x="6263640" y="1783080"/>
            <a:ext cx="5349240" cy="1920240"/>
          </a:xfrm>
          <a:prstGeom prst="roundRect">
            <a:avLst>
              <a:gd name="adj" fmla="val 4762"/>
            </a:avLst>
          </a:prstGeom>
          <a:solidFill>
            <a:srgbClr val="EEF2FF"/>
          </a:solidFill>
          <a:ln w="12700">
            <a:solidFill>
              <a:srgbClr val="C7D2FE"/>
            </a:solidFill>
            <a:prstDash val="solid"/>
          </a:ln>
          <a:effectLst>
            <a:outerShdw sx="100000" sy="100000" kx="0" ky="0" algn="bl" rotWithShape="0" blurRad="76200" dist="12700" dir="5400000">
              <a:srgbClr val="94A3B8">
                <a:alpha val="18000"/>
              </a:srgbClr>
            </a:outerShdw>
          </a:effectLst>
        </p:spPr>
      </p:sp>
      <p:sp>
        <p:nvSpPr>
          <p:cNvPr id="30" name="Shape 21"/>
          <p:cNvSpPr/>
          <p:nvPr/>
        </p:nvSpPr>
        <p:spPr>
          <a:xfrm>
            <a:off x="6583680" y="2057400"/>
            <a:ext cx="457200" cy="457200"/>
          </a:xfrm>
          <a:prstGeom prst="roundRect">
            <a:avLst>
              <a:gd name="adj" fmla="val 18000"/>
            </a:avLst>
          </a:prstGeom>
          <a:solidFill>
            <a:srgbClr val="E0E7FF"/>
          </a:solidFill>
          <a:ln/>
        </p:spPr>
      </p:sp>
      <p:pic>
        <p:nvPicPr>
          <p:cNvPr id="31" name="Image 7" descr="preencoded.png">    </p:cNvPr>
          <p:cNvPicPr>
            <a:picLocks noChangeAspect="1"/>
          </p:cNvPicPr>
          <p:nvPr/>
        </p:nvPicPr>
        <p:blipFill>
          <a:blip r:embed="rId8"/>
          <a:stretch>
            <a:fillRect/>
          </a:stretch>
        </p:blipFill>
        <p:spPr>
          <a:xfrm>
            <a:off x="6684264" y="2157984"/>
            <a:ext cx="256032" cy="256032"/>
          </a:xfrm>
          <a:prstGeom prst="rect">
            <a:avLst/>
          </a:prstGeom>
        </p:spPr>
      </p:pic>
      <p:sp>
        <p:nvSpPr>
          <p:cNvPr id="32" name="Text 22"/>
          <p:cNvSpPr/>
          <p:nvPr/>
        </p:nvSpPr>
        <p:spPr>
          <a:xfrm>
            <a:off x="7187184" y="2075688"/>
            <a:ext cx="4206240" cy="384048"/>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Balance moves only on approval</a:t>
            </a:r>
            <a:endParaRPr lang="en-US" sz="1450" dirty="0"/>
          </a:p>
        </p:txBody>
      </p:sp>
      <p:sp>
        <p:nvSpPr>
          <p:cNvPr id="33" name="Text 23"/>
          <p:cNvSpPr/>
          <p:nvPr/>
        </p:nvSpPr>
        <p:spPr>
          <a:xfrm>
            <a:off x="6583680" y="2560320"/>
            <a:ext cx="4709160" cy="100584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Employees see their leave information directly inside Orbit and submit requests from the same place. The balance is deducted when the request is approved.</a:t>
            </a:r>
            <a:endParaRPr lang="en-US" sz="1200" dirty="0"/>
          </a:p>
        </p:txBody>
      </p:sp>
      <p:sp>
        <p:nvSpPr>
          <p:cNvPr id="34" name="Shape 24"/>
          <p:cNvSpPr/>
          <p:nvPr/>
        </p:nvSpPr>
        <p:spPr>
          <a:xfrm>
            <a:off x="6263640" y="3931920"/>
            <a:ext cx="5349240" cy="2011680"/>
          </a:xfrm>
          <a:prstGeom prst="roundRect">
            <a:avLst>
              <a:gd name="adj" fmla="val 4545"/>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35" name="Shape 25"/>
          <p:cNvSpPr/>
          <p:nvPr/>
        </p:nvSpPr>
        <p:spPr>
          <a:xfrm>
            <a:off x="6583680" y="4206240"/>
            <a:ext cx="457200" cy="457200"/>
          </a:xfrm>
          <a:prstGeom prst="roundRect">
            <a:avLst>
              <a:gd name="adj" fmla="val 18000"/>
            </a:avLst>
          </a:prstGeom>
          <a:solidFill>
            <a:srgbClr val="EEF2FF"/>
          </a:solidFill>
          <a:ln/>
        </p:spPr>
      </p:sp>
      <p:pic>
        <p:nvPicPr>
          <p:cNvPr id="36" name="Image 8" descr="preencoded.png">    </p:cNvPr>
          <p:cNvPicPr>
            <a:picLocks noChangeAspect="1"/>
          </p:cNvPicPr>
          <p:nvPr/>
        </p:nvPicPr>
        <p:blipFill>
          <a:blip r:embed="rId9"/>
          <a:stretch>
            <a:fillRect/>
          </a:stretch>
        </p:blipFill>
        <p:spPr>
          <a:xfrm>
            <a:off x="6684264" y="4306824"/>
            <a:ext cx="256032" cy="256032"/>
          </a:xfrm>
          <a:prstGeom prst="rect">
            <a:avLst/>
          </a:prstGeom>
        </p:spPr>
      </p:pic>
      <p:sp>
        <p:nvSpPr>
          <p:cNvPr id="37" name="Text 26"/>
          <p:cNvSpPr/>
          <p:nvPr/>
        </p:nvSpPr>
        <p:spPr>
          <a:xfrm>
            <a:off x="7187184" y="4224528"/>
            <a:ext cx="4206240" cy="384048"/>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No guesswork</a:t>
            </a:r>
            <a:endParaRPr lang="en-US" sz="1450" dirty="0"/>
          </a:p>
        </p:txBody>
      </p:sp>
      <p:sp>
        <p:nvSpPr>
          <p:cNvPr id="38" name="Text 27"/>
          <p:cNvSpPr/>
          <p:nvPr/>
        </p:nvSpPr>
        <p:spPr>
          <a:xfrm>
            <a:off x="6583680" y="4709160"/>
            <a:ext cx="4709160" cy="1005840"/>
          </a:xfrm>
          <a:prstGeom prst="rect">
            <a:avLst/>
          </a:prstGeom>
          <a:noFill/>
          <a:ln/>
        </p:spPr>
        <p:txBody>
          <a:bodyPr wrap="square" lIns="0" tIns="0" rIns="0" bIns="0" rtlCol="0" anchor="t"/>
          <a:lstStyle/>
          <a:p>
            <a:pPr indent="0" marL="0">
              <a:spcAft>
                <a:spcPts val="600"/>
              </a:spcAft>
              <a:buNone/>
            </a:pPr>
            <a:r>
              <a:rPr lang="en-US" sz="1500" i="1" dirty="0">
                <a:solidFill>
                  <a:srgbClr val="4F46E5"/>
                </a:solidFill>
                <a:latin typeface="Cambria" pitchFamily="34" charset="0"/>
                <a:ea typeface="Cambria" pitchFamily="34" charset="-122"/>
                <a:cs typeface="Cambria" pitchFamily="34" charset="-120"/>
              </a:rPr>
              <a:t>No separate calculation.
</a:t>
            </a:r>
            <a:endParaRPr lang="en-US" sz="1500" dirty="0"/>
          </a:p>
          <a:p>
            <a:pPr indent="0" marL="0">
              <a:spcAft>
                <a:spcPts val="600"/>
              </a:spcAft>
              <a:buNone/>
            </a:pPr>
            <a:r>
              <a:rPr lang="en-US" sz="1500" i="1" dirty="0">
                <a:solidFill>
                  <a:srgbClr val="4F46E5"/>
                </a:solidFill>
                <a:latin typeface="Cambria" pitchFamily="34" charset="0"/>
                <a:ea typeface="Cambria" pitchFamily="34" charset="-122"/>
                <a:cs typeface="Cambria" pitchFamily="34" charset="-120"/>
              </a:rPr>
              <a:t>No searching through old messages.</a:t>
            </a:r>
            <a:endParaRPr lang="en-US" sz="1500" dirty="0"/>
          </a:p>
        </p:txBody>
      </p:sp>
      <p:sp>
        <p:nvSpPr>
          <p:cNvPr id="39" name="Text 28"/>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40" name="Text 29"/>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PRODUCT TOUR</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Requests &amp; approvals</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One structured process for everyone.</a:t>
            </a:r>
            <a:endParaRPr lang="en-US" sz="1400" dirty="0"/>
          </a:p>
        </p:txBody>
      </p:sp>
      <p:sp>
        <p:nvSpPr>
          <p:cNvPr id="5" name="Shape 3"/>
          <p:cNvSpPr/>
          <p:nvPr/>
        </p:nvSpPr>
        <p:spPr>
          <a:xfrm>
            <a:off x="11341303" y="585216"/>
            <a:ext cx="146304" cy="146304"/>
          </a:xfrm>
          <a:prstGeom prst="diamond">
            <a:avLst/>
          </a:prstGeom>
          <a:solidFill>
            <a:srgbClr val="818CF8"/>
          </a:solidFill>
          <a:ln/>
        </p:spPr>
      </p:sp>
      <p:sp>
        <p:nvSpPr>
          <p:cNvPr id="6" name="Shape 4"/>
          <p:cNvSpPr/>
          <p:nvPr/>
        </p:nvSpPr>
        <p:spPr>
          <a:xfrm>
            <a:off x="548640" y="1965960"/>
            <a:ext cx="3383280" cy="3017520"/>
          </a:xfrm>
          <a:prstGeom prst="roundRect">
            <a:avLst>
              <a:gd name="adj" fmla="val 3030"/>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7" name="Shape 5"/>
          <p:cNvSpPr/>
          <p:nvPr/>
        </p:nvSpPr>
        <p:spPr>
          <a:xfrm>
            <a:off x="822960" y="2240280"/>
            <a:ext cx="475488" cy="475488"/>
          </a:xfrm>
          <a:prstGeom prst="roundRect">
            <a:avLst>
              <a:gd name="adj" fmla="val 17308"/>
            </a:avLst>
          </a:prstGeom>
          <a:solidFill>
            <a:srgbClr val="EEF2FF"/>
          </a:solidFill>
          <a:ln/>
        </p:spPr>
      </p:sp>
      <p:pic>
        <p:nvPicPr>
          <p:cNvPr id="8" name="Image 0" descr="preencoded.png">    </p:cNvPr>
          <p:cNvPicPr>
            <a:picLocks noChangeAspect="1"/>
          </p:cNvPicPr>
          <p:nvPr/>
        </p:nvPicPr>
        <p:blipFill>
          <a:blip r:embed="rId1"/>
          <a:stretch>
            <a:fillRect/>
          </a:stretch>
        </p:blipFill>
        <p:spPr>
          <a:xfrm>
            <a:off x="927567" y="2344887"/>
            <a:ext cx="266273" cy="266273"/>
          </a:xfrm>
          <a:prstGeom prst="rect">
            <a:avLst/>
          </a:prstGeom>
        </p:spPr>
      </p:pic>
      <p:sp>
        <p:nvSpPr>
          <p:cNvPr id="9" name="Text 6"/>
          <p:cNvSpPr/>
          <p:nvPr/>
        </p:nvSpPr>
        <p:spPr>
          <a:xfrm>
            <a:off x="822960" y="2880360"/>
            <a:ext cx="2834640" cy="411480"/>
          </a:xfrm>
          <a:prstGeom prst="rect">
            <a:avLst/>
          </a:prstGeom>
          <a:noFill/>
          <a:ln/>
        </p:spPr>
        <p:txBody>
          <a:bodyPr wrap="square" lIns="0" tIns="0" rIns="0" bIns="0" rtlCol="0" anchor="ctr"/>
          <a:lstStyle/>
          <a:p>
            <a:pPr indent="0" marL="0">
              <a:buNone/>
            </a:pPr>
            <a:r>
              <a:rPr lang="en-US" sz="1600" b="1" dirty="0">
                <a:solidFill>
                  <a:srgbClr val="0F172A"/>
                </a:solidFill>
                <a:latin typeface="Cambria" pitchFamily="34" charset="0"/>
                <a:ea typeface="Cambria" pitchFamily="34" charset="-122"/>
                <a:cs typeface="Cambria" pitchFamily="34" charset="-120"/>
              </a:rPr>
              <a:t>The employee submits</a:t>
            </a:r>
            <a:endParaRPr lang="en-US" sz="1600" dirty="0"/>
          </a:p>
        </p:txBody>
      </p:sp>
      <p:sp>
        <p:nvSpPr>
          <p:cNvPr id="10" name="Text 7"/>
          <p:cNvSpPr/>
          <p:nvPr/>
        </p:nvSpPr>
        <p:spPr>
          <a:xfrm>
            <a:off x="822960" y="3337560"/>
            <a:ext cx="2834640" cy="146304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The request is created in Orbit and goes straight to the relevant manager.</a:t>
            </a:r>
            <a:endParaRPr lang="en-US" sz="1250" dirty="0"/>
          </a:p>
        </p:txBody>
      </p:sp>
      <p:sp>
        <p:nvSpPr>
          <p:cNvPr id="11" name="Shape 8"/>
          <p:cNvSpPr/>
          <p:nvPr/>
        </p:nvSpPr>
        <p:spPr>
          <a:xfrm>
            <a:off x="4407408" y="1965960"/>
            <a:ext cx="3383280" cy="3017520"/>
          </a:xfrm>
          <a:prstGeom prst="roundRect">
            <a:avLst>
              <a:gd name="adj" fmla="val 3030"/>
            </a:avLst>
          </a:prstGeom>
          <a:solidFill>
            <a:srgbClr val="EEF2FF"/>
          </a:solidFill>
          <a:ln w="12700">
            <a:solidFill>
              <a:srgbClr val="C7D2FE"/>
            </a:solidFill>
            <a:prstDash val="solid"/>
          </a:ln>
          <a:effectLst>
            <a:outerShdw sx="100000" sy="100000" kx="0" ky="0" algn="bl" rotWithShape="0" blurRad="76200" dist="12700" dir="5400000">
              <a:srgbClr val="94A3B8">
                <a:alpha val="18000"/>
              </a:srgbClr>
            </a:outerShdw>
          </a:effectLst>
        </p:spPr>
      </p:sp>
      <p:sp>
        <p:nvSpPr>
          <p:cNvPr id="12" name="Shape 9"/>
          <p:cNvSpPr/>
          <p:nvPr/>
        </p:nvSpPr>
        <p:spPr>
          <a:xfrm>
            <a:off x="4681728" y="2240280"/>
            <a:ext cx="475488" cy="475488"/>
          </a:xfrm>
          <a:prstGeom prst="roundRect">
            <a:avLst>
              <a:gd name="adj" fmla="val 17308"/>
            </a:avLst>
          </a:prstGeom>
          <a:solidFill>
            <a:srgbClr val="E0E7FF"/>
          </a:solidFill>
          <a:ln/>
        </p:spPr>
      </p:sp>
      <p:pic>
        <p:nvPicPr>
          <p:cNvPr id="13" name="Image 1" descr="preencoded.png">    </p:cNvPr>
          <p:cNvPicPr>
            <a:picLocks noChangeAspect="1"/>
          </p:cNvPicPr>
          <p:nvPr/>
        </p:nvPicPr>
        <p:blipFill>
          <a:blip r:embed="rId2"/>
          <a:stretch>
            <a:fillRect/>
          </a:stretch>
        </p:blipFill>
        <p:spPr>
          <a:xfrm>
            <a:off x="4786335" y="2344887"/>
            <a:ext cx="266273" cy="266273"/>
          </a:xfrm>
          <a:prstGeom prst="rect">
            <a:avLst/>
          </a:prstGeom>
        </p:spPr>
      </p:pic>
      <p:sp>
        <p:nvSpPr>
          <p:cNvPr id="14" name="Text 10"/>
          <p:cNvSpPr/>
          <p:nvPr/>
        </p:nvSpPr>
        <p:spPr>
          <a:xfrm>
            <a:off x="4681728" y="2880360"/>
            <a:ext cx="2834640" cy="411480"/>
          </a:xfrm>
          <a:prstGeom prst="rect">
            <a:avLst/>
          </a:prstGeom>
          <a:noFill/>
          <a:ln/>
        </p:spPr>
        <p:txBody>
          <a:bodyPr wrap="square" lIns="0" tIns="0" rIns="0" bIns="0" rtlCol="0" anchor="ctr"/>
          <a:lstStyle/>
          <a:p>
            <a:pPr indent="0" marL="0">
              <a:buNone/>
            </a:pPr>
            <a:r>
              <a:rPr lang="en-US" sz="1600" b="1" dirty="0">
                <a:solidFill>
                  <a:srgbClr val="0F172A"/>
                </a:solidFill>
                <a:latin typeface="Cambria" pitchFamily="34" charset="0"/>
                <a:ea typeface="Cambria" pitchFamily="34" charset="-122"/>
                <a:cs typeface="Cambria" pitchFamily="34" charset="-120"/>
              </a:rPr>
              <a:t>The manager decides</a:t>
            </a:r>
            <a:endParaRPr lang="en-US" sz="1600" dirty="0"/>
          </a:p>
        </p:txBody>
      </p:sp>
      <p:sp>
        <p:nvSpPr>
          <p:cNvPr id="15" name="Text 11"/>
          <p:cNvSpPr/>
          <p:nvPr/>
        </p:nvSpPr>
        <p:spPr>
          <a:xfrm>
            <a:off x="4700016" y="3337560"/>
            <a:ext cx="2816352" cy="1463040"/>
          </a:xfrm>
          <a:prstGeom prst="rect">
            <a:avLst/>
          </a:prstGeom>
          <a:noFill/>
          <a:ln/>
        </p:spPr>
        <p:txBody>
          <a:bodyPr wrap="square" lIns="0" tIns="0" rIns="0" bIns="0" rtlCol="0" anchor="t"/>
          <a:lstStyle/>
          <a:p>
            <a:pPr marL="127000" indent="-127000">
              <a:spcAft>
                <a:spcPts val="700"/>
              </a:spcAft>
              <a:buSzPct val="100000"/>
              <a:buChar char="•"/>
            </a:pPr>
            <a:r>
              <a:rPr lang="en-US" sz="1250" dirty="0">
                <a:solidFill>
                  <a:srgbClr val="0F172A"/>
                </a:solidFill>
                <a:latin typeface="Calibri" pitchFamily="34" charset="0"/>
                <a:ea typeface="Calibri" pitchFamily="34" charset="-122"/>
                <a:cs typeface="Calibri" pitchFamily="34" charset="-120"/>
              </a:rPr>
              <a:t>Review the request</a:t>
            </a:r>
            <a:endParaRPr lang="en-US" sz="1250" dirty="0"/>
          </a:p>
          <a:p>
            <a:pPr marL="127000" indent="-127000">
              <a:spcAft>
                <a:spcPts val="700"/>
              </a:spcAft>
              <a:buSzPct val="100000"/>
              <a:buChar char="•"/>
            </a:pPr>
            <a:r>
              <a:rPr lang="en-US" sz="1250" dirty="0">
                <a:solidFill>
                  <a:srgbClr val="0F172A"/>
                </a:solidFill>
                <a:latin typeface="Calibri" pitchFamily="34" charset="0"/>
                <a:ea typeface="Calibri" pitchFamily="34" charset="-122"/>
                <a:cs typeface="Calibri" pitchFamily="34" charset="-120"/>
              </a:rPr>
              <a:t>Approve or reject it</a:t>
            </a:r>
            <a:endParaRPr lang="en-US" sz="1250" dirty="0"/>
          </a:p>
          <a:p>
            <a:pPr marL="127000" indent="-127000">
              <a:spcAft>
                <a:spcPts val="700"/>
              </a:spcAft>
              <a:buSzPct val="100000"/>
              <a:buChar char="•"/>
            </a:pPr>
            <a:r>
              <a:rPr lang="en-US" sz="1250" dirty="0">
                <a:solidFill>
                  <a:srgbClr val="0F172A"/>
                </a:solidFill>
                <a:latin typeface="Calibri" pitchFamily="34" charset="0"/>
                <a:ea typeface="Calibri" pitchFamily="34" charset="-122"/>
                <a:cs typeface="Calibri" pitchFamily="34" charset="-120"/>
              </a:rPr>
              <a:t>Provide context where necessary</a:t>
            </a:r>
            <a:endParaRPr lang="en-US" sz="1250" dirty="0"/>
          </a:p>
        </p:txBody>
      </p:sp>
      <p:sp>
        <p:nvSpPr>
          <p:cNvPr id="16" name="Shape 12"/>
          <p:cNvSpPr/>
          <p:nvPr/>
        </p:nvSpPr>
        <p:spPr>
          <a:xfrm>
            <a:off x="8266176" y="1965960"/>
            <a:ext cx="3383280" cy="3017520"/>
          </a:xfrm>
          <a:prstGeom prst="roundRect">
            <a:avLst>
              <a:gd name="adj" fmla="val 3030"/>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7" name="Shape 13"/>
          <p:cNvSpPr/>
          <p:nvPr/>
        </p:nvSpPr>
        <p:spPr>
          <a:xfrm>
            <a:off x="8540496" y="2240280"/>
            <a:ext cx="475488" cy="475488"/>
          </a:xfrm>
          <a:prstGeom prst="roundRect">
            <a:avLst>
              <a:gd name="adj" fmla="val 17308"/>
            </a:avLst>
          </a:prstGeom>
          <a:solidFill>
            <a:srgbClr val="EEF2FF"/>
          </a:solidFill>
          <a:ln/>
        </p:spPr>
      </p:sp>
      <p:pic>
        <p:nvPicPr>
          <p:cNvPr id="18" name="Image 2" descr="preencoded.png">    </p:cNvPr>
          <p:cNvPicPr>
            <a:picLocks noChangeAspect="1"/>
          </p:cNvPicPr>
          <p:nvPr/>
        </p:nvPicPr>
        <p:blipFill>
          <a:blip r:embed="rId3"/>
          <a:stretch>
            <a:fillRect/>
          </a:stretch>
        </p:blipFill>
        <p:spPr>
          <a:xfrm>
            <a:off x="8645103" y="2344887"/>
            <a:ext cx="266273" cy="266273"/>
          </a:xfrm>
          <a:prstGeom prst="rect">
            <a:avLst/>
          </a:prstGeom>
        </p:spPr>
      </p:pic>
      <p:sp>
        <p:nvSpPr>
          <p:cNvPr id="19" name="Text 14"/>
          <p:cNvSpPr/>
          <p:nvPr/>
        </p:nvSpPr>
        <p:spPr>
          <a:xfrm>
            <a:off x="8540496" y="2880360"/>
            <a:ext cx="2834640" cy="411480"/>
          </a:xfrm>
          <a:prstGeom prst="rect">
            <a:avLst/>
          </a:prstGeom>
          <a:noFill/>
          <a:ln/>
        </p:spPr>
        <p:txBody>
          <a:bodyPr wrap="square" lIns="0" tIns="0" rIns="0" bIns="0" rtlCol="0" anchor="ctr"/>
          <a:lstStyle/>
          <a:p>
            <a:pPr indent="0" marL="0">
              <a:buNone/>
            </a:pPr>
            <a:r>
              <a:rPr lang="en-US" sz="1600" b="1" dirty="0">
                <a:solidFill>
                  <a:srgbClr val="0F172A"/>
                </a:solidFill>
                <a:latin typeface="Cambria" pitchFamily="34" charset="0"/>
                <a:ea typeface="Cambria" pitchFamily="34" charset="-122"/>
                <a:cs typeface="Cambria" pitchFamily="34" charset="-120"/>
              </a:rPr>
              <a:t>Everything updates</a:t>
            </a:r>
            <a:endParaRPr lang="en-US" sz="1600" dirty="0"/>
          </a:p>
        </p:txBody>
      </p:sp>
      <p:sp>
        <p:nvSpPr>
          <p:cNvPr id="20" name="Text 15"/>
          <p:cNvSpPr/>
          <p:nvPr/>
        </p:nvSpPr>
        <p:spPr>
          <a:xfrm>
            <a:off x="8540496" y="3337560"/>
            <a:ext cx="2834640" cy="146304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Once decided, the employee's status, notifications and balance information update automatically.</a:t>
            </a:r>
            <a:endParaRPr lang="en-US" sz="1250" dirty="0"/>
          </a:p>
        </p:txBody>
      </p:sp>
      <p:sp>
        <p:nvSpPr>
          <p:cNvPr id="21" name="Shape 16"/>
          <p:cNvSpPr/>
          <p:nvPr/>
        </p:nvSpPr>
        <p:spPr>
          <a:xfrm>
            <a:off x="4005072" y="3200400"/>
            <a:ext cx="347472" cy="502920"/>
          </a:xfrm>
          <a:prstGeom prst="rightArrow">
            <a:avLst/>
          </a:prstGeom>
          <a:solidFill>
            <a:srgbClr val="C7D2FE"/>
          </a:solidFill>
          <a:ln/>
        </p:spPr>
      </p:sp>
      <p:sp>
        <p:nvSpPr>
          <p:cNvPr id="22" name="Shape 17"/>
          <p:cNvSpPr/>
          <p:nvPr/>
        </p:nvSpPr>
        <p:spPr>
          <a:xfrm>
            <a:off x="7863840" y="3200400"/>
            <a:ext cx="347472" cy="502920"/>
          </a:xfrm>
          <a:prstGeom prst="rightArrow">
            <a:avLst/>
          </a:prstGeom>
          <a:solidFill>
            <a:srgbClr val="C7D2FE"/>
          </a:solidFill>
          <a:ln/>
        </p:spPr>
      </p:sp>
      <p:sp>
        <p:nvSpPr>
          <p:cNvPr id="23" name="Text 18"/>
          <p:cNvSpPr/>
          <p:nvPr/>
        </p:nvSpPr>
        <p:spPr>
          <a:xfrm>
            <a:off x="566928" y="5349240"/>
            <a:ext cx="10515600" cy="320040"/>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In the current beta, approvals are routed to the employee's direct manager.</a:t>
            </a:r>
            <a:endParaRPr lang="en-US" sz="1200" dirty="0"/>
          </a:p>
        </p:txBody>
      </p:sp>
      <p:sp>
        <p:nvSpPr>
          <p:cNvPr id="24" name="Text 19"/>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25" name="Text 20"/>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PRODUCT TOUR</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The team calendar</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Know who is available before you ask.</a:t>
            </a:r>
            <a:endParaRPr lang="en-US" sz="1400" dirty="0"/>
          </a:p>
        </p:txBody>
      </p:sp>
      <p:sp>
        <p:nvSpPr>
          <p:cNvPr id="5" name="Shape 3"/>
          <p:cNvSpPr/>
          <p:nvPr/>
        </p:nvSpPr>
        <p:spPr>
          <a:xfrm>
            <a:off x="11341303" y="585216"/>
            <a:ext cx="146304" cy="146304"/>
          </a:xfrm>
          <a:prstGeom prst="diamond">
            <a:avLst/>
          </a:prstGeom>
          <a:solidFill>
            <a:srgbClr val="818CF8"/>
          </a:solidFill>
          <a:ln/>
        </p:spPr>
      </p:sp>
      <p:sp>
        <p:nvSpPr>
          <p:cNvPr id="6" name="Shape 4"/>
          <p:cNvSpPr/>
          <p:nvPr/>
        </p:nvSpPr>
        <p:spPr>
          <a:xfrm>
            <a:off x="548640" y="1783080"/>
            <a:ext cx="4937760" cy="4160520"/>
          </a:xfrm>
          <a:prstGeom prst="roundRect">
            <a:avLst>
              <a:gd name="adj" fmla="val 2198"/>
            </a:avLst>
          </a:prstGeom>
          <a:solidFill>
            <a:srgbClr val="EEF2FF"/>
          </a:solidFill>
          <a:ln w="12700">
            <a:solidFill>
              <a:srgbClr val="C7D2FE"/>
            </a:solidFill>
            <a:prstDash val="solid"/>
          </a:ln>
          <a:effectLst>
            <a:outerShdw sx="100000" sy="100000" kx="0" ky="0" algn="bl" rotWithShape="0" blurRad="76200" dist="12700" dir="5400000">
              <a:srgbClr val="94A3B8">
                <a:alpha val="18000"/>
              </a:srgbClr>
            </a:outerShdw>
          </a:effectLst>
        </p:spPr>
      </p:sp>
      <p:sp>
        <p:nvSpPr>
          <p:cNvPr id="7" name="Shape 5"/>
          <p:cNvSpPr/>
          <p:nvPr/>
        </p:nvSpPr>
        <p:spPr>
          <a:xfrm>
            <a:off x="896112" y="2103120"/>
            <a:ext cx="457200" cy="457200"/>
          </a:xfrm>
          <a:prstGeom prst="roundRect">
            <a:avLst>
              <a:gd name="adj" fmla="val 18000"/>
            </a:avLst>
          </a:prstGeom>
          <a:solidFill>
            <a:srgbClr val="E0E7FF"/>
          </a:solidFill>
          <a:ln/>
        </p:spPr>
      </p:sp>
      <p:pic>
        <p:nvPicPr>
          <p:cNvPr id="8" name="Image 0" descr="preencoded.png">    </p:cNvPr>
          <p:cNvPicPr>
            <a:picLocks noChangeAspect="1"/>
          </p:cNvPicPr>
          <p:nvPr/>
        </p:nvPicPr>
        <p:blipFill>
          <a:blip r:embed="rId1"/>
          <a:stretch>
            <a:fillRect/>
          </a:stretch>
        </p:blipFill>
        <p:spPr>
          <a:xfrm>
            <a:off x="996696" y="2203704"/>
            <a:ext cx="256032" cy="256032"/>
          </a:xfrm>
          <a:prstGeom prst="rect">
            <a:avLst/>
          </a:prstGeom>
        </p:spPr>
      </p:pic>
      <p:sp>
        <p:nvSpPr>
          <p:cNvPr id="9" name="Text 6"/>
          <p:cNvSpPr/>
          <p:nvPr/>
        </p:nvSpPr>
        <p:spPr>
          <a:xfrm>
            <a:off x="914400" y="2788920"/>
            <a:ext cx="4206240" cy="822960"/>
          </a:xfrm>
          <a:prstGeom prst="rect">
            <a:avLst/>
          </a:prstGeom>
          <a:noFill/>
          <a:ln/>
        </p:spPr>
        <p:txBody>
          <a:bodyPr wrap="square" lIns="0" tIns="0" rIns="0" bIns="0" rtlCol="0" anchor="t"/>
          <a:lstStyle/>
          <a:p>
            <a:pPr indent="0" marL="0">
              <a:buNone/>
            </a:pPr>
            <a:r>
              <a:rPr lang="en-US" sz="1900" i="1" dirty="0">
                <a:solidFill>
                  <a:srgbClr val="0F172A"/>
                </a:solidFill>
                <a:latin typeface="Cambria" pitchFamily="34" charset="0"/>
                <a:ea typeface="Cambria" pitchFamily="34" charset="-122"/>
                <a:cs typeface="Cambria" pitchFamily="34" charset="-120"/>
              </a:rPr>
              <a:t>“Is this person working today?”</a:t>
            </a:r>
            <a:endParaRPr lang="en-US" sz="1900" dirty="0"/>
          </a:p>
        </p:txBody>
      </p:sp>
      <p:sp>
        <p:nvSpPr>
          <p:cNvPr id="10" name="Text 7"/>
          <p:cNvSpPr/>
          <p:nvPr/>
        </p:nvSpPr>
        <p:spPr>
          <a:xfrm>
            <a:off x="914400" y="3657600"/>
            <a:ext cx="4206240" cy="457200"/>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Instead of asking around — </a:t>
            </a:r>
            <a:pPr indent="0" marL="0">
              <a:buNone/>
            </a:pPr>
            <a:r>
              <a:rPr lang="en-US" sz="1350" b="1" dirty="0">
                <a:solidFill>
                  <a:srgbClr val="4F46E5"/>
                </a:solidFill>
                <a:latin typeface="Calibri" pitchFamily="34" charset="0"/>
                <a:ea typeface="Calibri" pitchFamily="34" charset="-122"/>
                <a:cs typeface="Calibri" pitchFamily="34" charset="-120"/>
              </a:rPr>
              <a:t>check Orbit.</a:t>
            </a:r>
            <a:endParaRPr lang="en-US" sz="1350" dirty="0"/>
          </a:p>
        </p:txBody>
      </p:sp>
      <p:sp>
        <p:nvSpPr>
          <p:cNvPr id="11" name="Shape 8"/>
          <p:cNvSpPr/>
          <p:nvPr/>
        </p:nvSpPr>
        <p:spPr>
          <a:xfrm>
            <a:off x="914400" y="4434840"/>
            <a:ext cx="2011680" cy="0"/>
          </a:xfrm>
          <a:prstGeom prst="line">
            <a:avLst/>
          </a:prstGeom>
          <a:noFill/>
          <a:ln w="19050">
            <a:solidFill>
              <a:srgbClr val="C7D2FE"/>
            </a:solidFill>
            <a:prstDash val="solid"/>
          </a:ln>
        </p:spPr>
      </p:sp>
      <p:sp>
        <p:nvSpPr>
          <p:cNvPr id="12" name="Text 9"/>
          <p:cNvSpPr/>
          <p:nvPr/>
        </p:nvSpPr>
        <p:spPr>
          <a:xfrm>
            <a:off x="914400" y="4663440"/>
            <a:ext cx="4206240" cy="822960"/>
          </a:xfrm>
          <a:prstGeom prst="rect">
            <a:avLst/>
          </a:prstGeom>
          <a:noFill/>
          <a:ln/>
        </p:spPr>
        <p:txBody>
          <a:bodyPr wrap="square" lIns="0" tIns="0" rIns="0" bIns="0" rtlCol="0" anchor="t"/>
          <a:lstStyle/>
          <a:p>
            <a:pPr indent="0" marL="0">
              <a:buNone/>
            </a:pPr>
            <a:r>
              <a:rPr lang="en-US" sz="1500" b="1" dirty="0">
                <a:solidFill>
                  <a:srgbClr val="4F46E5"/>
                </a:solidFill>
                <a:latin typeface="Cambria" pitchFamily="34" charset="0"/>
                <a:ea typeface="Cambria" pitchFamily="34" charset="-122"/>
                <a:cs typeface="Cambria" pitchFamily="34" charset="-120"/>
              </a:rPr>
              <a:t>Better planning through better visibility.</a:t>
            </a:r>
            <a:endParaRPr lang="en-US" sz="1500" dirty="0"/>
          </a:p>
        </p:txBody>
      </p:sp>
      <p:sp>
        <p:nvSpPr>
          <p:cNvPr id="13" name="Shape 10"/>
          <p:cNvSpPr/>
          <p:nvPr/>
        </p:nvSpPr>
        <p:spPr>
          <a:xfrm>
            <a:off x="5806440" y="1783080"/>
            <a:ext cx="5806440" cy="4160520"/>
          </a:xfrm>
          <a:prstGeom prst="roundRect">
            <a:avLst>
              <a:gd name="adj" fmla="val 2198"/>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4" name="Text 11"/>
          <p:cNvSpPr/>
          <p:nvPr/>
        </p:nvSpPr>
        <p:spPr>
          <a:xfrm>
            <a:off x="6126480" y="2057400"/>
            <a:ext cx="5212080" cy="36576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The calendar creates a shared view of the team:</a:t>
            </a:r>
            <a:endParaRPr lang="en-US" sz="1400" dirty="0"/>
          </a:p>
        </p:txBody>
      </p:sp>
      <p:sp>
        <p:nvSpPr>
          <p:cNvPr id="15" name="Shape 12"/>
          <p:cNvSpPr/>
          <p:nvPr/>
        </p:nvSpPr>
        <p:spPr>
          <a:xfrm>
            <a:off x="6144768" y="2651760"/>
            <a:ext cx="402336" cy="402336"/>
          </a:xfrm>
          <a:prstGeom prst="roundRect">
            <a:avLst>
              <a:gd name="adj" fmla="val 20455"/>
            </a:avLst>
          </a:prstGeom>
          <a:solidFill>
            <a:srgbClr val="EEF2FF"/>
          </a:solidFill>
          <a:ln/>
        </p:spPr>
      </p:sp>
      <p:pic>
        <p:nvPicPr>
          <p:cNvPr id="16" name="Image 1" descr="preencoded.png">    </p:cNvPr>
          <p:cNvPicPr>
            <a:picLocks noChangeAspect="1"/>
          </p:cNvPicPr>
          <p:nvPr/>
        </p:nvPicPr>
        <p:blipFill>
          <a:blip r:embed="rId2"/>
          <a:stretch>
            <a:fillRect/>
          </a:stretch>
        </p:blipFill>
        <p:spPr>
          <a:xfrm>
            <a:off x="6233282" y="2740274"/>
            <a:ext cx="225308" cy="225308"/>
          </a:xfrm>
          <a:prstGeom prst="rect">
            <a:avLst/>
          </a:prstGeom>
        </p:spPr>
      </p:pic>
      <p:sp>
        <p:nvSpPr>
          <p:cNvPr id="17" name="Text 13"/>
          <p:cNvSpPr/>
          <p:nvPr/>
        </p:nvSpPr>
        <p:spPr>
          <a:xfrm>
            <a:off x="6693408" y="2615184"/>
            <a:ext cx="4754880" cy="50292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Personal requests and their status</a:t>
            </a:r>
            <a:endParaRPr lang="en-US" sz="1350" dirty="0"/>
          </a:p>
        </p:txBody>
      </p:sp>
      <p:sp>
        <p:nvSpPr>
          <p:cNvPr id="18" name="Shape 14"/>
          <p:cNvSpPr/>
          <p:nvPr/>
        </p:nvSpPr>
        <p:spPr>
          <a:xfrm>
            <a:off x="6144768" y="3429000"/>
            <a:ext cx="402336" cy="402336"/>
          </a:xfrm>
          <a:prstGeom prst="roundRect">
            <a:avLst>
              <a:gd name="adj" fmla="val 20455"/>
            </a:avLst>
          </a:prstGeom>
          <a:solidFill>
            <a:srgbClr val="ECFDF5"/>
          </a:solidFill>
          <a:ln/>
        </p:spPr>
      </p:sp>
      <p:pic>
        <p:nvPicPr>
          <p:cNvPr id="19" name="Image 2" descr="preencoded.png">    </p:cNvPr>
          <p:cNvPicPr>
            <a:picLocks noChangeAspect="1"/>
          </p:cNvPicPr>
          <p:nvPr/>
        </p:nvPicPr>
        <p:blipFill>
          <a:blip r:embed="rId3"/>
          <a:stretch>
            <a:fillRect/>
          </a:stretch>
        </p:blipFill>
        <p:spPr>
          <a:xfrm>
            <a:off x="6233282" y="3517514"/>
            <a:ext cx="225308" cy="225308"/>
          </a:xfrm>
          <a:prstGeom prst="rect">
            <a:avLst/>
          </a:prstGeom>
        </p:spPr>
      </p:pic>
      <p:sp>
        <p:nvSpPr>
          <p:cNvPr id="20" name="Text 15"/>
          <p:cNvSpPr/>
          <p:nvPr/>
        </p:nvSpPr>
        <p:spPr>
          <a:xfrm>
            <a:off x="6693408" y="3392424"/>
            <a:ext cx="4754880" cy="50292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Approved company leave</a:t>
            </a:r>
            <a:endParaRPr lang="en-US" sz="1350" dirty="0"/>
          </a:p>
        </p:txBody>
      </p:sp>
      <p:sp>
        <p:nvSpPr>
          <p:cNvPr id="21" name="Shape 16"/>
          <p:cNvSpPr/>
          <p:nvPr/>
        </p:nvSpPr>
        <p:spPr>
          <a:xfrm>
            <a:off x="6144768" y="4206240"/>
            <a:ext cx="402336" cy="402336"/>
          </a:xfrm>
          <a:prstGeom prst="roundRect">
            <a:avLst>
              <a:gd name="adj" fmla="val 20455"/>
            </a:avLst>
          </a:prstGeom>
          <a:solidFill>
            <a:srgbClr val="EEF2FF"/>
          </a:solidFill>
          <a:ln/>
        </p:spPr>
      </p:sp>
      <p:pic>
        <p:nvPicPr>
          <p:cNvPr id="22" name="Image 3" descr="preencoded.png">    </p:cNvPr>
          <p:cNvPicPr>
            <a:picLocks noChangeAspect="1"/>
          </p:cNvPicPr>
          <p:nvPr/>
        </p:nvPicPr>
        <p:blipFill>
          <a:blip r:embed="rId4"/>
          <a:stretch>
            <a:fillRect/>
          </a:stretch>
        </p:blipFill>
        <p:spPr>
          <a:xfrm>
            <a:off x="6233282" y="4294754"/>
            <a:ext cx="225308" cy="225308"/>
          </a:xfrm>
          <a:prstGeom prst="rect">
            <a:avLst/>
          </a:prstGeom>
        </p:spPr>
      </p:pic>
      <p:sp>
        <p:nvSpPr>
          <p:cNvPr id="23" name="Text 17"/>
          <p:cNvSpPr/>
          <p:nvPr/>
        </p:nvSpPr>
        <p:spPr>
          <a:xfrm>
            <a:off x="6693408" y="4169664"/>
            <a:ext cx="4754880" cy="50292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Monthly visibility</a:t>
            </a:r>
            <a:endParaRPr lang="en-US" sz="1350" dirty="0"/>
          </a:p>
        </p:txBody>
      </p:sp>
      <p:sp>
        <p:nvSpPr>
          <p:cNvPr id="24" name="Shape 18"/>
          <p:cNvSpPr/>
          <p:nvPr/>
        </p:nvSpPr>
        <p:spPr>
          <a:xfrm>
            <a:off x="6144768" y="4983480"/>
            <a:ext cx="402336" cy="402336"/>
          </a:xfrm>
          <a:prstGeom prst="roundRect">
            <a:avLst>
              <a:gd name="adj" fmla="val 20455"/>
            </a:avLst>
          </a:prstGeom>
          <a:solidFill>
            <a:srgbClr val="EEF2FF"/>
          </a:solidFill>
          <a:ln/>
        </p:spPr>
      </p:sp>
      <p:pic>
        <p:nvPicPr>
          <p:cNvPr id="25" name="Image 4" descr="preencoded.png">    </p:cNvPr>
          <p:cNvPicPr>
            <a:picLocks noChangeAspect="1"/>
          </p:cNvPicPr>
          <p:nvPr/>
        </p:nvPicPr>
        <p:blipFill>
          <a:blip r:embed="rId5"/>
          <a:stretch>
            <a:fillRect/>
          </a:stretch>
        </p:blipFill>
        <p:spPr>
          <a:xfrm>
            <a:off x="6233282" y="5071994"/>
            <a:ext cx="225308" cy="225308"/>
          </a:xfrm>
          <a:prstGeom prst="rect">
            <a:avLst/>
          </a:prstGeom>
        </p:spPr>
      </p:pic>
      <p:sp>
        <p:nvSpPr>
          <p:cNvPr id="26" name="Text 19"/>
          <p:cNvSpPr/>
          <p:nvPr/>
        </p:nvSpPr>
        <p:spPr>
          <a:xfrm>
            <a:off x="6693408" y="4946904"/>
            <a:ext cx="4754880" cy="50292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Privacy of individual leave reasons</a:t>
            </a:r>
            <a:endParaRPr lang="en-US" sz="1350" dirty="0"/>
          </a:p>
        </p:txBody>
      </p:sp>
      <p:sp>
        <p:nvSpPr>
          <p:cNvPr id="27" name="Text 20"/>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28" name="Text 21"/>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PRODUCT TOUR</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Notifications &amp; announcements</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Important information should not get lost.</a:t>
            </a:r>
            <a:endParaRPr lang="en-US" sz="1400" dirty="0"/>
          </a:p>
        </p:txBody>
      </p:sp>
      <p:sp>
        <p:nvSpPr>
          <p:cNvPr id="5" name="Shape 3"/>
          <p:cNvSpPr/>
          <p:nvPr/>
        </p:nvSpPr>
        <p:spPr>
          <a:xfrm>
            <a:off x="11341303" y="585216"/>
            <a:ext cx="146304" cy="146304"/>
          </a:xfrm>
          <a:prstGeom prst="diamond">
            <a:avLst/>
          </a:prstGeom>
          <a:solidFill>
            <a:srgbClr val="818CF8"/>
          </a:solidFill>
          <a:ln/>
        </p:spPr>
      </p:sp>
      <p:sp>
        <p:nvSpPr>
          <p:cNvPr id="6" name="Shape 4"/>
          <p:cNvSpPr/>
          <p:nvPr/>
        </p:nvSpPr>
        <p:spPr>
          <a:xfrm>
            <a:off x="548640" y="1783080"/>
            <a:ext cx="5349240" cy="3566160"/>
          </a:xfrm>
          <a:prstGeom prst="roundRect">
            <a:avLst>
              <a:gd name="adj" fmla="val 2564"/>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7" name="Shape 5"/>
          <p:cNvSpPr/>
          <p:nvPr/>
        </p:nvSpPr>
        <p:spPr>
          <a:xfrm>
            <a:off x="868680" y="2057400"/>
            <a:ext cx="475488" cy="475488"/>
          </a:xfrm>
          <a:prstGeom prst="roundRect">
            <a:avLst>
              <a:gd name="adj" fmla="val 17308"/>
            </a:avLst>
          </a:prstGeom>
          <a:solidFill>
            <a:srgbClr val="EEF2FF"/>
          </a:solidFill>
          <a:ln/>
        </p:spPr>
      </p:sp>
      <p:pic>
        <p:nvPicPr>
          <p:cNvPr id="8" name="Image 0" descr="preencoded.png">    </p:cNvPr>
          <p:cNvPicPr>
            <a:picLocks noChangeAspect="1"/>
          </p:cNvPicPr>
          <p:nvPr/>
        </p:nvPicPr>
        <p:blipFill>
          <a:blip r:embed="rId1"/>
          <a:stretch>
            <a:fillRect/>
          </a:stretch>
        </p:blipFill>
        <p:spPr>
          <a:xfrm>
            <a:off x="973287" y="2162007"/>
            <a:ext cx="266273" cy="266273"/>
          </a:xfrm>
          <a:prstGeom prst="rect">
            <a:avLst/>
          </a:prstGeom>
        </p:spPr>
      </p:pic>
      <p:sp>
        <p:nvSpPr>
          <p:cNvPr id="9" name="Text 6"/>
          <p:cNvSpPr/>
          <p:nvPr/>
        </p:nvSpPr>
        <p:spPr>
          <a:xfrm>
            <a:off x="1481328" y="2093976"/>
            <a:ext cx="4023360" cy="411480"/>
          </a:xfrm>
          <a:prstGeom prst="rect">
            <a:avLst/>
          </a:prstGeom>
          <a:noFill/>
          <a:ln/>
        </p:spPr>
        <p:txBody>
          <a:bodyPr wrap="square" lIns="0" tIns="0" rIns="0" bIns="0" rtlCol="0" anchor="ctr"/>
          <a:lstStyle/>
          <a:p>
            <a:pPr indent="0" marL="0">
              <a:buNone/>
            </a:pPr>
            <a:r>
              <a:rPr lang="en-US" sz="1800" b="1" dirty="0">
                <a:solidFill>
                  <a:srgbClr val="0F172A"/>
                </a:solidFill>
                <a:latin typeface="Cambria" pitchFamily="34" charset="0"/>
                <a:ea typeface="Cambria" pitchFamily="34" charset="-122"/>
                <a:cs typeface="Cambria" pitchFamily="34" charset="-120"/>
              </a:rPr>
              <a:t>Central notifications</a:t>
            </a:r>
            <a:endParaRPr lang="en-US" sz="1800" dirty="0"/>
          </a:p>
        </p:txBody>
      </p:sp>
      <p:sp>
        <p:nvSpPr>
          <p:cNvPr id="10" name="Text 7"/>
          <p:cNvSpPr/>
          <p:nvPr/>
        </p:nvSpPr>
        <p:spPr>
          <a:xfrm>
            <a:off x="914400" y="2743200"/>
            <a:ext cx="4617720" cy="2377440"/>
          </a:xfrm>
          <a:prstGeom prst="rect">
            <a:avLst/>
          </a:prstGeom>
          <a:noFill/>
          <a:ln/>
        </p:spPr>
        <p:txBody>
          <a:bodyPr wrap="square" lIns="0" tIns="0" rIns="0" bIns="0" rtlCol="0" anchor="t"/>
          <a:lstStyle/>
          <a:p>
            <a:pPr marL="127000" indent="-127000">
              <a:spcAft>
                <a:spcPts val="1000"/>
              </a:spcAft>
              <a:buSzPct val="100000"/>
              <a:buChar char="•"/>
            </a:pPr>
            <a:r>
              <a:rPr lang="en-US" sz="1300" dirty="0">
                <a:solidFill>
                  <a:srgbClr val="0F172A"/>
                </a:solidFill>
                <a:latin typeface="Calibri" pitchFamily="34" charset="0"/>
                <a:ea typeface="Calibri" pitchFamily="34" charset="-122"/>
                <a:cs typeface="Calibri" pitchFamily="34" charset="-120"/>
              </a:rPr>
              <a:t>Requests requiring action</a:t>
            </a:r>
            <a:endParaRPr lang="en-US" sz="1300" dirty="0"/>
          </a:p>
          <a:p>
            <a:pPr marL="127000" indent="-127000">
              <a:spcAft>
                <a:spcPts val="1000"/>
              </a:spcAft>
              <a:buSzPct val="100000"/>
              <a:buChar char="•"/>
            </a:pPr>
            <a:r>
              <a:rPr lang="en-US" sz="1300" dirty="0">
                <a:solidFill>
                  <a:srgbClr val="0F172A"/>
                </a:solidFill>
                <a:latin typeface="Calibri" pitchFamily="34" charset="0"/>
                <a:ea typeface="Calibri" pitchFamily="34" charset="-122"/>
                <a:cs typeface="Calibri" pitchFamily="34" charset="-120"/>
              </a:rPr>
              <a:t>Request decisions</a:t>
            </a:r>
            <a:endParaRPr lang="en-US" sz="1300" dirty="0"/>
          </a:p>
          <a:p>
            <a:pPr marL="127000" indent="-127000">
              <a:spcAft>
                <a:spcPts val="1000"/>
              </a:spcAft>
              <a:buSzPct val="100000"/>
              <a:buChar char="•"/>
            </a:pPr>
            <a:r>
              <a:rPr lang="en-US" sz="1300" dirty="0">
                <a:solidFill>
                  <a:srgbClr val="0F172A"/>
                </a:solidFill>
                <a:latin typeface="Calibri" pitchFamily="34" charset="0"/>
                <a:ea typeface="Calibri" pitchFamily="34" charset="-122"/>
                <a:cs typeface="Calibri" pitchFamily="34" charset="-120"/>
              </a:rPr>
              <a:t>Upcoming approved time off</a:t>
            </a:r>
            <a:endParaRPr lang="en-US" sz="1300" dirty="0"/>
          </a:p>
          <a:p>
            <a:pPr marL="127000" indent="-127000">
              <a:spcAft>
                <a:spcPts val="1000"/>
              </a:spcAft>
              <a:buSzPct val="100000"/>
              <a:buChar char="•"/>
            </a:pPr>
            <a:r>
              <a:rPr lang="en-US" sz="1300" dirty="0">
                <a:solidFill>
                  <a:srgbClr val="0F172A"/>
                </a:solidFill>
                <a:latin typeface="Calibri" pitchFamily="34" charset="0"/>
                <a:ea typeface="Calibri" pitchFamily="34" charset="-122"/>
                <a:cs typeface="Calibri" pitchFamily="34" charset="-120"/>
              </a:rPr>
              <a:t>Important notifications</a:t>
            </a:r>
            <a:endParaRPr lang="en-US" sz="1300" dirty="0"/>
          </a:p>
        </p:txBody>
      </p:sp>
      <p:sp>
        <p:nvSpPr>
          <p:cNvPr id="11" name="Shape 8"/>
          <p:cNvSpPr/>
          <p:nvPr/>
        </p:nvSpPr>
        <p:spPr>
          <a:xfrm>
            <a:off x="6263640" y="1783080"/>
            <a:ext cx="5349240" cy="3566160"/>
          </a:xfrm>
          <a:prstGeom prst="roundRect">
            <a:avLst>
              <a:gd name="adj" fmla="val 2564"/>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2" name="Shape 9"/>
          <p:cNvSpPr/>
          <p:nvPr/>
        </p:nvSpPr>
        <p:spPr>
          <a:xfrm>
            <a:off x="6583680" y="2057400"/>
            <a:ext cx="475488" cy="475488"/>
          </a:xfrm>
          <a:prstGeom prst="roundRect">
            <a:avLst>
              <a:gd name="adj" fmla="val 17308"/>
            </a:avLst>
          </a:prstGeom>
          <a:solidFill>
            <a:srgbClr val="EEF2FF"/>
          </a:solidFill>
          <a:ln/>
        </p:spPr>
      </p:sp>
      <p:pic>
        <p:nvPicPr>
          <p:cNvPr id="13" name="Image 1" descr="preencoded.png">    </p:cNvPr>
          <p:cNvPicPr>
            <a:picLocks noChangeAspect="1"/>
          </p:cNvPicPr>
          <p:nvPr/>
        </p:nvPicPr>
        <p:blipFill>
          <a:blip r:embed="rId2"/>
          <a:stretch>
            <a:fillRect/>
          </a:stretch>
        </p:blipFill>
        <p:spPr>
          <a:xfrm>
            <a:off x="6688287" y="2162007"/>
            <a:ext cx="266273" cy="266273"/>
          </a:xfrm>
          <a:prstGeom prst="rect">
            <a:avLst/>
          </a:prstGeom>
        </p:spPr>
      </p:pic>
      <p:sp>
        <p:nvSpPr>
          <p:cNvPr id="14" name="Text 10"/>
          <p:cNvSpPr/>
          <p:nvPr/>
        </p:nvSpPr>
        <p:spPr>
          <a:xfrm>
            <a:off x="7196328" y="2093976"/>
            <a:ext cx="4023360" cy="411480"/>
          </a:xfrm>
          <a:prstGeom prst="rect">
            <a:avLst/>
          </a:prstGeom>
          <a:noFill/>
          <a:ln/>
        </p:spPr>
        <p:txBody>
          <a:bodyPr wrap="square" lIns="0" tIns="0" rIns="0" bIns="0" rtlCol="0" anchor="ctr"/>
          <a:lstStyle/>
          <a:p>
            <a:pPr indent="0" marL="0">
              <a:buNone/>
            </a:pPr>
            <a:r>
              <a:rPr lang="en-US" sz="1800" b="1" dirty="0">
                <a:solidFill>
                  <a:srgbClr val="0F172A"/>
                </a:solidFill>
                <a:latin typeface="Cambria" pitchFamily="34" charset="0"/>
                <a:ea typeface="Cambria" pitchFamily="34" charset="-122"/>
                <a:cs typeface="Cambria" pitchFamily="34" charset="-120"/>
              </a:rPr>
              <a:t>Announcements</a:t>
            </a:r>
            <a:endParaRPr lang="en-US" sz="1800" dirty="0"/>
          </a:p>
        </p:txBody>
      </p:sp>
      <p:sp>
        <p:nvSpPr>
          <p:cNvPr id="15" name="Text 11"/>
          <p:cNvSpPr/>
          <p:nvPr/>
        </p:nvSpPr>
        <p:spPr>
          <a:xfrm>
            <a:off x="6583680" y="2743200"/>
            <a:ext cx="4709160" cy="146304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Announcements can be shared with relevant groups or teams — so operational updates reach exactly the people they concern.</a:t>
            </a:r>
            <a:endParaRPr lang="en-US" sz="1300" dirty="0"/>
          </a:p>
        </p:txBody>
      </p:sp>
      <p:sp>
        <p:nvSpPr>
          <p:cNvPr id="16" name="Shape 12"/>
          <p:cNvSpPr/>
          <p:nvPr/>
        </p:nvSpPr>
        <p:spPr>
          <a:xfrm>
            <a:off x="548640" y="5532120"/>
            <a:ext cx="11064240" cy="658368"/>
          </a:xfrm>
          <a:prstGeom prst="roundRect">
            <a:avLst>
              <a:gd name="adj" fmla="val 13889"/>
            </a:avLst>
          </a:prstGeom>
          <a:solidFill>
            <a:srgbClr val="EEF2FF"/>
          </a:solidFill>
          <a:ln w="12700">
            <a:solidFill>
              <a:srgbClr val="C7D2FE"/>
            </a:solidFill>
            <a:prstDash val="solid"/>
          </a:ln>
          <a:effectLst>
            <a:outerShdw sx="100000" sy="100000" kx="0" ky="0" algn="bl" rotWithShape="0" blurRad="76200" dist="12700" dir="5400000">
              <a:srgbClr val="94A3B8">
                <a:alpha val="18000"/>
              </a:srgbClr>
            </a:outerShdw>
          </a:effectLst>
        </p:spPr>
      </p:sp>
      <p:sp>
        <p:nvSpPr>
          <p:cNvPr id="17" name="Text 13"/>
          <p:cNvSpPr/>
          <p:nvPr/>
        </p:nvSpPr>
        <p:spPr>
          <a:xfrm>
            <a:off x="914400" y="5532120"/>
            <a:ext cx="10332720" cy="65836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Important operational information gets a dedicated place — instead of relying entirely on scattered communication channels.</a:t>
            </a:r>
            <a:endParaRPr lang="en-US" sz="1250" dirty="0"/>
          </a:p>
        </p:txBody>
      </p:sp>
      <p:sp>
        <p:nvSpPr>
          <p:cNvPr id="18" name="Text 14"/>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19" name="Text 15"/>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PRODUCT TOUR</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Your profile &amp; documents</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Your employee information, in one place.</a:t>
            </a:r>
            <a:endParaRPr lang="en-US" sz="1400" dirty="0"/>
          </a:p>
        </p:txBody>
      </p:sp>
      <p:sp>
        <p:nvSpPr>
          <p:cNvPr id="5" name="Shape 3"/>
          <p:cNvSpPr/>
          <p:nvPr/>
        </p:nvSpPr>
        <p:spPr>
          <a:xfrm>
            <a:off x="11341303" y="585216"/>
            <a:ext cx="146304" cy="146304"/>
          </a:xfrm>
          <a:prstGeom prst="diamond">
            <a:avLst/>
          </a:prstGeom>
          <a:solidFill>
            <a:srgbClr val="818CF8"/>
          </a:solidFill>
          <a:ln/>
        </p:spPr>
      </p:sp>
      <p:sp>
        <p:nvSpPr>
          <p:cNvPr id="6" name="Shape 4"/>
          <p:cNvSpPr/>
          <p:nvPr/>
        </p:nvSpPr>
        <p:spPr>
          <a:xfrm>
            <a:off x="548640" y="1783080"/>
            <a:ext cx="5349240" cy="4160520"/>
          </a:xfrm>
          <a:prstGeom prst="roundRect">
            <a:avLst>
              <a:gd name="adj" fmla="val 2198"/>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7" name="Shape 5"/>
          <p:cNvSpPr/>
          <p:nvPr/>
        </p:nvSpPr>
        <p:spPr>
          <a:xfrm>
            <a:off x="868680" y="2057400"/>
            <a:ext cx="475488" cy="475488"/>
          </a:xfrm>
          <a:prstGeom prst="roundRect">
            <a:avLst>
              <a:gd name="adj" fmla="val 17308"/>
            </a:avLst>
          </a:prstGeom>
          <a:solidFill>
            <a:srgbClr val="EEF2FF"/>
          </a:solidFill>
          <a:ln/>
        </p:spPr>
      </p:sp>
      <p:pic>
        <p:nvPicPr>
          <p:cNvPr id="8" name="Image 0" descr="preencoded.png">    </p:cNvPr>
          <p:cNvPicPr>
            <a:picLocks noChangeAspect="1"/>
          </p:cNvPicPr>
          <p:nvPr/>
        </p:nvPicPr>
        <p:blipFill>
          <a:blip r:embed="rId1"/>
          <a:stretch>
            <a:fillRect/>
          </a:stretch>
        </p:blipFill>
        <p:spPr>
          <a:xfrm>
            <a:off x="973287" y="2162007"/>
            <a:ext cx="266273" cy="266273"/>
          </a:xfrm>
          <a:prstGeom prst="rect">
            <a:avLst/>
          </a:prstGeom>
        </p:spPr>
      </p:pic>
      <p:sp>
        <p:nvSpPr>
          <p:cNvPr id="9" name="Text 6"/>
          <p:cNvSpPr/>
          <p:nvPr/>
        </p:nvSpPr>
        <p:spPr>
          <a:xfrm>
            <a:off x="1481328" y="2093976"/>
            <a:ext cx="4114800" cy="411480"/>
          </a:xfrm>
          <a:prstGeom prst="rect">
            <a:avLst/>
          </a:prstGeom>
          <a:noFill/>
          <a:ln/>
        </p:spPr>
        <p:txBody>
          <a:bodyPr wrap="square" lIns="0" tIns="0" rIns="0" bIns="0" rtlCol="0" anchor="ctr"/>
          <a:lstStyle/>
          <a:p>
            <a:pPr indent="0" marL="0">
              <a:buNone/>
            </a:pPr>
            <a:r>
              <a:rPr lang="en-US" sz="1800" b="1" dirty="0">
                <a:solidFill>
                  <a:srgbClr val="0F172A"/>
                </a:solidFill>
                <a:latin typeface="Cambria" pitchFamily="34" charset="0"/>
                <a:ea typeface="Cambria" pitchFamily="34" charset="-122"/>
                <a:cs typeface="Cambria" pitchFamily="34" charset="-120"/>
              </a:rPr>
              <a:t>A central employee profile</a:t>
            </a:r>
            <a:endParaRPr lang="en-US" sz="1800" dirty="0"/>
          </a:p>
        </p:txBody>
      </p:sp>
      <p:sp>
        <p:nvSpPr>
          <p:cNvPr id="10" name="Shape 7"/>
          <p:cNvSpPr/>
          <p:nvPr/>
        </p:nvSpPr>
        <p:spPr>
          <a:xfrm>
            <a:off x="886968" y="2743200"/>
            <a:ext cx="329184" cy="329184"/>
          </a:xfrm>
          <a:prstGeom prst="roundRect">
            <a:avLst>
              <a:gd name="adj" fmla="val 25000"/>
            </a:avLst>
          </a:prstGeom>
          <a:solidFill>
            <a:srgbClr val="EEF2FF"/>
          </a:solidFill>
          <a:ln/>
        </p:spPr>
      </p:sp>
      <p:pic>
        <p:nvPicPr>
          <p:cNvPr id="11" name="Image 1" descr="preencoded.png">    </p:cNvPr>
          <p:cNvPicPr>
            <a:picLocks noChangeAspect="1"/>
          </p:cNvPicPr>
          <p:nvPr/>
        </p:nvPicPr>
        <p:blipFill>
          <a:blip r:embed="rId2"/>
          <a:stretch>
            <a:fillRect/>
          </a:stretch>
        </p:blipFill>
        <p:spPr>
          <a:xfrm>
            <a:off x="959388" y="2815620"/>
            <a:ext cx="184343" cy="184343"/>
          </a:xfrm>
          <a:prstGeom prst="rect">
            <a:avLst/>
          </a:prstGeom>
        </p:spPr>
      </p:pic>
      <p:sp>
        <p:nvSpPr>
          <p:cNvPr id="12" name="Text 8"/>
          <p:cNvSpPr/>
          <p:nvPr/>
        </p:nvSpPr>
        <p:spPr>
          <a:xfrm>
            <a:off x="1362456" y="2697480"/>
            <a:ext cx="4206240" cy="420624"/>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Employee details</a:t>
            </a:r>
            <a:endParaRPr lang="en-US" sz="1300" dirty="0"/>
          </a:p>
        </p:txBody>
      </p:sp>
      <p:sp>
        <p:nvSpPr>
          <p:cNvPr id="13" name="Shape 9"/>
          <p:cNvSpPr/>
          <p:nvPr/>
        </p:nvSpPr>
        <p:spPr>
          <a:xfrm>
            <a:off x="886968" y="3246120"/>
            <a:ext cx="329184" cy="329184"/>
          </a:xfrm>
          <a:prstGeom prst="roundRect">
            <a:avLst>
              <a:gd name="adj" fmla="val 25000"/>
            </a:avLst>
          </a:prstGeom>
          <a:solidFill>
            <a:srgbClr val="EEF2FF"/>
          </a:solidFill>
          <a:ln/>
        </p:spPr>
      </p:sp>
      <p:pic>
        <p:nvPicPr>
          <p:cNvPr id="14" name="Image 2" descr="preencoded.png">    </p:cNvPr>
          <p:cNvPicPr>
            <a:picLocks noChangeAspect="1"/>
          </p:cNvPicPr>
          <p:nvPr/>
        </p:nvPicPr>
        <p:blipFill>
          <a:blip r:embed="rId3"/>
          <a:stretch>
            <a:fillRect/>
          </a:stretch>
        </p:blipFill>
        <p:spPr>
          <a:xfrm>
            <a:off x="959388" y="3318540"/>
            <a:ext cx="184343" cy="184343"/>
          </a:xfrm>
          <a:prstGeom prst="rect">
            <a:avLst/>
          </a:prstGeom>
        </p:spPr>
      </p:pic>
      <p:sp>
        <p:nvSpPr>
          <p:cNvPr id="15" name="Text 10"/>
          <p:cNvSpPr/>
          <p:nvPr/>
        </p:nvSpPr>
        <p:spPr>
          <a:xfrm>
            <a:off x="1362456" y="3200400"/>
            <a:ext cx="4206240" cy="420624"/>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Employment information</a:t>
            </a:r>
            <a:endParaRPr lang="en-US" sz="1300" dirty="0"/>
          </a:p>
        </p:txBody>
      </p:sp>
      <p:sp>
        <p:nvSpPr>
          <p:cNvPr id="16" name="Shape 11"/>
          <p:cNvSpPr/>
          <p:nvPr/>
        </p:nvSpPr>
        <p:spPr>
          <a:xfrm>
            <a:off x="886968" y="3749040"/>
            <a:ext cx="329184" cy="329184"/>
          </a:xfrm>
          <a:prstGeom prst="roundRect">
            <a:avLst>
              <a:gd name="adj" fmla="val 25000"/>
            </a:avLst>
          </a:prstGeom>
          <a:solidFill>
            <a:srgbClr val="EEF2FF"/>
          </a:solidFill>
          <a:ln/>
        </p:spPr>
      </p:sp>
      <p:pic>
        <p:nvPicPr>
          <p:cNvPr id="17" name="Image 3" descr="preencoded.png">    </p:cNvPr>
          <p:cNvPicPr>
            <a:picLocks noChangeAspect="1"/>
          </p:cNvPicPr>
          <p:nvPr/>
        </p:nvPicPr>
        <p:blipFill>
          <a:blip r:embed="rId4"/>
          <a:stretch>
            <a:fillRect/>
          </a:stretch>
        </p:blipFill>
        <p:spPr>
          <a:xfrm>
            <a:off x="959388" y="3821460"/>
            <a:ext cx="184343" cy="184343"/>
          </a:xfrm>
          <a:prstGeom prst="rect">
            <a:avLst/>
          </a:prstGeom>
        </p:spPr>
      </p:pic>
      <p:sp>
        <p:nvSpPr>
          <p:cNvPr id="18" name="Text 12"/>
          <p:cNvSpPr/>
          <p:nvPr/>
        </p:nvSpPr>
        <p:spPr>
          <a:xfrm>
            <a:off x="1362456" y="3703320"/>
            <a:ext cx="4206240" cy="420624"/>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ID documents</a:t>
            </a:r>
            <a:endParaRPr lang="en-US" sz="1300" dirty="0"/>
          </a:p>
        </p:txBody>
      </p:sp>
      <p:sp>
        <p:nvSpPr>
          <p:cNvPr id="19" name="Shape 13"/>
          <p:cNvSpPr/>
          <p:nvPr/>
        </p:nvSpPr>
        <p:spPr>
          <a:xfrm>
            <a:off x="886968" y="4251960"/>
            <a:ext cx="329184" cy="329184"/>
          </a:xfrm>
          <a:prstGeom prst="roundRect">
            <a:avLst>
              <a:gd name="adj" fmla="val 25000"/>
            </a:avLst>
          </a:prstGeom>
          <a:solidFill>
            <a:srgbClr val="EEF2FF"/>
          </a:solidFill>
          <a:ln/>
        </p:spPr>
      </p:sp>
      <p:pic>
        <p:nvPicPr>
          <p:cNvPr id="20" name="Image 4" descr="preencoded.png">    </p:cNvPr>
          <p:cNvPicPr>
            <a:picLocks noChangeAspect="1"/>
          </p:cNvPicPr>
          <p:nvPr/>
        </p:nvPicPr>
        <p:blipFill>
          <a:blip r:embed="rId5"/>
          <a:stretch>
            <a:fillRect/>
          </a:stretch>
        </p:blipFill>
        <p:spPr>
          <a:xfrm>
            <a:off x="959388" y="4324380"/>
            <a:ext cx="184343" cy="184343"/>
          </a:xfrm>
          <a:prstGeom prst="rect">
            <a:avLst/>
          </a:prstGeom>
        </p:spPr>
      </p:pic>
      <p:sp>
        <p:nvSpPr>
          <p:cNvPr id="21" name="Text 14"/>
          <p:cNvSpPr/>
          <p:nvPr/>
        </p:nvSpPr>
        <p:spPr>
          <a:xfrm>
            <a:off x="1362456" y="4206240"/>
            <a:ext cx="4206240" cy="420624"/>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Certificates</a:t>
            </a:r>
            <a:endParaRPr lang="en-US" sz="1300" dirty="0"/>
          </a:p>
        </p:txBody>
      </p:sp>
      <p:sp>
        <p:nvSpPr>
          <p:cNvPr id="22" name="Shape 15"/>
          <p:cNvSpPr/>
          <p:nvPr/>
        </p:nvSpPr>
        <p:spPr>
          <a:xfrm>
            <a:off x="886968" y="4754880"/>
            <a:ext cx="329184" cy="329184"/>
          </a:xfrm>
          <a:prstGeom prst="roundRect">
            <a:avLst>
              <a:gd name="adj" fmla="val 25000"/>
            </a:avLst>
          </a:prstGeom>
          <a:solidFill>
            <a:srgbClr val="EEF2FF"/>
          </a:solidFill>
          <a:ln/>
        </p:spPr>
      </p:sp>
      <p:pic>
        <p:nvPicPr>
          <p:cNvPr id="23" name="Image 5" descr="preencoded.png">    </p:cNvPr>
          <p:cNvPicPr>
            <a:picLocks noChangeAspect="1"/>
          </p:cNvPicPr>
          <p:nvPr/>
        </p:nvPicPr>
        <p:blipFill>
          <a:blip r:embed="rId6"/>
          <a:stretch>
            <a:fillRect/>
          </a:stretch>
        </p:blipFill>
        <p:spPr>
          <a:xfrm>
            <a:off x="959388" y="4827300"/>
            <a:ext cx="184343" cy="184343"/>
          </a:xfrm>
          <a:prstGeom prst="rect">
            <a:avLst/>
          </a:prstGeom>
        </p:spPr>
      </p:pic>
      <p:sp>
        <p:nvSpPr>
          <p:cNvPr id="24" name="Text 16"/>
          <p:cNvSpPr/>
          <p:nvPr/>
        </p:nvSpPr>
        <p:spPr>
          <a:xfrm>
            <a:off x="1362456" y="4709160"/>
            <a:ext cx="4206240" cy="420624"/>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Contracts</a:t>
            </a:r>
            <a:endParaRPr lang="en-US" sz="1300" dirty="0"/>
          </a:p>
        </p:txBody>
      </p:sp>
      <p:sp>
        <p:nvSpPr>
          <p:cNvPr id="25" name="Shape 17"/>
          <p:cNvSpPr/>
          <p:nvPr/>
        </p:nvSpPr>
        <p:spPr>
          <a:xfrm>
            <a:off x="886968" y="5257800"/>
            <a:ext cx="329184" cy="329184"/>
          </a:xfrm>
          <a:prstGeom prst="roundRect">
            <a:avLst>
              <a:gd name="adj" fmla="val 25000"/>
            </a:avLst>
          </a:prstGeom>
          <a:solidFill>
            <a:srgbClr val="EEF2FF"/>
          </a:solidFill>
          <a:ln/>
        </p:spPr>
      </p:sp>
      <p:pic>
        <p:nvPicPr>
          <p:cNvPr id="26" name="Image 6" descr="preencoded.png">    </p:cNvPr>
          <p:cNvPicPr>
            <a:picLocks noChangeAspect="1"/>
          </p:cNvPicPr>
          <p:nvPr/>
        </p:nvPicPr>
        <p:blipFill>
          <a:blip r:embed="rId7"/>
          <a:stretch>
            <a:fillRect/>
          </a:stretch>
        </p:blipFill>
        <p:spPr>
          <a:xfrm>
            <a:off x="959388" y="5330220"/>
            <a:ext cx="184343" cy="184343"/>
          </a:xfrm>
          <a:prstGeom prst="rect">
            <a:avLst/>
          </a:prstGeom>
        </p:spPr>
      </p:pic>
      <p:sp>
        <p:nvSpPr>
          <p:cNvPr id="27" name="Text 18"/>
          <p:cNvSpPr/>
          <p:nvPr/>
        </p:nvSpPr>
        <p:spPr>
          <a:xfrm>
            <a:off x="1362456" y="5212080"/>
            <a:ext cx="4206240" cy="420624"/>
          </a:xfrm>
          <a:prstGeom prst="rect">
            <a:avLst/>
          </a:prstGeom>
          <a:noFill/>
          <a:ln/>
        </p:spPr>
        <p:txBody>
          <a:bodyPr wrap="square" lIns="0" tIns="0" rIns="0" bIns="0" rtlCol="0" anchor="ctr"/>
          <a:lstStyle/>
          <a:p>
            <a:pPr indent="0" marL="0">
              <a:buNone/>
            </a:pPr>
            <a:r>
              <a:rPr lang="en-US" sz="1300" dirty="0">
                <a:solidFill>
                  <a:srgbClr val="0F172A"/>
                </a:solidFill>
                <a:latin typeface="Calibri" pitchFamily="34" charset="0"/>
                <a:ea typeface="Calibri" pitchFamily="34" charset="-122"/>
                <a:cs typeface="Calibri" pitchFamily="34" charset="-120"/>
              </a:rPr>
              <a:t>Other HR records</a:t>
            </a:r>
            <a:endParaRPr lang="en-US" sz="1300" dirty="0"/>
          </a:p>
        </p:txBody>
      </p:sp>
      <p:sp>
        <p:nvSpPr>
          <p:cNvPr id="28" name="Shape 19"/>
          <p:cNvSpPr/>
          <p:nvPr/>
        </p:nvSpPr>
        <p:spPr>
          <a:xfrm>
            <a:off x="6263640" y="1783080"/>
            <a:ext cx="5349240" cy="4160520"/>
          </a:xfrm>
          <a:prstGeom prst="roundRect">
            <a:avLst>
              <a:gd name="adj" fmla="val 2198"/>
            </a:avLst>
          </a:prstGeom>
          <a:solidFill>
            <a:srgbClr val="EEF2FF"/>
          </a:solidFill>
          <a:ln w="12700">
            <a:solidFill>
              <a:srgbClr val="C7D2FE"/>
            </a:solidFill>
            <a:prstDash val="solid"/>
          </a:ln>
          <a:effectLst>
            <a:outerShdw sx="100000" sy="100000" kx="0" ky="0" algn="bl" rotWithShape="0" blurRad="76200" dist="12700" dir="5400000">
              <a:srgbClr val="94A3B8">
                <a:alpha val="18000"/>
              </a:srgbClr>
            </a:outerShdw>
          </a:effectLst>
        </p:spPr>
      </p:sp>
      <p:sp>
        <p:nvSpPr>
          <p:cNvPr id="29" name="Shape 20"/>
          <p:cNvSpPr/>
          <p:nvPr/>
        </p:nvSpPr>
        <p:spPr>
          <a:xfrm>
            <a:off x="6583680" y="2057400"/>
            <a:ext cx="475488" cy="475488"/>
          </a:xfrm>
          <a:prstGeom prst="roundRect">
            <a:avLst>
              <a:gd name="adj" fmla="val 17308"/>
            </a:avLst>
          </a:prstGeom>
          <a:solidFill>
            <a:srgbClr val="E0E7FF"/>
          </a:solidFill>
          <a:ln/>
        </p:spPr>
      </p:sp>
      <p:pic>
        <p:nvPicPr>
          <p:cNvPr id="30" name="Image 7" descr="preencoded.png">    </p:cNvPr>
          <p:cNvPicPr>
            <a:picLocks noChangeAspect="1"/>
          </p:cNvPicPr>
          <p:nvPr/>
        </p:nvPicPr>
        <p:blipFill>
          <a:blip r:embed="rId8"/>
          <a:stretch>
            <a:fillRect/>
          </a:stretch>
        </p:blipFill>
        <p:spPr>
          <a:xfrm>
            <a:off x="6688287" y="2162007"/>
            <a:ext cx="266273" cy="266273"/>
          </a:xfrm>
          <a:prstGeom prst="rect">
            <a:avLst/>
          </a:prstGeom>
        </p:spPr>
      </p:pic>
      <p:sp>
        <p:nvSpPr>
          <p:cNvPr id="31" name="Text 21"/>
          <p:cNvSpPr/>
          <p:nvPr/>
        </p:nvSpPr>
        <p:spPr>
          <a:xfrm>
            <a:off x="7196328" y="2093976"/>
            <a:ext cx="4023360" cy="411480"/>
          </a:xfrm>
          <a:prstGeom prst="rect">
            <a:avLst/>
          </a:prstGeom>
          <a:noFill/>
          <a:ln/>
        </p:spPr>
        <p:txBody>
          <a:bodyPr wrap="square" lIns="0" tIns="0" rIns="0" bIns="0" rtlCol="0" anchor="ctr"/>
          <a:lstStyle/>
          <a:p>
            <a:pPr indent="0" marL="0">
              <a:buNone/>
            </a:pPr>
            <a:r>
              <a:rPr lang="en-US" sz="1800" b="1" dirty="0">
                <a:solidFill>
                  <a:srgbClr val="0F172A"/>
                </a:solidFill>
                <a:latin typeface="Cambria" pitchFamily="34" charset="0"/>
                <a:ea typeface="Cambria" pitchFamily="34" charset="-122"/>
                <a:cs typeface="Cambria" pitchFamily="34" charset="-120"/>
              </a:rPr>
              <a:t>Access is controlled</a:t>
            </a:r>
            <a:endParaRPr lang="en-US" sz="1800" dirty="0"/>
          </a:p>
        </p:txBody>
      </p:sp>
      <p:sp>
        <p:nvSpPr>
          <p:cNvPr id="32" name="Text 22"/>
          <p:cNvSpPr/>
          <p:nvPr/>
        </p:nvSpPr>
        <p:spPr>
          <a:xfrm>
            <a:off x="6583680" y="2743200"/>
            <a:ext cx="4709160" cy="914400"/>
          </a:xfrm>
          <a:prstGeom prst="rect">
            <a:avLst/>
          </a:prstGeom>
          <a:noFill/>
          <a:ln/>
        </p:spPr>
        <p:txBody>
          <a:bodyPr wrap="square" lIns="0" tIns="0" rIns="0" bIns="0" rtlCol="0" anchor="t"/>
          <a:lstStyle/>
          <a:p>
            <a:pPr indent="0" marL="0">
              <a:buNone/>
            </a:pPr>
            <a:r>
              <a:rPr lang="en-US" sz="1350" dirty="0">
                <a:solidFill>
                  <a:srgbClr val="0F172A"/>
                </a:solidFill>
                <a:latin typeface="Calibri" pitchFamily="34" charset="0"/>
                <a:ea typeface="Calibri" pitchFamily="34" charset="-122"/>
                <a:cs typeface="Calibri" pitchFamily="34" charset="-120"/>
              </a:rPr>
              <a:t>Who can see what is determined by the employee's role and their relationship to the information.</a:t>
            </a:r>
            <a:endParaRPr lang="en-US" sz="1350" dirty="0"/>
          </a:p>
        </p:txBody>
      </p:sp>
      <p:sp>
        <p:nvSpPr>
          <p:cNvPr id="33" name="Text 23"/>
          <p:cNvSpPr/>
          <p:nvPr/>
        </p:nvSpPr>
        <p:spPr>
          <a:xfrm>
            <a:off x="6583680" y="3749040"/>
            <a:ext cx="4709160" cy="118872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Personal information stays personal. Documents are visible only to the people who genuinely need them — not to the wider company.</a:t>
            </a:r>
            <a:endParaRPr lang="en-US" sz="1250" dirty="0"/>
          </a:p>
        </p:txBody>
      </p:sp>
      <p:sp>
        <p:nvSpPr>
          <p:cNvPr id="34" name="Text 24"/>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35" name="Text 25"/>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THE OPERATIONAL CHANGE</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Orbit only works if we use it</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The calendar is only useful when the information inside it is reliable.</a:t>
            </a:r>
            <a:endParaRPr lang="en-US" sz="1400" dirty="0"/>
          </a:p>
        </p:txBody>
      </p:sp>
      <p:sp>
        <p:nvSpPr>
          <p:cNvPr id="5" name="Shape 3"/>
          <p:cNvSpPr/>
          <p:nvPr/>
        </p:nvSpPr>
        <p:spPr>
          <a:xfrm>
            <a:off x="11341303" y="585216"/>
            <a:ext cx="146304" cy="146304"/>
          </a:xfrm>
          <a:prstGeom prst="diamond">
            <a:avLst/>
          </a:prstGeom>
          <a:solidFill>
            <a:srgbClr val="818CF8"/>
          </a:solidFill>
          <a:ln/>
        </p:spPr>
      </p:sp>
      <p:sp>
        <p:nvSpPr>
          <p:cNvPr id="6" name="Shape 4"/>
          <p:cNvSpPr/>
          <p:nvPr/>
        </p:nvSpPr>
        <p:spPr>
          <a:xfrm>
            <a:off x="1280160" y="1874520"/>
            <a:ext cx="5852160" cy="621792"/>
          </a:xfrm>
          <a:prstGeom prst="roundRect">
            <a:avLst>
              <a:gd name="adj" fmla="val 14706"/>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7" name="Text 5"/>
          <p:cNvSpPr/>
          <p:nvPr/>
        </p:nvSpPr>
        <p:spPr>
          <a:xfrm>
            <a:off x="1600200" y="1874520"/>
            <a:ext cx="5394960" cy="621792"/>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Check your leave balance</a:t>
            </a:r>
            <a:endParaRPr lang="en-US" sz="1450" dirty="0"/>
          </a:p>
        </p:txBody>
      </p:sp>
      <p:sp>
        <p:nvSpPr>
          <p:cNvPr id="8" name="Shape 6"/>
          <p:cNvSpPr/>
          <p:nvPr/>
        </p:nvSpPr>
        <p:spPr>
          <a:xfrm>
            <a:off x="7315200" y="2002536"/>
            <a:ext cx="457200" cy="365760"/>
          </a:xfrm>
          <a:prstGeom prst="rightArrow">
            <a:avLst/>
          </a:prstGeom>
          <a:solidFill>
            <a:srgbClr val="C7D2FE"/>
          </a:solidFill>
          <a:ln/>
        </p:spPr>
      </p:sp>
      <p:sp>
        <p:nvSpPr>
          <p:cNvPr id="9" name="Shape 7"/>
          <p:cNvSpPr/>
          <p:nvPr/>
        </p:nvSpPr>
        <p:spPr>
          <a:xfrm>
            <a:off x="7955280" y="1929384"/>
            <a:ext cx="2011680" cy="512064"/>
          </a:xfrm>
          <a:prstGeom prst="roundRect">
            <a:avLst>
              <a:gd name="adj" fmla="val 21429"/>
            </a:avLst>
          </a:prstGeom>
          <a:solidFill>
            <a:srgbClr val="4F46E5"/>
          </a:solidFill>
          <a:ln/>
        </p:spPr>
      </p:sp>
      <p:sp>
        <p:nvSpPr>
          <p:cNvPr id="10" name="Text 8"/>
          <p:cNvSpPr/>
          <p:nvPr/>
        </p:nvSpPr>
        <p:spPr>
          <a:xfrm>
            <a:off x="7955280" y="1929384"/>
            <a:ext cx="2011680"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Orbit</a:t>
            </a:r>
            <a:endParaRPr lang="en-US" sz="1500" dirty="0"/>
          </a:p>
        </p:txBody>
      </p:sp>
      <p:sp>
        <p:nvSpPr>
          <p:cNvPr id="11" name="Shape 9"/>
          <p:cNvSpPr/>
          <p:nvPr/>
        </p:nvSpPr>
        <p:spPr>
          <a:xfrm>
            <a:off x="1280160" y="2633472"/>
            <a:ext cx="5852160" cy="621792"/>
          </a:xfrm>
          <a:prstGeom prst="roundRect">
            <a:avLst>
              <a:gd name="adj" fmla="val 14706"/>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2" name="Text 10"/>
          <p:cNvSpPr/>
          <p:nvPr/>
        </p:nvSpPr>
        <p:spPr>
          <a:xfrm>
            <a:off x="1600200" y="2633472"/>
            <a:ext cx="5394960" cy="621792"/>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Request leave</a:t>
            </a:r>
            <a:endParaRPr lang="en-US" sz="1450" dirty="0"/>
          </a:p>
        </p:txBody>
      </p:sp>
      <p:sp>
        <p:nvSpPr>
          <p:cNvPr id="13" name="Shape 11"/>
          <p:cNvSpPr/>
          <p:nvPr/>
        </p:nvSpPr>
        <p:spPr>
          <a:xfrm>
            <a:off x="7315200" y="2761488"/>
            <a:ext cx="457200" cy="365760"/>
          </a:xfrm>
          <a:prstGeom prst="rightArrow">
            <a:avLst/>
          </a:prstGeom>
          <a:solidFill>
            <a:srgbClr val="C7D2FE"/>
          </a:solidFill>
          <a:ln/>
        </p:spPr>
      </p:sp>
      <p:sp>
        <p:nvSpPr>
          <p:cNvPr id="14" name="Shape 12"/>
          <p:cNvSpPr/>
          <p:nvPr/>
        </p:nvSpPr>
        <p:spPr>
          <a:xfrm>
            <a:off x="7955280" y="2688336"/>
            <a:ext cx="2011680" cy="512064"/>
          </a:xfrm>
          <a:prstGeom prst="roundRect">
            <a:avLst>
              <a:gd name="adj" fmla="val 21429"/>
            </a:avLst>
          </a:prstGeom>
          <a:solidFill>
            <a:srgbClr val="4F46E5"/>
          </a:solidFill>
          <a:ln/>
        </p:spPr>
      </p:sp>
      <p:sp>
        <p:nvSpPr>
          <p:cNvPr id="15" name="Text 13"/>
          <p:cNvSpPr/>
          <p:nvPr/>
        </p:nvSpPr>
        <p:spPr>
          <a:xfrm>
            <a:off x="7955280" y="2688336"/>
            <a:ext cx="2011680"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Orbit</a:t>
            </a:r>
            <a:endParaRPr lang="en-US" sz="1500" dirty="0"/>
          </a:p>
        </p:txBody>
      </p:sp>
      <p:sp>
        <p:nvSpPr>
          <p:cNvPr id="16" name="Shape 14"/>
          <p:cNvSpPr/>
          <p:nvPr/>
        </p:nvSpPr>
        <p:spPr>
          <a:xfrm>
            <a:off x="1280160" y="3392424"/>
            <a:ext cx="5852160" cy="621792"/>
          </a:xfrm>
          <a:prstGeom prst="roundRect">
            <a:avLst>
              <a:gd name="adj" fmla="val 14706"/>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7" name="Text 15"/>
          <p:cNvSpPr/>
          <p:nvPr/>
        </p:nvSpPr>
        <p:spPr>
          <a:xfrm>
            <a:off x="1600200" y="3392424"/>
            <a:ext cx="5394960" cy="621792"/>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Request WFH / working arrangement</a:t>
            </a:r>
            <a:endParaRPr lang="en-US" sz="1450" dirty="0"/>
          </a:p>
        </p:txBody>
      </p:sp>
      <p:sp>
        <p:nvSpPr>
          <p:cNvPr id="18" name="Shape 16"/>
          <p:cNvSpPr/>
          <p:nvPr/>
        </p:nvSpPr>
        <p:spPr>
          <a:xfrm>
            <a:off x="7315200" y="3520440"/>
            <a:ext cx="457200" cy="365760"/>
          </a:xfrm>
          <a:prstGeom prst="rightArrow">
            <a:avLst/>
          </a:prstGeom>
          <a:solidFill>
            <a:srgbClr val="C7D2FE"/>
          </a:solidFill>
          <a:ln/>
        </p:spPr>
      </p:sp>
      <p:sp>
        <p:nvSpPr>
          <p:cNvPr id="19" name="Shape 17"/>
          <p:cNvSpPr/>
          <p:nvPr/>
        </p:nvSpPr>
        <p:spPr>
          <a:xfrm>
            <a:off x="7955280" y="3447288"/>
            <a:ext cx="2011680" cy="512064"/>
          </a:xfrm>
          <a:prstGeom prst="roundRect">
            <a:avLst>
              <a:gd name="adj" fmla="val 21429"/>
            </a:avLst>
          </a:prstGeom>
          <a:solidFill>
            <a:srgbClr val="4F46E5"/>
          </a:solidFill>
          <a:ln/>
        </p:spPr>
      </p:sp>
      <p:sp>
        <p:nvSpPr>
          <p:cNvPr id="20" name="Text 18"/>
          <p:cNvSpPr/>
          <p:nvPr/>
        </p:nvSpPr>
        <p:spPr>
          <a:xfrm>
            <a:off x="7955280" y="3447288"/>
            <a:ext cx="2011680"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Orbit</a:t>
            </a:r>
            <a:endParaRPr lang="en-US" sz="1500" dirty="0"/>
          </a:p>
        </p:txBody>
      </p:sp>
      <p:sp>
        <p:nvSpPr>
          <p:cNvPr id="21" name="Shape 19"/>
          <p:cNvSpPr/>
          <p:nvPr/>
        </p:nvSpPr>
        <p:spPr>
          <a:xfrm>
            <a:off x="1280160" y="4151376"/>
            <a:ext cx="5852160" cy="621792"/>
          </a:xfrm>
          <a:prstGeom prst="roundRect">
            <a:avLst>
              <a:gd name="adj" fmla="val 14706"/>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2" name="Text 20"/>
          <p:cNvSpPr/>
          <p:nvPr/>
        </p:nvSpPr>
        <p:spPr>
          <a:xfrm>
            <a:off x="1600200" y="4151376"/>
            <a:ext cx="5394960" cy="621792"/>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Check who is away</a:t>
            </a:r>
            <a:endParaRPr lang="en-US" sz="1450" dirty="0"/>
          </a:p>
        </p:txBody>
      </p:sp>
      <p:sp>
        <p:nvSpPr>
          <p:cNvPr id="23" name="Shape 21"/>
          <p:cNvSpPr/>
          <p:nvPr/>
        </p:nvSpPr>
        <p:spPr>
          <a:xfrm>
            <a:off x="7315200" y="4279392"/>
            <a:ext cx="457200" cy="365760"/>
          </a:xfrm>
          <a:prstGeom prst="rightArrow">
            <a:avLst/>
          </a:prstGeom>
          <a:solidFill>
            <a:srgbClr val="C7D2FE"/>
          </a:solidFill>
          <a:ln/>
        </p:spPr>
      </p:sp>
      <p:sp>
        <p:nvSpPr>
          <p:cNvPr id="24" name="Shape 22"/>
          <p:cNvSpPr/>
          <p:nvPr/>
        </p:nvSpPr>
        <p:spPr>
          <a:xfrm>
            <a:off x="7955280" y="4206240"/>
            <a:ext cx="2011680" cy="512064"/>
          </a:xfrm>
          <a:prstGeom prst="roundRect">
            <a:avLst>
              <a:gd name="adj" fmla="val 21429"/>
            </a:avLst>
          </a:prstGeom>
          <a:solidFill>
            <a:srgbClr val="4F46E5"/>
          </a:solidFill>
          <a:ln/>
        </p:spPr>
      </p:sp>
      <p:sp>
        <p:nvSpPr>
          <p:cNvPr id="25" name="Text 23"/>
          <p:cNvSpPr/>
          <p:nvPr/>
        </p:nvSpPr>
        <p:spPr>
          <a:xfrm>
            <a:off x="7955280" y="4206240"/>
            <a:ext cx="2011680"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Orbit</a:t>
            </a:r>
            <a:endParaRPr lang="en-US" sz="1500" dirty="0"/>
          </a:p>
        </p:txBody>
      </p:sp>
      <p:sp>
        <p:nvSpPr>
          <p:cNvPr id="26" name="Shape 24"/>
          <p:cNvSpPr/>
          <p:nvPr/>
        </p:nvSpPr>
        <p:spPr>
          <a:xfrm>
            <a:off x="1280160" y="4910328"/>
            <a:ext cx="5852160" cy="621792"/>
          </a:xfrm>
          <a:prstGeom prst="roundRect">
            <a:avLst>
              <a:gd name="adj" fmla="val 14706"/>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7" name="Text 25"/>
          <p:cNvSpPr/>
          <p:nvPr/>
        </p:nvSpPr>
        <p:spPr>
          <a:xfrm>
            <a:off x="1600200" y="4910328"/>
            <a:ext cx="5394960" cy="621792"/>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Check your request status</a:t>
            </a:r>
            <a:endParaRPr lang="en-US" sz="1450" dirty="0"/>
          </a:p>
        </p:txBody>
      </p:sp>
      <p:sp>
        <p:nvSpPr>
          <p:cNvPr id="28" name="Shape 26"/>
          <p:cNvSpPr/>
          <p:nvPr/>
        </p:nvSpPr>
        <p:spPr>
          <a:xfrm>
            <a:off x="7315200" y="5038344"/>
            <a:ext cx="457200" cy="365760"/>
          </a:xfrm>
          <a:prstGeom prst="rightArrow">
            <a:avLst/>
          </a:prstGeom>
          <a:solidFill>
            <a:srgbClr val="C7D2FE"/>
          </a:solidFill>
          <a:ln/>
        </p:spPr>
      </p:sp>
      <p:sp>
        <p:nvSpPr>
          <p:cNvPr id="29" name="Shape 27"/>
          <p:cNvSpPr/>
          <p:nvPr/>
        </p:nvSpPr>
        <p:spPr>
          <a:xfrm>
            <a:off x="7955280" y="4965192"/>
            <a:ext cx="2011680" cy="512064"/>
          </a:xfrm>
          <a:prstGeom prst="roundRect">
            <a:avLst>
              <a:gd name="adj" fmla="val 21429"/>
            </a:avLst>
          </a:prstGeom>
          <a:solidFill>
            <a:srgbClr val="4F46E5"/>
          </a:solidFill>
          <a:ln/>
        </p:spPr>
      </p:sp>
      <p:sp>
        <p:nvSpPr>
          <p:cNvPr id="30" name="Text 28"/>
          <p:cNvSpPr/>
          <p:nvPr/>
        </p:nvSpPr>
        <p:spPr>
          <a:xfrm>
            <a:off x="7955280" y="4965192"/>
            <a:ext cx="2011680"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Orbit</a:t>
            </a:r>
            <a:endParaRPr lang="en-US" sz="1500" dirty="0"/>
          </a:p>
        </p:txBody>
      </p:sp>
      <p:sp>
        <p:nvSpPr>
          <p:cNvPr id="31" name="Shape 29"/>
          <p:cNvSpPr/>
          <p:nvPr/>
        </p:nvSpPr>
        <p:spPr>
          <a:xfrm>
            <a:off x="548640" y="5760720"/>
            <a:ext cx="11064240" cy="566928"/>
          </a:xfrm>
          <a:prstGeom prst="roundRect">
            <a:avLst>
              <a:gd name="adj" fmla="val 16129"/>
            </a:avLst>
          </a:prstGeom>
          <a:solidFill>
            <a:srgbClr val="FFFBEB"/>
          </a:solidFill>
          <a:ln w="12700">
            <a:solidFill>
              <a:srgbClr val="FDE68A"/>
            </a:solidFill>
            <a:prstDash val="solid"/>
          </a:ln>
          <a:effectLst>
            <a:outerShdw sx="100000" sy="100000" kx="0" ky="0" algn="bl" rotWithShape="0" blurRad="76200" dist="12700" dir="5400000">
              <a:srgbClr val="94A3B8">
                <a:alpha val="18000"/>
              </a:srgbClr>
            </a:outerShdw>
          </a:effectLst>
        </p:spPr>
      </p:sp>
      <p:sp>
        <p:nvSpPr>
          <p:cNvPr id="32" name="Text 30"/>
          <p:cNvSpPr/>
          <p:nvPr/>
        </p:nvSpPr>
        <p:spPr>
          <a:xfrm>
            <a:off x="914400" y="5760720"/>
            <a:ext cx="10332720" cy="566928"/>
          </a:xfrm>
          <a:prstGeom prst="rect">
            <a:avLst/>
          </a:prstGeom>
          <a:noFill/>
          <a:ln/>
        </p:spPr>
        <p:txBody>
          <a:bodyPr wrap="square" lIns="0" tIns="0" rIns="0" bIns="0" rtlCol="0" anchor="ctr"/>
          <a:lstStyle/>
          <a:p>
            <a:pPr indent="0" marL="0">
              <a:buNone/>
            </a:pPr>
            <a:r>
              <a:rPr lang="en-US" sz="1250" b="1" dirty="0">
                <a:solidFill>
                  <a:srgbClr val="92400E"/>
                </a:solidFill>
                <a:latin typeface="Calibri" pitchFamily="34" charset="0"/>
                <a:ea typeface="Calibri" pitchFamily="34" charset="-122"/>
                <a:cs typeface="Calibri" pitchFamily="34" charset="-120"/>
              </a:rPr>
              <a:t>Orbit becomes the standard source for these processes — rather than maintaining parallel information through informal channels.</a:t>
            </a:r>
            <a:endParaRPr lang="en-US" sz="1250" dirty="0"/>
          </a:p>
        </p:txBody>
      </p:sp>
      <p:sp>
        <p:nvSpPr>
          <p:cNvPr id="33" name="Text 31"/>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34" name="Text 32"/>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THE OPERATIONAL CHANGE</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Why this matters</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Structure benefits everyone.</a:t>
            </a:r>
            <a:endParaRPr lang="en-US" sz="1400" dirty="0"/>
          </a:p>
        </p:txBody>
      </p:sp>
      <p:sp>
        <p:nvSpPr>
          <p:cNvPr id="5" name="Shape 3"/>
          <p:cNvSpPr/>
          <p:nvPr/>
        </p:nvSpPr>
        <p:spPr>
          <a:xfrm>
            <a:off x="11341303" y="585216"/>
            <a:ext cx="146304" cy="146304"/>
          </a:xfrm>
          <a:prstGeom prst="diamond">
            <a:avLst/>
          </a:prstGeom>
          <a:solidFill>
            <a:srgbClr val="818CF8"/>
          </a:solidFill>
          <a:ln/>
        </p:spPr>
      </p:sp>
      <p:sp>
        <p:nvSpPr>
          <p:cNvPr id="6" name="Shape 4"/>
          <p:cNvSpPr/>
          <p:nvPr/>
        </p:nvSpPr>
        <p:spPr>
          <a:xfrm>
            <a:off x="548640" y="1828800"/>
            <a:ext cx="3657600" cy="1920240"/>
          </a:xfrm>
          <a:prstGeom prst="roundRect">
            <a:avLst>
              <a:gd name="adj" fmla="val 476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7" name="Shape 5"/>
          <p:cNvSpPr/>
          <p:nvPr/>
        </p:nvSpPr>
        <p:spPr>
          <a:xfrm>
            <a:off x="804672" y="2066544"/>
            <a:ext cx="438912" cy="438912"/>
          </a:xfrm>
          <a:prstGeom prst="roundRect">
            <a:avLst>
              <a:gd name="adj" fmla="val 18750"/>
            </a:avLst>
          </a:prstGeom>
          <a:solidFill>
            <a:srgbClr val="EEF2FF"/>
          </a:solidFill>
          <a:ln/>
        </p:spPr>
      </p:sp>
      <p:pic>
        <p:nvPicPr>
          <p:cNvPr id="8" name="Image 0" descr="preencoded.png">    </p:cNvPr>
          <p:cNvPicPr>
            <a:picLocks noChangeAspect="1"/>
          </p:cNvPicPr>
          <p:nvPr/>
        </p:nvPicPr>
        <p:blipFill>
          <a:blip r:embed="rId1"/>
          <a:stretch>
            <a:fillRect/>
          </a:stretch>
        </p:blipFill>
        <p:spPr>
          <a:xfrm>
            <a:off x="901233" y="2163105"/>
            <a:ext cx="245791" cy="245791"/>
          </a:xfrm>
          <a:prstGeom prst="rect">
            <a:avLst/>
          </a:prstGeom>
        </p:spPr>
      </p:pic>
      <p:sp>
        <p:nvSpPr>
          <p:cNvPr id="9" name="Text 6"/>
          <p:cNvSpPr/>
          <p:nvPr/>
        </p:nvSpPr>
        <p:spPr>
          <a:xfrm>
            <a:off x="804672" y="2651760"/>
            <a:ext cx="3145536" cy="457200"/>
          </a:xfrm>
          <a:prstGeom prst="rect">
            <a:avLst/>
          </a:prstGeom>
          <a:noFill/>
          <a:ln/>
        </p:spPr>
        <p:txBody>
          <a:bodyPr wrap="square" lIns="0" tIns="0" rIns="0" bIns="0" rtlCol="0" anchor="t"/>
          <a:lstStyle/>
          <a:p>
            <a:pPr indent="0" marL="0">
              <a:buNone/>
            </a:pPr>
            <a:r>
              <a:rPr lang="en-US" sz="1450" b="1" dirty="0">
                <a:solidFill>
                  <a:srgbClr val="0F172A"/>
                </a:solidFill>
                <a:latin typeface="Cambria" pitchFamily="34" charset="0"/>
                <a:ea typeface="Cambria" pitchFamily="34" charset="-122"/>
                <a:cs typeface="Cambria" pitchFamily="34" charset="-120"/>
              </a:rPr>
              <a:t>For employees</a:t>
            </a:r>
            <a:endParaRPr lang="en-US" sz="1450" dirty="0"/>
          </a:p>
        </p:txBody>
      </p:sp>
      <p:sp>
        <p:nvSpPr>
          <p:cNvPr id="10" name="Text 7"/>
          <p:cNvSpPr/>
          <p:nvPr/>
        </p:nvSpPr>
        <p:spPr>
          <a:xfrm>
            <a:off x="804672" y="3108960"/>
            <a:ext cx="3145536" cy="594360"/>
          </a:xfrm>
          <a:prstGeom prst="rect">
            <a:avLst/>
          </a:prstGeom>
          <a:noFill/>
          <a:ln/>
        </p:spPr>
        <p:txBody>
          <a:bodyPr wrap="square" lIns="0" tIns="0" rIns="0" bIns="0" rtlCol="0" anchor="t"/>
          <a:lstStyle/>
          <a:p>
            <a:pPr indent="0" marL="0">
              <a:buNone/>
            </a:pPr>
            <a:r>
              <a:rPr lang="en-US" sz="1180" dirty="0">
                <a:solidFill>
                  <a:srgbClr val="64748B"/>
                </a:solidFill>
                <a:latin typeface="Calibri" pitchFamily="34" charset="0"/>
                <a:ea typeface="Calibri" pitchFamily="34" charset="-122"/>
                <a:cs typeface="Calibri" pitchFamily="34" charset="-120"/>
              </a:rPr>
              <a:t>Clear balances, clear requests and less uncertainty.</a:t>
            </a:r>
            <a:endParaRPr lang="en-US" sz="1180" dirty="0"/>
          </a:p>
        </p:txBody>
      </p:sp>
      <p:sp>
        <p:nvSpPr>
          <p:cNvPr id="11" name="Shape 8"/>
          <p:cNvSpPr/>
          <p:nvPr/>
        </p:nvSpPr>
        <p:spPr>
          <a:xfrm>
            <a:off x="4370832" y="1828800"/>
            <a:ext cx="3657600" cy="1920240"/>
          </a:xfrm>
          <a:prstGeom prst="roundRect">
            <a:avLst>
              <a:gd name="adj" fmla="val 476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2" name="Shape 9"/>
          <p:cNvSpPr/>
          <p:nvPr/>
        </p:nvSpPr>
        <p:spPr>
          <a:xfrm>
            <a:off x="4626864" y="2066544"/>
            <a:ext cx="438912" cy="438912"/>
          </a:xfrm>
          <a:prstGeom prst="roundRect">
            <a:avLst>
              <a:gd name="adj" fmla="val 18750"/>
            </a:avLst>
          </a:prstGeom>
          <a:solidFill>
            <a:srgbClr val="EEF2FF"/>
          </a:solidFill>
          <a:ln/>
        </p:spPr>
      </p:sp>
      <p:pic>
        <p:nvPicPr>
          <p:cNvPr id="13" name="Image 1" descr="preencoded.png">    </p:cNvPr>
          <p:cNvPicPr>
            <a:picLocks noChangeAspect="1"/>
          </p:cNvPicPr>
          <p:nvPr/>
        </p:nvPicPr>
        <p:blipFill>
          <a:blip r:embed="rId2"/>
          <a:stretch>
            <a:fillRect/>
          </a:stretch>
        </p:blipFill>
        <p:spPr>
          <a:xfrm>
            <a:off x="4723425" y="2163105"/>
            <a:ext cx="245791" cy="245791"/>
          </a:xfrm>
          <a:prstGeom prst="rect">
            <a:avLst/>
          </a:prstGeom>
        </p:spPr>
      </p:pic>
      <p:sp>
        <p:nvSpPr>
          <p:cNvPr id="14" name="Text 10"/>
          <p:cNvSpPr/>
          <p:nvPr/>
        </p:nvSpPr>
        <p:spPr>
          <a:xfrm>
            <a:off x="4626864" y="2651760"/>
            <a:ext cx="3145536" cy="457200"/>
          </a:xfrm>
          <a:prstGeom prst="rect">
            <a:avLst/>
          </a:prstGeom>
          <a:noFill/>
          <a:ln/>
        </p:spPr>
        <p:txBody>
          <a:bodyPr wrap="square" lIns="0" tIns="0" rIns="0" bIns="0" rtlCol="0" anchor="t"/>
          <a:lstStyle/>
          <a:p>
            <a:pPr indent="0" marL="0">
              <a:buNone/>
            </a:pPr>
            <a:r>
              <a:rPr lang="en-US" sz="1450" b="1" dirty="0">
                <a:solidFill>
                  <a:srgbClr val="0F172A"/>
                </a:solidFill>
                <a:latin typeface="Cambria" pitchFamily="34" charset="0"/>
                <a:ea typeface="Cambria" pitchFamily="34" charset="-122"/>
                <a:cs typeface="Cambria" pitchFamily="34" charset="-120"/>
              </a:rPr>
              <a:t>For managers</a:t>
            </a:r>
            <a:endParaRPr lang="en-US" sz="1450" dirty="0"/>
          </a:p>
        </p:txBody>
      </p:sp>
      <p:sp>
        <p:nvSpPr>
          <p:cNvPr id="15" name="Text 11"/>
          <p:cNvSpPr/>
          <p:nvPr/>
        </p:nvSpPr>
        <p:spPr>
          <a:xfrm>
            <a:off x="4626864" y="3108960"/>
            <a:ext cx="3145536" cy="594360"/>
          </a:xfrm>
          <a:prstGeom prst="rect">
            <a:avLst/>
          </a:prstGeom>
          <a:noFill/>
          <a:ln/>
        </p:spPr>
        <p:txBody>
          <a:bodyPr wrap="square" lIns="0" tIns="0" rIns="0" bIns="0" rtlCol="0" anchor="t"/>
          <a:lstStyle/>
          <a:p>
            <a:pPr indent="0" marL="0">
              <a:buNone/>
            </a:pPr>
            <a:r>
              <a:rPr lang="en-US" sz="1180" dirty="0">
                <a:solidFill>
                  <a:srgbClr val="64748B"/>
                </a:solidFill>
                <a:latin typeface="Calibri" pitchFamily="34" charset="0"/>
                <a:ea typeface="Calibri" pitchFamily="34" charset="-122"/>
                <a:cs typeface="Calibri" pitchFamily="34" charset="-120"/>
              </a:rPr>
              <a:t>Better visibility of team availability and upcoming absences.</a:t>
            </a:r>
            <a:endParaRPr lang="en-US" sz="1180" dirty="0"/>
          </a:p>
        </p:txBody>
      </p:sp>
      <p:sp>
        <p:nvSpPr>
          <p:cNvPr id="16" name="Shape 12"/>
          <p:cNvSpPr/>
          <p:nvPr/>
        </p:nvSpPr>
        <p:spPr>
          <a:xfrm>
            <a:off x="8193024" y="1828800"/>
            <a:ext cx="3657600" cy="1920240"/>
          </a:xfrm>
          <a:prstGeom prst="roundRect">
            <a:avLst>
              <a:gd name="adj" fmla="val 476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7" name="Shape 13"/>
          <p:cNvSpPr/>
          <p:nvPr/>
        </p:nvSpPr>
        <p:spPr>
          <a:xfrm>
            <a:off x="8449056" y="2066544"/>
            <a:ext cx="438912" cy="438912"/>
          </a:xfrm>
          <a:prstGeom prst="roundRect">
            <a:avLst>
              <a:gd name="adj" fmla="val 18750"/>
            </a:avLst>
          </a:prstGeom>
          <a:solidFill>
            <a:srgbClr val="EEF2FF"/>
          </a:solidFill>
          <a:ln/>
        </p:spPr>
      </p:sp>
      <p:pic>
        <p:nvPicPr>
          <p:cNvPr id="18" name="Image 2" descr="preencoded.png">    </p:cNvPr>
          <p:cNvPicPr>
            <a:picLocks noChangeAspect="1"/>
          </p:cNvPicPr>
          <p:nvPr/>
        </p:nvPicPr>
        <p:blipFill>
          <a:blip r:embed="rId3"/>
          <a:stretch>
            <a:fillRect/>
          </a:stretch>
        </p:blipFill>
        <p:spPr>
          <a:xfrm>
            <a:off x="8545617" y="2163105"/>
            <a:ext cx="245791" cy="245791"/>
          </a:xfrm>
          <a:prstGeom prst="rect">
            <a:avLst/>
          </a:prstGeom>
        </p:spPr>
      </p:pic>
      <p:sp>
        <p:nvSpPr>
          <p:cNvPr id="19" name="Text 14"/>
          <p:cNvSpPr/>
          <p:nvPr/>
        </p:nvSpPr>
        <p:spPr>
          <a:xfrm>
            <a:off x="8449056" y="2651760"/>
            <a:ext cx="3145536" cy="457200"/>
          </a:xfrm>
          <a:prstGeom prst="rect">
            <a:avLst/>
          </a:prstGeom>
          <a:noFill/>
          <a:ln/>
        </p:spPr>
        <p:txBody>
          <a:bodyPr wrap="square" lIns="0" tIns="0" rIns="0" bIns="0" rtlCol="0" anchor="t"/>
          <a:lstStyle/>
          <a:p>
            <a:pPr indent="0" marL="0">
              <a:buNone/>
            </a:pPr>
            <a:r>
              <a:rPr lang="en-US" sz="1450" b="1" dirty="0">
                <a:solidFill>
                  <a:srgbClr val="0F172A"/>
                </a:solidFill>
                <a:latin typeface="Cambria" pitchFamily="34" charset="0"/>
                <a:ea typeface="Cambria" pitchFamily="34" charset="-122"/>
                <a:cs typeface="Cambria" pitchFamily="34" charset="-120"/>
              </a:rPr>
              <a:t>For teams</a:t>
            </a:r>
            <a:endParaRPr lang="en-US" sz="1450" dirty="0"/>
          </a:p>
        </p:txBody>
      </p:sp>
      <p:sp>
        <p:nvSpPr>
          <p:cNvPr id="20" name="Text 15"/>
          <p:cNvSpPr/>
          <p:nvPr/>
        </p:nvSpPr>
        <p:spPr>
          <a:xfrm>
            <a:off x="8449056" y="3108960"/>
            <a:ext cx="3145536" cy="594360"/>
          </a:xfrm>
          <a:prstGeom prst="rect">
            <a:avLst/>
          </a:prstGeom>
          <a:noFill/>
          <a:ln/>
        </p:spPr>
        <p:txBody>
          <a:bodyPr wrap="square" lIns="0" tIns="0" rIns="0" bIns="0" rtlCol="0" anchor="t"/>
          <a:lstStyle/>
          <a:p>
            <a:pPr indent="0" marL="0">
              <a:buNone/>
            </a:pPr>
            <a:r>
              <a:rPr lang="en-US" sz="1180" dirty="0">
                <a:solidFill>
                  <a:srgbClr val="64748B"/>
                </a:solidFill>
                <a:latin typeface="Calibri" pitchFamily="34" charset="0"/>
                <a:ea typeface="Calibri" pitchFamily="34" charset="-122"/>
                <a:cs typeface="Calibri" pitchFamily="34" charset="-120"/>
              </a:rPr>
              <a:t>Easier scheduling and coordination.</a:t>
            </a:r>
            <a:endParaRPr lang="en-US" sz="1180" dirty="0"/>
          </a:p>
        </p:txBody>
      </p:sp>
      <p:sp>
        <p:nvSpPr>
          <p:cNvPr id="21" name="Shape 16"/>
          <p:cNvSpPr/>
          <p:nvPr/>
        </p:nvSpPr>
        <p:spPr>
          <a:xfrm>
            <a:off x="548640" y="4005072"/>
            <a:ext cx="3657600" cy="1920240"/>
          </a:xfrm>
          <a:prstGeom prst="roundRect">
            <a:avLst>
              <a:gd name="adj" fmla="val 476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2" name="Shape 17"/>
          <p:cNvSpPr/>
          <p:nvPr/>
        </p:nvSpPr>
        <p:spPr>
          <a:xfrm>
            <a:off x="804672" y="4242816"/>
            <a:ext cx="438912" cy="438912"/>
          </a:xfrm>
          <a:prstGeom prst="roundRect">
            <a:avLst>
              <a:gd name="adj" fmla="val 18750"/>
            </a:avLst>
          </a:prstGeom>
          <a:solidFill>
            <a:srgbClr val="EEF2FF"/>
          </a:solidFill>
          <a:ln/>
        </p:spPr>
      </p:sp>
      <p:pic>
        <p:nvPicPr>
          <p:cNvPr id="23" name="Image 3" descr="preencoded.png">    </p:cNvPr>
          <p:cNvPicPr>
            <a:picLocks noChangeAspect="1"/>
          </p:cNvPicPr>
          <p:nvPr/>
        </p:nvPicPr>
        <p:blipFill>
          <a:blip r:embed="rId4"/>
          <a:stretch>
            <a:fillRect/>
          </a:stretch>
        </p:blipFill>
        <p:spPr>
          <a:xfrm>
            <a:off x="901233" y="4339377"/>
            <a:ext cx="245791" cy="245791"/>
          </a:xfrm>
          <a:prstGeom prst="rect">
            <a:avLst/>
          </a:prstGeom>
        </p:spPr>
      </p:pic>
      <p:sp>
        <p:nvSpPr>
          <p:cNvPr id="24" name="Text 18"/>
          <p:cNvSpPr/>
          <p:nvPr/>
        </p:nvSpPr>
        <p:spPr>
          <a:xfrm>
            <a:off x="804672" y="4828032"/>
            <a:ext cx="3145536" cy="457200"/>
          </a:xfrm>
          <a:prstGeom prst="rect">
            <a:avLst/>
          </a:prstGeom>
          <a:noFill/>
          <a:ln/>
        </p:spPr>
        <p:txBody>
          <a:bodyPr wrap="square" lIns="0" tIns="0" rIns="0" bIns="0" rtlCol="0" anchor="t"/>
          <a:lstStyle/>
          <a:p>
            <a:pPr indent="0" marL="0">
              <a:buNone/>
            </a:pPr>
            <a:r>
              <a:rPr lang="en-US" sz="1450" b="1" dirty="0">
                <a:solidFill>
                  <a:srgbClr val="0F172A"/>
                </a:solidFill>
                <a:latin typeface="Cambria" pitchFamily="34" charset="0"/>
                <a:ea typeface="Cambria" pitchFamily="34" charset="-122"/>
                <a:cs typeface="Cambria" pitchFamily="34" charset="-120"/>
              </a:rPr>
              <a:t>For an international organization</a:t>
            </a:r>
            <a:endParaRPr lang="en-US" sz="1450" dirty="0"/>
          </a:p>
        </p:txBody>
      </p:sp>
      <p:sp>
        <p:nvSpPr>
          <p:cNvPr id="25" name="Text 19"/>
          <p:cNvSpPr/>
          <p:nvPr/>
        </p:nvSpPr>
        <p:spPr>
          <a:xfrm>
            <a:off x="804672" y="5285232"/>
            <a:ext cx="3145536" cy="594360"/>
          </a:xfrm>
          <a:prstGeom prst="rect">
            <a:avLst/>
          </a:prstGeom>
          <a:noFill/>
          <a:ln/>
        </p:spPr>
        <p:txBody>
          <a:bodyPr wrap="square" lIns="0" tIns="0" rIns="0" bIns="0" rtlCol="0" anchor="t"/>
          <a:lstStyle/>
          <a:p>
            <a:pPr indent="0" marL="0">
              <a:buNone/>
            </a:pPr>
            <a:r>
              <a:rPr lang="en-US" sz="1180" dirty="0">
                <a:solidFill>
                  <a:srgbClr val="64748B"/>
                </a:solidFill>
                <a:latin typeface="Calibri" pitchFamily="34" charset="0"/>
                <a:ea typeface="Calibri" pitchFamily="34" charset="-122"/>
                <a:cs typeface="Calibri" pitchFamily="34" charset="-120"/>
              </a:rPr>
              <a:t>Better understanding of when and where colleagues are working.</a:t>
            </a:r>
            <a:endParaRPr lang="en-US" sz="1180" dirty="0"/>
          </a:p>
        </p:txBody>
      </p:sp>
      <p:sp>
        <p:nvSpPr>
          <p:cNvPr id="26" name="Shape 20"/>
          <p:cNvSpPr/>
          <p:nvPr/>
        </p:nvSpPr>
        <p:spPr>
          <a:xfrm>
            <a:off x="4370832" y="4005072"/>
            <a:ext cx="3657600" cy="1920240"/>
          </a:xfrm>
          <a:prstGeom prst="roundRect">
            <a:avLst>
              <a:gd name="adj" fmla="val 4762"/>
            </a:avLst>
          </a:prstGeom>
          <a:solidFill>
            <a:srgbClr val="EEF2FF"/>
          </a:solidFill>
          <a:ln w="12700">
            <a:solidFill>
              <a:srgbClr val="C7D2FE"/>
            </a:solidFill>
            <a:prstDash val="solid"/>
          </a:ln>
          <a:effectLst>
            <a:outerShdw sx="100000" sy="100000" kx="0" ky="0" algn="bl" rotWithShape="0" blurRad="76200" dist="12700" dir="5400000">
              <a:srgbClr val="94A3B8">
                <a:alpha val="18000"/>
              </a:srgbClr>
            </a:outerShdw>
          </a:effectLst>
        </p:spPr>
      </p:sp>
      <p:sp>
        <p:nvSpPr>
          <p:cNvPr id="27" name="Shape 21"/>
          <p:cNvSpPr/>
          <p:nvPr/>
        </p:nvSpPr>
        <p:spPr>
          <a:xfrm>
            <a:off x="4626864" y="4242816"/>
            <a:ext cx="438912" cy="438912"/>
          </a:xfrm>
          <a:prstGeom prst="roundRect">
            <a:avLst>
              <a:gd name="adj" fmla="val 18750"/>
            </a:avLst>
          </a:prstGeom>
          <a:solidFill>
            <a:srgbClr val="E0E7FF"/>
          </a:solidFill>
          <a:ln/>
        </p:spPr>
      </p:sp>
      <p:pic>
        <p:nvPicPr>
          <p:cNvPr id="28" name="Image 4" descr="preencoded.png">    </p:cNvPr>
          <p:cNvPicPr>
            <a:picLocks noChangeAspect="1"/>
          </p:cNvPicPr>
          <p:nvPr/>
        </p:nvPicPr>
        <p:blipFill>
          <a:blip r:embed="rId5"/>
          <a:stretch>
            <a:fillRect/>
          </a:stretch>
        </p:blipFill>
        <p:spPr>
          <a:xfrm>
            <a:off x="4723425" y="4339377"/>
            <a:ext cx="245791" cy="245791"/>
          </a:xfrm>
          <a:prstGeom prst="rect">
            <a:avLst/>
          </a:prstGeom>
        </p:spPr>
      </p:pic>
      <p:sp>
        <p:nvSpPr>
          <p:cNvPr id="29" name="Text 22"/>
          <p:cNvSpPr/>
          <p:nvPr/>
        </p:nvSpPr>
        <p:spPr>
          <a:xfrm>
            <a:off x="4626864" y="4828032"/>
            <a:ext cx="3145536" cy="457200"/>
          </a:xfrm>
          <a:prstGeom prst="rect">
            <a:avLst/>
          </a:prstGeom>
          <a:noFill/>
          <a:ln/>
        </p:spPr>
        <p:txBody>
          <a:bodyPr wrap="square" lIns="0" tIns="0" rIns="0" bIns="0" rtlCol="0" anchor="t"/>
          <a:lstStyle/>
          <a:p>
            <a:pPr indent="0" marL="0">
              <a:buNone/>
            </a:pPr>
            <a:r>
              <a:rPr lang="en-US" sz="1450" b="1" dirty="0">
                <a:solidFill>
                  <a:srgbClr val="0F172A"/>
                </a:solidFill>
                <a:latin typeface="Cambria" pitchFamily="34" charset="0"/>
                <a:ea typeface="Cambria" pitchFamily="34" charset="-122"/>
                <a:cs typeface="Cambria" pitchFamily="34" charset="-120"/>
              </a:rPr>
              <a:t>For the company</a:t>
            </a:r>
            <a:endParaRPr lang="en-US" sz="1450" dirty="0"/>
          </a:p>
        </p:txBody>
      </p:sp>
      <p:sp>
        <p:nvSpPr>
          <p:cNvPr id="30" name="Text 23"/>
          <p:cNvSpPr/>
          <p:nvPr/>
        </p:nvSpPr>
        <p:spPr>
          <a:xfrm>
            <a:off x="4626864" y="5285232"/>
            <a:ext cx="3145536" cy="594360"/>
          </a:xfrm>
          <a:prstGeom prst="rect">
            <a:avLst/>
          </a:prstGeom>
          <a:noFill/>
          <a:ln/>
        </p:spPr>
        <p:txBody>
          <a:bodyPr wrap="square" lIns="0" tIns="0" rIns="0" bIns="0" rtlCol="0" anchor="t"/>
          <a:lstStyle/>
          <a:p>
            <a:pPr indent="0" marL="0">
              <a:buNone/>
            </a:pPr>
            <a:r>
              <a:rPr lang="en-US" sz="1180" dirty="0">
                <a:solidFill>
                  <a:srgbClr val="64748B"/>
                </a:solidFill>
                <a:latin typeface="Calibri" pitchFamily="34" charset="0"/>
                <a:ea typeface="Calibri" pitchFamily="34" charset="-122"/>
                <a:cs typeface="Calibri" pitchFamily="34" charset="-120"/>
              </a:rPr>
              <a:t>One consistent record instead of fragmented information.</a:t>
            </a:r>
            <a:endParaRPr lang="en-US" sz="1180" dirty="0"/>
          </a:p>
        </p:txBody>
      </p:sp>
      <p:sp>
        <p:nvSpPr>
          <p:cNvPr id="31" name="Text 24"/>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32" name="Text 25"/>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THE BIGGER VISION</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Orbit is not just a leave application</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The beta is the starting point — the long-term objective is the central employee workspace.</a:t>
            </a:r>
            <a:endParaRPr lang="en-US" sz="1400" dirty="0"/>
          </a:p>
        </p:txBody>
      </p:sp>
      <p:sp>
        <p:nvSpPr>
          <p:cNvPr id="5" name="Shape 3"/>
          <p:cNvSpPr/>
          <p:nvPr/>
        </p:nvSpPr>
        <p:spPr>
          <a:xfrm>
            <a:off x="11341303" y="585216"/>
            <a:ext cx="146304" cy="146304"/>
          </a:xfrm>
          <a:prstGeom prst="diamond">
            <a:avLst/>
          </a:prstGeom>
          <a:solidFill>
            <a:srgbClr val="818CF8"/>
          </a:solidFill>
          <a:ln/>
        </p:spPr>
      </p:sp>
      <p:sp>
        <p:nvSpPr>
          <p:cNvPr id="6" name="Shape 4"/>
          <p:cNvSpPr/>
          <p:nvPr/>
        </p:nvSpPr>
        <p:spPr>
          <a:xfrm>
            <a:off x="548640" y="1783080"/>
            <a:ext cx="3657600" cy="1783080"/>
          </a:xfrm>
          <a:prstGeom prst="roundRect">
            <a:avLst>
              <a:gd name="adj" fmla="val 5128"/>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7" name="Shape 5"/>
          <p:cNvSpPr/>
          <p:nvPr/>
        </p:nvSpPr>
        <p:spPr>
          <a:xfrm>
            <a:off x="804672" y="2002536"/>
            <a:ext cx="420624" cy="420624"/>
          </a:xfrm>
          <a:prstGeom prst="roundRect">
            <a:avLst>
              <a:gd name="adj" fmla="val 19565"/>
            </a:avLst>
          </a:prstGeom>
          <a:solidFill>
            <a:srgbClr val="EEF2FF"/>
          </a:solidFill>
          <a:ln/>
        </p:spPr>
      </p:sp>
      <p:pic>
        <p:nvPicPr>
          <p:cNvPr id="8" name="Image 0" descr="preencoded.png">    </p:cNvPr>
          <p:cNvPicPr>
            <a:picLocks noChangeAspect="1"/>
          </p:cNvPicPr>
          <p:nvPr/>
        </p:nvPicPr>
        <p:blipFill>
          <a:blip r:embed="rId1"/>
          <a:stretch>
            <a:fillRect/>
          </a:stretch>
        </p:blipFill>
        <p:spPr>
          <a:xfrm>
            <a:off x="897209" y="2095073"/>
            <a:ext cx="235549" cy="235549"/>
          </a:xfrm>
          <a:prstGeom prst="rect">
            <a:avLst/>
          </a:prstGeom>
        </p:spPr>
      </p:pic>
      <p:sp>
        <p:nvSpPr>
          <p:cNvPr id="9" name="Text 6"/>
          <p:cNvSpPr/>
          <p:nvPr/>
        </p:nvSpPr>
        <p:spPr>
          <a:xfrm>
            <a:off x="1353312" y="2029968"/>
            <a:ext cx="2697480" cy="384048"/>
          </a:xfrm>
          <a:prstGeom prst="rect">
            <a:avLst/>
          </a:prstGeom>
          <a:noFill/>
          <a:ln/>
        </p:spPr>
        <p:txBody>
          <a:bodyPr wrap="square" lIns="0" tIns="0" rIns="0" bIns="0" rtlCol="0" anchor="ctr"/>
          <a:lstStyle/>
          <a:p>
            <a:pPr indent="0" marL="0">
              <a:buNone/>
            </a:pPr>
            <a:r>
              <a:rPr lang="en-US" sz="1380" b="1" dirty="0">
                <a:solidFill>
                  <a:srgbClr val="0F172A"/>
                </a:solidFill>
                <a:latin typeface="Cambria" pitchFamily="34" charset="0"/>
                <a:ea typeface="Cambria" pitchFamily="34" charset="-122"/>
                <a:cs typeface="Cambria" pitchFamily="34" charset="-120"/>
              </a:rPr>
              <a:t>Salary &amp; Compensation</a:t>
            </a:r>
            <a:endParaRPr lang="en-US" sz="1380" dirty="0"/>
          </a:p>
        </p:txBody>
      </p:sp>
      <p:sp>
        <p:nvSpPr>
          <p:cNvPr id="10" name="Text 7"/>
          <p:cNvSpPr/>
          <p:nvPr/>
        </p:nvSpPr>
        <p:spPr>
          <a:xfrm>
            <a:off x="804672" y="2532888"/>
            <a:ext cx="3145536" cy="914400"/>
          </a:xfrm>
          <a:prstGeom prst="rect">
            <a:avLst/>
          </a:prstGeom>
          <a:noFill/>
          <a:ln/>
        </p:spPr>
        <p:txBody>
          <a:bodyPr wrap="square" lIns="0" tIns="0" rIns="0" bIns="0" rtlCol="0" anchor="t"/>
          <a:lstStyle/>
          <a:p>
            <a:pPr indent="0" marL="0">
              <a:buNone/>
            </a:pPr>
            <a:r>
              <a:rPr lang="en-US" sz="1120" dirty="0">
                <a:solidFill>
                  <a:srgbClr val="64748B"/>
                </a:solidFill>
                <a:latin typeface="Calibri" pitchFamily="34" charset="0"/>
                <a:ea typeface="Calibri" pitchFamily="34" charset="-122"/>
                <a:cs typeface="Calibri" pitchFamily="34" charset="-120"/>
              </a:rPr>
              <a:t>Relevant salary and compensation information.</a:t>
            </a:r>
            <a:endParaRPr lang="en-US" sz="1120" dirty="0"/>
          </a:p>
        </p:txBody>
      </p:sp>
      <p:sp>
        <p:nvSpPr>
          <p:cNvPr id="11" name="Shape 8"/>
          <p:cNvSpPr/>
          <p:nvPr/>
        </p:nvSpPr>
        <p:spPr>
          <a:xfrm>
            <a:off x="4370832" y="1783080"/>
            <a:ext cx="3657600" cy="1783080"/>
          </a:xfrm>
          <a:prstGeom prst="roundRect">
            <a:avLst>
              <a:gd name="adj" fmla="val 5128"/>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2" name="Shape 9"/>
          <p:cNvSpPr/>
          <p:nvPr/>
        </p:nvSpPr>
        <p:spPr>
          <a:xfrm>
            <a:off x="4626864" y="2002536"/>
            <a:ext cx="420624" cy="420624"/>
          </a:xfrm>
          <a:prstGeom prst="roundRect">
            <a:avLst>
              <a:gd name="adj" fmla="val 19565"/>
            </a:avLst>
          </a:prstGeom>
          <a:solidFill>
            <a:srgbClr val="EEF2FF"/>
          </a:solidFill>
          <a:ln/>
        </p:spPr>
      </p:sp>
      <p:pic>
        <p:nvPicPr>
          <p:cNvPr id="13" name="Image 1" descr="preencoded.png">    </p:cNvPr>
          <p:cNvPicPr>
            <a:picLocks noChangeAspect="1"/>
          </p:cNvPicPr>
          <p:nvPr/>
        </p:nvPicPr>
        <p:blipFill>
          <a:blip r:embed="rId2"/>
          <a:stretch>
            <a:fillRect/>
          </a:stretch>
        </p:blipFill>
        <p:spPr>
          <a:xfrm>
            <a:off x="4719401" y="2095073"/>
            <a:ext cx="235549" cy="235549"/>
          </a:xfrm>
          <a:prstGeom prst="rect">
            <a:avLst/>
          </a:prstGeom>
        </p:spPr>
      </p:pic>
      <p:sp>
        <p:nvSpPr>
          <p:cNvPr id="14" name="Text 10"/>
          <p:cNvSpPr/>
          <p:nvPr/>
        </p:nvSpPr>
        <p:spPr>
          <a:xfrm>
            <a:off x="5175504" y="2029968"/>
            <a:ext cx="2697480" cy="384048"/>
          </a:xfrm>
          <a:prstGeom prst="rect">
            <a:avLst/>
          </a:prstGeom>
          <a:noFill/>
          <a:ln/>
        </p:spPr>
        <p:txBody>
          <a:bodyPr wrap="square" lIns="0" tIns="0" rIns="0" bIns="0" rtlCol="0" anchor="ctr"/>
          <a:lstStyle/>
          <a:p>
            <a:pPr indent="0" marL="0">
              <a:buNone/>
            </a:pPr>
            <a:r>
              <a:rPr lang="en-US" sz="1380" b="1" dirty="0">
                <a:solidFill>
                  <a:srgbClr val="0F172A"/>
                </a:solidFill>
                <a:latin typeface="Cambria" pitchFamily="34" charset="0"/>
                <a:ea typeface="Cambria" pitchFamily="34" charset="-122"/>
                <a:cs typeface="Cambria" pitchFamily="34" charset="-120"/>
              </a:rPr>
              <a:t>Contracts</a:t>
            </a:r>
            <a:endParaRPr lang="en-US" sz="1380" dirty="0"/>
          </a:p>
        </p:txBody>
      </p:sp>
      <p:sp>
        <p:nvSpPr>
          <p:cNvPr id="15" name="Text 11"/>
          <p:cNvSpPr/>
          <p:nvPr/>
        </p:nvSpPr>
        <p:spPr>
          <a:xfrm>
            <a:off x="4626864" y="2532888"/>
            <a:ext cx="3145536" cy="914400"/>
          </a:xfrm>
          <a:prstGeom prst="rect">
            <a:avLst/>
          </a:prstGeom>
          <a:noFill/>
          <a:ln/>
        </p:spPr>
        <p:txBody>
          <a:bodyPr wrap="square" lIns="0" tIns="0" rIns="0" bIns="0" rtlCol="0" anchor="t"/>
          <a:lstStyle/>
          <a:p>
            <a:pPr indent="0" marL="0">
              <a:buNone/>
            </a:pPr>
            <a:r>
              <a:rPr lang="en-US" sz="1120" dirty="0">
                <a:solidFill>
                  <a:srgbClr val="64748B"/>
                </a:solidFill>
                <a:latin typeface="Calibri" pitchFamily="34" charset="0"/>
                <a:ea typeface="Calibri" pitchFamily="34" charset="-122"/>
                <a:cs typeface="Calibri" pitchFamily="34" charset="-120"/>
              </a:rPr>
              <a:t>Employment agreements and related records.</a:t>
            </a:r>
            <a:endParaRPr lang="en-US" sz="1120" dirty="0"/>
          </a:p>
        </p:txBody>
      </p:sp>
      <p:sp>
        <p:nvSpPr>
          <p:cNvPr id="16" name="Shape 12"/>
          <p:cNvSpPr/>
          <p:nvPr/>
        </p:nvSpPr>
        <p:spPr>
          <a:xfrm>
            <a:off x="8193024" y="1783080"/>
            <a:ext cx="3657600" cy="1783080"/>
          </a:xfrm>
          <a:prstGeom prst="roundRect">
            <a:avLst>
              <a:gd name="adj" fmla="val 5128"/>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7" name="Shape 13"/>
          <p:cNvSpPr/>
          <p:nvPr/>
        </p:nvSpPr>
        <p:spPr>
          <a:xfrm>
            <a:off x="8449056" y="2002536"/>
            <a:ext cx="420624" cy="420624"/>
          </a:xfrm>
          <a:prstGeom prst="roundRect">
            <a:avLst>
              <a:gd name="adj" fmla="val 19565"/>
            </a:avLst>
          </a:prstGeom>
          <a:solidFill>
            <a:srgbClr val="EEF2FF"/>
          </a:solidFill>
          <a:ln/>
        </p:spPr>
      </p:sp>
      <p:pic>
        <p:nvPicPr>
          <p:cNvPr id="18" name="Image 2" descr="preencoded.png">    </p:cNvPr>
          <p:cNvPicPr>
            <a:picLocks noChangeAspect="1"/>
          </p:cNvPicPr>
          <p:nvPr/>
        </p:nvPicPr>
        <p:blipFill>
          <a:blip r:embed="rId3"/>
          <a:stretch>
            <a:fillRect/>
          </a:stretch>
        </p:blipFill>
        <p:spPr>
          <a:xfrm>
            <a:off x="8541593" y="2095073"/>
            <a:ext cx="235549" cy="235549"/>
          </a:xfrm>
          <a:prstGeom prst="rect">
            <a:avLst/>
          </a:prstGeom>
        </p:spPr>
      </p:pic>
      <p:sp>
        <p:nvSpPr>
          <p:cNvPr id="19" name="Text 14"/>
          <p:cNvSpPr/>
          <p:nvPr/>
        </p:nvSpPr>
        <p:spPr>
          <a:xfrm>
            <a:off x="8997696" y="2029968"/>
            <a:ext cx="2697480" cy="384048"/>
          </a:xfrm>
          <a:prstGeom prst="rect">
            <a:avLst/>
          </a:prstGeom>
          <a:noFill/>
          <a:ln/>
        </p:spPr>
        <p:txBody>
          <a:bodyPr wrap="square" lIns="0" tIns="0" rIns="0" bIns="0" rtlCol="0" anchor="ctr"/>
          <a:lstStyle/>
          <a:p>
            <a:pPr indent="0" marL="0">
              <a:buNone/>
            </a:pPr>
            <a:r>
              <a:rPr lang="en-US" sz="1380" b="1" dirty="0">
                <a:solidFill>
                  <a:srgbClr val="0F172A"/>
                </a:solidFill>
                <a:latin typeface="Cambria" pitchFamily="34" charset="0"/>
                <a:ea typeface="Cambria" pitchFamily="34" charset="-122"/>
                <a:cs typeface="Cambria" pitchFamily="34" charset="-120"/>
              </a:rPr>
              <a:t>Documents</a:t>
            </a:r>
            <a:endParaRPr lang="en-US" sz="1380" dirty="0"/>
          </a:p>
        </p:txBody>
      </p:sp>
      <p:sp>
        <p:nvSpPr>
          <p:cNvPr id="20" name="Text 15"/>
          <p:cNvSpPr/>
          <p:nvPr/>
        </p:nvSpPr>
        <p:spPr>
          <a:xfrm>
            <a:off x="8449056" y="2532888"/>
            <a:ext cx="3145536" cy="914400"/>
          </a:xfrm>
          <a:prstGeom prst="rect">
            <a:avLst/>
          </a:prstGeom>
          <a:noFill/>
          <a:ln/>
        </p:spPr>
        <p:txBody>
          <a:bodyPr wrap="square" lIns="0" tIns="0" rIns="0" bIns="0" rtlCol="0" anchor="t"/>
          <a:lstStyle/>
          <a:p>
            <a:pPr indent="0" marL="0">
              <a:buNone/>
            </a:pPr>
            <a:r>
              <a:rPr lang="en-US" sz="1120" dirty="0">
                <a:solidFill>
                  <a:srgbClr val="64748B"/>
                </a:solidFill>
                <a:latin typeface="Calibri" pitchFamily="34" charset="0"/>
                <a:ea typeface="Calibri" pitchFamily="34" charset="-122"/>
                <a:cs typeface="Calibri" pitchFamily="34" charset="-120"/>
              </a:rPr>
              <a:t>Employee and company HR documents.</a:t>
            </a:r>
            <a:endParaRPr lang="en-US" sz="1120" dirty="0"/>
          </a:p>
        </p:txBody>
      </p:sp>
      <p:sp>
        <p:nvSpPr>
          <p:cNvPr id="21" name="Shape 16"/>
          <p:cNvSpPr/>
          <p:nvPr/>
        </p:nvSpPr>
        <p:spPr>
          <a:xfrm>
            <a:off x="548640" y="3785616"/>
            <a:ext cx="3657600" cy="1783080"/>
          </a:xfrm>
          <a:prstGeom prst="roundRect">
            <a:avLst>
              <a:gd name="adj" fmla="val 5128"/>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2" name="Shape 17"/>
          <p:cNvSpPr/>
          <p:nvPr/>
        </p:nvSpPr>
        <p:spPr>
          <a:xfrm>
            <a:off x="804672" y="4005072"/>
            <a:ext cx="420624" cy="420624"/>
          </a:xfrm>
          <a:prstGeom prst="roundRect">
            <a:avLst>
              <a:gd name="adj" fmla="val 19565"/>
            </a:avLst>
          </a:prstGeom>
          <a:solidFill>
            <a:srgbClr val="EEF2FF"/>
          </a:solidFill>
          <a:ln/>
        </p:spPr>
      </p:sp>
      <p:pic>
        <p:nvPicPr>
          <p:cNvPr id="23" name="Image 3" descr="preencoded.png">    </p:cNvPr>
          <p:cNvPicPr>
            <a:picLocks noChangeAspect="1"/>
          </p:cNvPicPr>
          <p:nvPr/>
        </p:nvPicPr>
        <p:blipFill>
          <a:blip r:embed="rId4"/>
          <a:stretch>
            <a:fillRect/>
          </a:stretch>
        </p:blipFill>
        <p:spPr>
          <a:xfrm>
            <a:off x="897209" y="4097609"/>
            <a:ext cx="235549" cy="235549"/>
          </a:xfrm>
          <a:prstGeom prst="rect">
            <a:avLst/>
          </a:prstGeom>
        </p:spPr>
      </p:pic>
      <p:sp>
        <p:nvSpPr>
          <p:cNvPr id="24" name="Text 18"/>
          <p:cNvSpPr/>
          <p:nvPr/>
        </p:nvSpPr>
        <p:spPr>
          <a:xfrm>
            <a:off x="1353312" y="4032504"/>
            <a:ext cx="2697480" cy="384048"/>
          </a:xfrm>
          <a:prstGeom prst="rect">
            <a:avLst/>
          </a:prstGeom>
          <a:noFill/>
          <a:ln/>
        </p:spPr>
        <p:txBody>
          <a:bodyPr wrap="square" lIns="0" tIns="0" rIns="0" bIns="0" rtlCol="0" anchor="ctr"/>
          <a:lstStyle/>
          <a:p>
            <a:pPr indent="0" marL="0">
              <a:buNone/>
            </a:pPr>
            <a:r>
              <a:rPr lang="en-US" sz="1380" b="1" dirty="0">
                <a:solidFill>
                  <a:srgbClr val="0F172A"/>
                </a:solidFill>
                <a:latin typeface="Cambria" pitchFamily="34" charset="0"/>
                <a:ea typeface="Cambria" pitchFamily="34" charset="-122"/>
                <a:cs typeface="Cambria" pitchFamily="34" charset="-120"/>
              </a:rPr>
              <a:t>Policies &amp; Rules</a:t>
            </a:r>
            <a:endParaRPr lang="en-US" sz="1380" dirty="0"/>
          </a:p>
        </p:txBody>
      </p:sp>
      <p:sp>
        <p:nvSpPr>
          <p:cNvPr id="25" name="Text 19"/>
          <p:cNvSpPr/>
          <p:nvPr/>
        </p:nvSpPr>
        <p:spPr>
          <a:xfrm>
            <a:off x="804672" y="4535424"/>
            <a:ext cx="3145536" cy="914400"/>
          </a:xfrm>
          <a:prstGeom prst="rect">
            <a:avLst/>
          </a:prstGeom>
          <a:noFill/>
          <a:ln/>
        </p:spPr>
        <p:txBody>
          <a:bodyPr wrap="square" lIns="0" tIns="0" rIns="0" bIns="0" rtlCol="0" anchor="t"/>
          <a:lstStyle/>
          <a:p>
            <a:pPr indent="0" marL="0">
              <a:buNone/>
            </a:pPr>
            <a:r>
              <a:rPr lang="en-US" sz="1120" dirty="0">
                <a:solidFill>
                  <a:srgbClr val="64748B"/>
                </a:solidFill>
                <a:latin typeface="Calibri" pitchFamily="34" charset="0"/>
                <a:ea typeface="Calibri" pitchFamily="34" charset="-122"/>
                <a:cs typeface="Calibri" pitchFamily="34" charset="-120"/>
              </a:rPr>
              <a:t>A clear place to access relevant company policies.</a:t>
            </a:r>
            <a:endParaRPr lang="en-US" sz="1120" dirty="0"/>
          </a:p>
        </p:txBody>
      </p:sp>
      <p:sp>
        <p:nvSpPr>
          <p:cNvPr id="26" name="Shape 20"/>
          <p:cNvSpPr/>
          <p:nvPr/>
        </p:nvSpPr>
        <p:spPr>
          <a:xfrm>
            <a:off x="4370832" y="3785616"/>
            <a:ext cx="3657600" cy="1783080"/>
          </a:xfrm>
          <a:prstGeom prst="roundRect">
            <a:avLst>
              <a:gd name="adj" fmla="val 5128"/>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7" name="Shape 21"/>
          <p:cNvSpPr/>
          <p:nvPr/>
        </p:nvSpPr>
        <p:spPr>
          <a:xfrm>
            <a:off x="4626864" y="4005072"/>
            <a:ext cx="420624" cy="420624"/>
          </a:xfrm>
          <a:prstGeom prst="roundRect">
            <a:avLst>
              <a:gd name="adj" fmla="val 19565"/>
            </a:avLst>
          </a:prstGeom>
          <a:solidFill>
            <a:srgbClr val="EEF2FF"/>
          </a:solidFill>
          <a:ln/>
        </p:spPr>
      </p:sp>
      <p:pic>
        <p:nvPicPr>
          <p:cNvPr id="28" name="Image 4" descr="preencoded.png">    </p:cNvPr>
          <p:cNvPicPr>
            <a:picLocks noChangeAspect="1"/>
          </p:cNvPicPr>
          <p:nvPr/>
        </p:nvPicPr>
        <p:blipFill>
          <a:blip r:embed="rId5"/>
          <a:stretch>
            <a:fillRect/>
          </a:stretch>
        </p:blipFill>
        <p:spPr>
          <a:xfrm>
            <a:off x="4719401" y="4097609"/>
            <a:ext cx="235549" cy="235549"/>
          </a:xfrm>
          <a:prstGeom prst="rect">
            <a:avLst/>
          </a:prstGeom>
        </p:spPr>
      </p:pic>
      <p:sp>
        <p:nvSpPr>
          <p:cNvPr id="29" name="Text 22"/>
          <p:cNvSpPr/>
          <p:nvPr/>
        </p:nvSpPr>
        <p:spPr>
          <a:xfrm>
            <a:off x="5175504" y="4032504"/>
            <a:ext cx="2697480" cy="384048"/>
          </a:xfrm>
          <a:prstGeom prst="rect">
            <a:avLst/>
          </a:prstGeom>
          <a:noFill/>
          <a:ln/>
        </p:spPr>
        <p:txBody>
          <a:bodyPr wrap="square" lIns="0" tIns="0" rIns="0" bIns="0" rtlCol="0" anchor="ctr"/>
          <a:lstStyle/>
          <a:p>
            <a:pPr indent="0" marL="0">
              <a:buNone/>
            </a:pPr>
            <a:r>
              <a:rPr lang="en-US" sz="1380" b="1" dirty="0">
                <a:solidFill>
                  <a:srgbClr val="0F172A"/>
                </a:solidFill>
                <a:latin typeface="Cambria" pitchFamily="34" charset="0"/>
                <a:ea typeface="Cambria" pitchFamily="34" charset="-122"/>
                <a:cs typeface="Cambria" pitchFamily="34" charset="-120"/>
              </a:rPr>
              <a:t>HR Requests / Tickets</a:t>
            </a:r>
            <a:endParaRPr lang="en-US" sz="1380" dirty="0"/>
          </a:p>
        </p:txBody>
      </p:sp>
      <p:sp>
        <p:nvSpPr>
          <p:cNvPr id="30" name="Text 23"/>
          <p:cNvSpPr/>
          <p:nvPr/>
        </p:nvSpPr>
        <p:spPr>
          <a:xfrm>
            <a:off x="4626864" y="4535424"/>
            <a:ext cx="3145536" cy="914400"/>
          </a:xfrm>
          <a:prstGeom prst="rect">
            <a:avLst/>
          </a:prstGeom>
          <a:noFill/>
          <a:ln/>
        </p:spPr>
        <p:txBody>
          <a:bodyPr wrap="square" lIns="0" tIns="0" rIns="0" bIns="0" rtlCol="0" anchor="t"/>
          <a:lstStyle/>
          <a:p>
            <a:pPr indent="0" marL="0">
              <a:buNone/>
            </a:pPr>
            <a:r>
              <a:rPr lang="en-US" sz="1120" dirty="0">
                <a:solidFill>
                  <a:srgbClr val="64748B"/>
                </a:solidFill>
                <a:latin typeface="Calibri" pitchFamily="34" charset="0"/>
                <a:ea typeface="Calibri" pitchFamily="34" charset="-122"/>
                <a:cs typeface="Calibri" pitchFamily="34" charset="-120"/>
              </a:rPr>
              <a:t>Structured requests to HR instead of scattered messages.</a:t>
            </a:r>
            <a:endParaRPr lang="en-US" sz="1120" dirty="0"/>
          </a:p>
        </p:txBody>
      </p:sp>
      <p:sp>
        <p:nvSpPr>
          <p:cNvPr id="31" name="Shape 24"/>
          <p:cNvSpPr/>
          <p:nvPr/>
        </p:nvSpPr>
        <p:spPr>
          <a:xfrm>
            <a:off x="8193024" y="3785616"/>
            <a:ext cx="3657600" cy="1783080"/>
          </a:xfrm>
          <a:prstGeom prst="roundRect">
            <a:avLst>
              <a:gd name="adj" fmla="val 5128"/>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32" name="Shape 25"/>
          <p:cNvSpPr/>
          <p:nvPr/>
        </p:nvSpPr>
        <p:spPr>
          <a:xfrm>
            <a:off x="8449056" y="4005072"/>
            <a:ext cx="420624" cy="420624"/>
          </a:xfrm>
          <a:prstGeom prst="roundRect">
            <a:avLst>
              <a:gd name="adj" fmla="val 19565"/>
            </a:avLst>
          </a:prstGeom>
          <a:solidFill>
            <a:srgbClr val="EEF2FF"/>
          </a:solidFill>
          <a:ln/>
        </p:spPr>
      </p:sp>
      <p:pic>
        <p:nvPicPr>
          <p:cNvPr id="33" name="Image 5" descr="preencoded.png">    </p:cNvPr>
          <p:cNvPicPr>
            <a:picLocks noChangeAspect="1"/>
          </p:cNvPicPr>
          <p:nvPr/>
        </p:nvPicPr>
        <p:blipFill>
          <a:blip r:embed="rId6"/>
          <a:stretch>
            <a:fillRect/>
          </a:stretch>
        </p:blipFill>
        <p:spPr>
          <a:xfrm>
            <a:off x="8541593" y="4097609"/>
            <a:ext cx="235549" cy="235549"/>
          </a:xfrm>
          <a:prstGeom prst="rect">
            <a:avLst/>
          </a:prstGeom>
        </p:spPr>
      </p:pic>
      <p:sp>
        <p:nvSpPr>
          <p:cNvPr id="34" name="Text 26"/>
          <p:cNvSpPr/>
          <p:nvPr/>
        </p:nvSpPr>
        <p:spPr>
          <a:xfrm>
            <a:off x="8997696" y="4032504"/>
            <a:ext cx="2697480" cy="384048"/>
          </a:xfrm>
          <a:prstGeom prst="rect">
            <a:avLst/>
          </a:prstGeom>
          <a:noFill/>
          <a:ln/>
        </p:spPr>
        <p:txBody>
          <a:bodyPr wrap="square" lIns="0" tIns="0" rIns="0" bIns="0" rtlCol="0" anchor="ctr"/>
          <a:lstStyle/>
          <a:p>
            <a:pPr indent="0" marL="0">
              <a:buNone/>
            </a:pPr>
            <a:r>
              <a:rPr lang="en-US" sz="1380" b="1" dirty="0">
                <a:solidFill>
                  <a:srgbClr val="0F172A"/>
                </a:solidFill>
                <a:latin typeface="Cambria" pitchFamily="34" charset="0"/>
                <a:ea typeface="Cambria" pitchFamily="34" charset="-122"/>
                <a:cs typeface="Cambria" pitchFamily="34" charset="-120"/>
              </a:rPr>
              <a:t>Employee Administration</a:t>
            </a:r>
            <a:endParaRPr lang="en-US" sz="1380" dirty="0"/>
          </a:p>
        </p:txBody>
      </p:sp>
      <p:sp>
        <p:nvSpPr>
          <p:cNvPr id="35" name="Text 27"/>
          <p:cNvSpPr/>
          <p:nvPr/>
        </p:nvSpPr>
        <p:spPr>
          <a:xfrm>
            <a:off x="8449056" y="4535424"/>
            <a:ext cx="3145536" cy="914400"/>
          </a:xfrm>
          <a:prstGeom prst="rect">
            <a:avLst/>
          </a:prstGeom>
          <a:noFill/>
          <a:ln/>
        </p:spPr>
        <p:txBody>
          <a:bodyPr wrap="square" lIns="0" tIns="0" rIns="0" bIns="0" rtlCol="0" anchor="t"/>
          <a:lstStyle/>
          <a:p>
            <a:pPr indent="0" marL="0">
              <a:buNone/>
            </a:pPr>
            <a:r>
              <a:rPr lang="en-US" sz="1120" dirty="0">
                <a:solidFill>
                  <a:srgbClr val="64748B"/>
                </a:solidFill>
                <a:latin typeface="Calibri" pitchFamily="34" charset="0"/>
                <a:ea typeface="Calibri" pitchFamily="34" charset="-122"/>
                <a:cs typeface="Calibri" pitchFamily="34" charset="-120"/>
              </a:rPr>
              <a:t>The everyday processes employees and managers need throughout the employment lifecycle.</a:t>
            </a:r>
            <a:endParaRPr lang="en-US" sz="1120" dirty="0"/>
          </a:p>
        </p:txBody>
      </p:sp>
      <p:sp>
        <p:nvSpPr>
          <p:cNvPr id="36" name="Shape 28"/>
          <p:cNvSpPr/>
          <p:nvPr/>
        </p:nvSpPr>
        <p:spPr>
          <a:xfrm>
            <a:off x="548640" y="5742432"/>
            <a:ext cx="11064240" cy="566928"/>
          </a:xfrm>
          <a:prstGeom prst="roundRect">
            <a:avLst>
              <a:gd name="adj" fmla="val 16129"/>
            </a:avLst>
          </a:prstGeom>
          <a:solidFill>
            <a:srgbClr val="0F172A"/>
          </a:solidFill>
          <a:ln w="12700">
            <a:solidFill>
              <a:srgbClr val="0F172A"/>
            </a:solidFill>
            <a:prstDash val="solid"/>
          </a:ln>
          <a:effectLst>
            <a:outerShdw sx="100000" sy="100000" kx="0" ky="0" algn="bl" rotWithShape="0" blurRad="76200" dist="12700" dir="5400000">
              <a:srgbClr val="94A3B8">
                <a:alpha val="18000"/>
              </a:srgbClr>
            </a:outerShdw>
          </a:effectLst>
        </p:spPr>
      </p:sp>
      <p:sp>
        <p:nvSpPr>
          <p:cNvPr id="37" name="Text 29"/>
          <p:cNvSpPr/>
          <p:nvPr/>
        </p:nvSpPr>
        <p:spPr>
          <a:xfrm>
            <a:off x="914400" y="5742432"/>
            <a:ext cx="10332720"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One employee.  One workspace.  One reliable source.</a:t>
            </a:r>
            <a:endParaRPr lang="en-US" sz="1500" dirty="0"/>
          </a:p>
        </p:txBody>
      </p:sp>
      <p:sp>
        <p:nvSpPr>
          <p:cNvPr id="38" name="Text 30"/>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39" name="Text 31"/>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THE BIGGER VISION</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From HRMS to employee workspace</a:t>
            </a:r>
            <a:endParaRPr lang="en-US" sz="3000" dirty="0"/>
          </a:p>
        </p:txBody>
      </p:sp>
      <p:sp>
        <p:nvSpPr>
          <p:cNvPr id="4" name="Shape 2"/>
          <p:cNvSpPr/>
          <p:nvPr/>
        </p:nvSpPr>
        <p:spPr>
          <a:xfrm>
            <a:off x="11341303" y="585216"/>
            <a:ext cx="146304" cy="146304"/>
          </a:xfrm>
          <a:prstGeom prst="diamond">
            <a:avLst/>
          </a:prstGeom>
          <a:solidFill>
            <a:srgbClr val="818CF8"/>
          </a:solidFill>
          <a:ln/>
        </p:spPr>
      </p:sp>
      <p:sp>
        <p:nvSpPr>
          <p:cNvPr id="5" name="Shape 3"/>
          <p:cNvSpPr/>
          <p:nvPr/>
        </p:nvSpPr>
        <p:spPr>
          <a:xfrm>
            <a:off x="548640" y="1691640"/>
            <a:ext cx="3611880" cy="3291840"/>
          </a:xfrm>
          <a:prstGeom prst="roundRect">
            <a:avLst>
              <a:gd name="adj" fmla="val 2778"/>
            </a:avLst>
          </a:prstGeom>
          <a:solidFill>
            <a:srgbClr val="EEF2FF"/>
          </a:solidFill>
          <a:ln w="12700">
            <a:solidFill>
              <a:srgbClr val="C7D2FE"/>
            </a:solidFill>
            <a:prstDash val="solid"/>
          </a:ln>
          <a:effectLst>
            <a:outerShdw sx="100000" sy="100000" kx="0" ky="0" algn="bl" rotWithShape="0" blurRad="76200" dist="12700" dir="5400000">
              <a:srgbClr val="94A3B8">
                <a:alpha val="18000"/>
              </a:srgbClr>
            </a:outerShdw>
          </a:effectLst>
        </p:spPr>
      </p:sp>
      <p:sp>
        <p:nvSpPr>
          <p:cNvPr id="6" name="Shape 4"/>
          <p:cNvSpPr/>
          <p:nvPr/>
        </p:nvSpPr>
        <p:spPr>
          <a:xfrm>
            <a:off x="822960" y="1965960"/>
            <a:ext cx="493776" cy="493776"/>
          </a:xfrm>
          <a:prstGeom prst="roundRect">
            <a:avLst>
              <a:gd name="adj" fmla="val 16667"/>
            </a:avLst>
          </a:prstGeom>
          <a:solidFill>
            <a:srgbClr val="E0E7FF"/>
          </a:solidFill>
          <a:ln/>
        </p:spPr>
      </p:sp>
      <p:pic>
        <p:nvPicPr>
          <p:cNvPr id="7" name="Image 0" descr="preencoded.png">    </p:cNvPr>
          <p:cNvPicPr>
            <a:picLocks noChangeAspect="1"/>
          </p:cNvPicPr>
          <p:nvPr/>
        </p:nvPicPr>
        <p:blipFill>
          <a:blip r:embed="rId1"/>
          <a:stretch>
            <a:fillRect/>
          </a:stretch>
        </p:blipFill>
        <p:spPr>
          <a:xfrm>
            <a:off x="931591" y="2074591"/>
            <a:ext cx="276515" cy="276515"/>
          </a:xfrm>
          <a:prstGeom prst="rect">
            <a:avLst/>
          </a:prstGeom>
        </p:spPr>
      </p:pic>
      <p:sp>
        <p:nvSpPr>
          <p:cNvPr id="8" name="Text 5"/>
          <p:cNvSpPr/>
          <p:nvPr/>
        </p:nvSpPr>
        <p:spPr>
          <a:xfrm>
            <a:off x="1463040" y="2020824"/>
            <a:ext cx="2514600" cy="411480"/>
          </a:xfrm>
          <a:prstGeom prst="rect">
            <a:avLst/>
          </a:prstGeom>
          <a:noFill/>
          <a:ln/>
        </p:spPr>
        <p:txBody>
          <a:bodyPr wrap="square" lIns="0" tIns="0" rIns="0" bIns="0" rtlCol="0" anchor="ctr"/>
          <a:lstStyle/>
          <a:p>
            <a:pPr indent="0" marL="0">
              <a:buNone/>
            </a:pPr>
            <a:r>
              <a:rPr lang="en-US" sz="1900" b="1" dirty="0">
                <a:solidFill>
                  <a:srgbClr val="0F172A"/>
                </a:solidFill>
                <a:latin typeface="Cambria" pitchFamily="34" charset="0"/>
                <a:ea typeface="Cambria" pitchFamily="34" charset="-122"/>
                <a:cs typeface="Cambria" pitchFamily="34" charset="-120"/>
              </a:rPr>
              <a:t>Today</a:t>
            </a:r>
            <a:endParaRPr lang="en-US" sz="1900" dirty="0"/>
          </a:p>
        </p:txBody>
      </p:sp>
      <p:sp>
        <p:nvSpPr>
          <p:cNvPr id="9" name="Text 6"/>
          <p:cNvSpPr/>
          <p:nvPr/>
        </p:nvSpPr>
        <p:spPr>
          <a:xfrm>
            <a:off x="841248" y="2697480"/>
            <a:ext cx="3044952" cy="2103120"/>
          </a:xfrm>
          <a:prstGeom prst="rect">
            <a:avLst/>
          </a:prstGeom>
          <a:noFill/>
          <a:ln/>
        </p:spPr>
        <p:txBody>
          <a:bodyPr wrap="square" lIns="0" tIns="0" rIns="0" bIns="0" rtlCol="0" anchor="t"/>
          <a:lstStyle/>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Availability</a:t>
            </a:r>
            <a:endParaRPr lang="en-US" sz="1300" dirty="0"/>
          </a:p>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Calendar</a:t>
            </a:r>
            <a:endParaRPr lang="en-US" sz="1300" dirty="0"/>
          </a:p>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Leave</a:t>
            </a:r>
            <a:endParaRPr lang="en-US" sz="1300" dirty="0"/>
          </a:p>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Attendance</a:t>
            </a:r>
            <a:endParaRPr lang="en-US" sz="1300" dirty="0"/>
          </a:p>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Approvals</a:t>
            </a:r>
            <a:endParaRPr lang="en-US" sz="1300" dirty="0"/>
          </a:p>
        </p:txBody>
      </p:sp>
      <p:sp>
        <p:nvSpPr>
          <p:cNvPr id="10" name="Shape 7"/>
          <p:cNvSpPr/>
          <p:nvPr/>
        </p:nvSpPr>
        <p:spPr>
          <a:xfrm>
            <a:off x="4352544" y="1691640"/>
            <a:ext cx="3611880" cy="3291840"/>
          </a:xfrm>
          <a:prstGeom prst="roundRect">
            <a:avLst>
              <a:gd name="adj" fmla="val 2778"/>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1" name="Shape 8"/>
          <p:cNvSpPr/>
          <p:nvPr/>
        </p:nvSpPr>
        <p:spPr>
          <a:xfrm>
            <a:off x="4626864" y="1965960"/>
            <a:ext cx="493776" cy="493776"/>
          </a:xfrm>
          <a:prstGeom prst="roundRect">
            <a:avLst>
              <a:gd name="adj" fmla="val 16667"/>
            </a:avLst>
          </a:prstGeom>
          <a:solidFill>
            <a:srgbClr val="EEF2FF"/>
          </a:solidFill>
          <a:ln/>
        </p:spPr>
      </p:sp>
      <p:pic>
        <p:nvPicPr>
          <p:cNvPr id="12" name="Image 1" descr="preencoded.png">    </p:cNvPr>
          <p:cNvPicPr>
            <a:picLocks noChangeAspect="1"/>
          </p:cNvPicPr>
          <p:nvPr/>
        </p:nvPicPr>
        <p:blipFill>
          <a:blip r:embed="rId2"/>
          <a:stretch>
            <a:fillRect/>
          </a:stretch>
        </p:blipFill>
        <p:spPr>
          <a:xfrm>
            <a:off x="4735495" y="2074591"/>
            <a:ext cx="276515" cy="276515"/>
          </a:xfrm>
          <a:prstGeom prst="rect">
            <a:avLst/>
          </a:prstGeom>
        </p:spPr>
      </p:pic>
      <p:sp>
        <p:nvSpPr>
          <p:cNvPr id="13" name="Text 9"/>
          <p:cNvSpPr/>
          <p:nvPr/>
        </p:nvSpPr>
        <p:spPr>
          <a:xfrm>
            <a:off x="5266944" y="2020824"/>
            <a:ext cx="2514600" cy="411480"/>
          </a:xfrm>
          <a:prstGeom prst="rect">
            <a:avLst/>
          </a:prstGeom>
          <a:noFill/>
          <a:ln/>
        </p:spPr>
        <p:txBody>
          <a:bodyPr wrap="square" lIns="0" tIns="0" rIns="0" bIns="0" rtlCol="0" anchor="ctr"/>
          <a:lstStyle/>
          <a:p>
            <a:pPr indent="0" marL="0">
              <a:buNone/>
            </a:pPr>
            <a:r>
              <a:rPr lang="en-US" sz="1900" b="1" dirty="0">
                <a:solidFill>
                  <a:srgbClr val="0F172A"/>
                </a:solidFill>
                <a:latin typeface="Cambria" pitchFamily="34" charset="0"/>
                <a:ea typeface="Cambria" pitchFamily="34" charset="-122"/>
                <a:cs typeface="Cambria" pitchFamily="34" charset="-120"/>
              </a:rPr>
              <a:t>Next</a:t>
            </a:r>
            <a:endParaRPr lang="en-US" sz="1900" dirty="0"/>
          </a:p>
        </p:txBody>
      </p:sp>
      <p:sp>
        <p:nvSpPr>
          <p:cNvPr id="14" name="Text 10"/>
          <p:cNvSpPr/>
          <p:nvPr/>
        </p:nvSpPr>
        <p:spPr>
          <a:xfrm>
            <a:off x="4645152" y="2697480"/>
            <a:ext cx="3044952" cy="2103120"/>
          </a:xfrm>
          <a:prstGeom prst="rect">
            <a:avLst/>
          </a:prstGeom>
          <a:noFill/>
          <a:ln/>
        </p:spPr>
        <p:txBody>
          <a:bodyPr wrap="square" lIns="0" tIns="0" rIns="0" bIns="0" rtlCol="0" anchor="t"/>
          <a:lstStyle/>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Documents</a:t>
            </a:r>
            <a:endParaRPr lang="en-US" sz="1300" dirty="0"/>
          </a:p>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Policies</a:t>
            </a:r>
            <a:endParaRPr lang="en-US" sz="1300" dirty="0"/>
          </a:p>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Structured HR requests</a:t>
            </a:r>
            <a:endParaRPr lang="en-US" sz="1300" dirty="0"/>
          </a:p>
        </p:txBody>
      </p:sp>
      <p:sp>
        <p:nvSpPr>
          <p:cNvPr id="15" name="Shape 11"/>
          <p:cNvSpPr/>
          <p:nvPr/>
        </p:nvSpPr>
        <p:spPr>
          <a:xfrm>
            <a:off x="8156448" y="1691640"/>
            <a:ext cx="3611880" cy="3291840"/>
          </a:xfrm>
          <a:prstGeom prst="roundRect">
            <a:avLst>
              <a:gd name="adj" fmla="val 2778"/>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6" name="Shape 12"/>
          <p:cNvSpPr/>
          <p:nvPr/>
        </p:nvSpPr>
        <p:spPr>
          <a:xfrm>
            <a:off x="8430768" y="1965960"/>
            <a:ext cx="493776" cy="493776"/>
          </a:xfrm>
          <a:prstGeom prst="roundRect">
            <a:avLst>
              <a:gd name="adj" fmla="val 16667"/>
            </a:avLst>
          </a:prstGeom>
          <a:solidFill>
            <a:srgbClr val="EEF2FF"/>
          </a:solidFill>
          <a:ln/>
        </p:spPr>
      </p:sp>
      <p:pic>
        <p:nvPicPr>
          <p:cNvPr id="17" name="Image 2" descr="preencoded.png">    </p:cNvPr>
          <p:cNvPicPr>
            <a:picLocks noChangeAspect="1"/>
          </p:cNvPicPr>
          <p:nvPr/>
        </p:nvPicPr>
        <p:blipFill>
          <a:blip r:embed="rId3"/>
          <a:stretch>
            <a:fillRect/>
          </a:stretch>
        </p:blipFill>
        <p:spPr>
          <a:xfrm>
            <a:off x="8539399" y="2074591"/>
            <a:ext cx="276515" cy="276515"/>
          </a:xfrm>
          <a:prstGeom prst="rect">
            <a:avLst/>
          </a:prstGeom>
        </p:spPr>
      </p:pic>
      <p:sp>
        <p:nvSpPr>
          <p:cNvPr id="18" name="Text 13"/>
          <p:cNvSpPr/>
          <p:nvPr/>
        </p:nvSpPr>
        <p:spPr>
          <a:xfrm>
            <a:off x="9070848" y="2020824"/>
            <a:ext cx="2514600" cy="411480"/>
          </a:xfrm>
          <a:prstGeom prst="rect">
            <a:avLst/>
          </a:prstGeom>
          <a:noFill/>
          <a:ln/>
        </p:spPr>
        <p:txBody>
          <a:bodyPr wrap="square" lIns="0" tIns="0" rIns="0" bIns="0" rtlCol="0" anchor="ctr"/>
          <a:lstStyle/>
          <a:p>
            <a:pPr indent="0" marL="0">
              <a:buNone/>
            </a:pPr>
            <a:r>
              <a:rPr lang="en-US" sz="1900" b="1" dirty="0">
                <a:solidFill>
                  <a:srgbClr val="0F172A"/>
                </a:solidFill>
                <a:latin typeface="Cambria" pitchFamily="34" charset="0"/>
                <a:ea typeface="Cambria" pitchFamily="34" charset="-122"/>
                <a:cs typeface="Cambria" pitchFamily="34" charset="-120"/>
              </a:rPr>
              <a:t>Over time</a:t>
            </a:r>
            <a:endParaRPr lang="en-US" sz="1900" dirty="0"/>
          </a:p>
        </p:txBody>
      </p:sp>
      <p:sp>
        <p:nvSpPr>
          <p:cNvPr id="19" name="Text 14"/>
          <p:cNvSpPr/>
          <p:nvPr/>
        </p:nvSpPr>
        <p:spPr>
          <a:xfrm>
            <a:off x="8449056" y="2697480"/>
            <a:ext cx="3044952" cy="2103120"/>
          </a:xfrm>
          <a:prstGeom prst="rect">
            <a:avLst/>
          </a:prstGeom>
          <a:noFill/>
          <a:ln/>
        </p:spPr>
        <p:txBody>
          <a:bodyPr wrap="square" lIns="0" tIns="0" rIns="0" bIns="0" rtlCol="0" anchor="t"/>
          <a:lstStyle/>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Contracts</a:t>
            </a:r>
            <a:endParaRPr lang="en-US" sz="1300" dirty="0"/>
          </a:p>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Compensation</a:t>
            </a:r>
            <a:endParaRPr lang="en-US" sz="1300" dirty="0"/>
          </a:p>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Broader employee operations</a:t>
            </a:r>
            <a:endParaRPr lang="en-US" sz="1300" dirty="0"/>
          </a:p>
        </p:txBody>
      </p:sp>
      <p:sp>
        <p:nvSpPr>
          <p:cNvPr id="20" name="Shape 15"/>
          <p:cNvSpPr/>
          <p:nvPr/>
        </p:nvSpPr>
        <p:spPr>
          <a:xfrm>
            <a:off x="548640" y="5257800"/>
            <a:ext cx="11064240" cy="914400"/>
          </a:xfrm>
          <a:prstGeom prst="roundRect">
            <a:avLst>
              <a:gd name="adj" fmla="val 10000"/>
            </a:avLst>
          </a:prstGeom>
          <a:solidFill>
            <a:srgbClr val="EEF2FF"/>
          </a:solidFill>
          <a:ln w="12700">
            <a:solidFill>
              <a:srgbClr val="C7D2FE"/>
            </a:solidFill>
            <a:prstDash val="solid"/>
          </a:ln>
          <a:effectLst>
            <a:outerShdw sx="100000" sy="100000" kx="0" ky="0" algn="bl" rotWithShape="0" blurRad="76200" dist="12700" dir="5400000">
              <a:srgbClr val="94A3B8">
                <a:alpha val="18000"/>
              </a:srgbClr>
            </a:outerShdw>
          </a:effectLst>
        </p:spPr>
      </p:sp>
      <p:sp>
        <p:nvSpPr>
          <p:cNvPr id="21" name="Text 16"/>
          <p:cNvSpPr/>
          <p:nvPr/>
        </p:nvSpPr>
        <p:spPr>
          <a:xfrm>
            <a:off x="914400" y="5257800"/>
            <a:ext cx="10332720" cy="914400"/>
          </a:xfrm>
          <a:prstGeom prst="rect">
            <a:avLst/>
          </a:prstGeom>
          <a:noFill/>
          <a:ln/>
        </p:spPr>
        <p:txBody>
          <a:bodyPr wrap="square" lIns="0" tIns="0" rIns="0" bIns="0" rtlCol="0" anchor="ctr"/>
          <a:lstStyle/>
          <a:p>
            <a:pPr indent="0" marL="0">
              <a:spcAft>
                <a:spcPts val="600"/>
              </a:spcAft>
              <a:buNone/>
            </a:pPr>
            <a:r>
              <a:rPr lang="en-US" sz="1250" dirty="0">
                <a:solidFill>
                  <a:srgbClr val="0F172A"/>
                </a:solidFill>
                <a:latin typeface="Calibri" pitchFamily="34" charset="0"/>
                <a:ea typeface="Calibri" pitchFamily="34" charset="-122"/>
                <a:cs typeface="Calibri" pitchFamily="34" charset="-120"/>
              </a:rPr>
              <a:t>The objective is not to add features for the sake of having more features.
</a:t>
            </a:r>
            <a:endParaRPr lang="en-US" sz="1250" dirty="0"/>
          </a:p>
          <a:p>
            <a:pPr indent="0" marL="0">
              <a:spcAft>
                <a:spcPts val="600"/>
              </a:spcAft>
              <a:buNone/>
            </a:pPr>
            <a:r>
              <a:rPr lang="en-US" sz="1350" b="1" dirty="0">
                <a:solidFill>
                  <a:srgbClr val="4F46E5"/>
                </a:solidFill>
                <a:latin typeface="Calibri" pitchFamily="34" charset="0"/>
                <a:ea typeface="Calibri" pitchFamily="34" charset="-122"/>
                <a:cs typeface="Calibri" pitchFamily="34" charset="-120"/>
              </a:rPr>
              <a:t>Every new module should remove another fragmented process from the organization.</a:t>
            </a:r>
            <a:endParaRPr lang="en-US" sz="1250" dirty="0"/>
          </a:p>
        </p:txBody>
      </p:sp>
      <p:sp>
        <p:nvSpPr>
          <p:cNvPr id="22" name="Text 17"/>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23" name="Text 18"/>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BETA &amp; FEEDBACK</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This is a beta</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Orbit will improve through real usage.</a:t>
            </a:r>
            <a:endParaRPr lang="en-US" sz="1400" dirty="0"/>
          </a:p>
        </p:txBody>
      </p:sp>
      <p:sp>
        <p:nvSpPr>
          <p:cNvPr id="5" name="Shape 3"/>
          <p:cNvSpPr/>
          <p:nvPr/>
        </p:nvSpPr>
        <p:spPr>
          <a:xfrm>
            <a:off x="11341303" y="585216"/>
            <a:ext cx="146304" cy="146304"/>
          </a:xfrm>
          <a:prstGeom prst="diamond">
            <a:avLst/>
          </a:prstGeom>
          <a:solidFill>
            <a:srgbClr val="818CF8"/>
          </a:solidFill>
          <a:ln/>
        </p:spPr>
      </p:sp>
      <p:sp>
        <p:nvSpPr>
          <p:cNvPr id="6" name="Text 4"/>
          <p:cNvSpPr/>
          <p:nvPr/>
        </p:nvSpPr>
        <p:spPr>
          <a:xfrm>
            <a:off x="566928" y="1691640"/>
            <a:ext cx="10515600" cy="36576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The application is still in its first version. That means you may encounter:</a:t>
            </a:r>
            <a:endParaRPr lang="en-US" sz="1350" dirty="0"/>
          </a:p>
        </p:txBody>
      </p:sp>
      <p:sp>
        <p:nvSpPr>
          <p:cNvPr id="7" name="Shape 5"/>
          <p:cNvSpPr/>
          <p:nvPr/>
        </p:nvSpPr>
        <p:spPr>
          <a:xfrm>
            <a:off x="548640" y="2286000"/>
            <a:ext cx="5349240" cy="777240"/>
          </a:xfrm>
          <a:prstGeom prst="roundRect">
            <a:avLst>
              <a:gd name="adj" fmla="val 11765"/>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8" name="Shape 6"/>
          <p:cNvSpPr/>
          <p:nvPr/>
        </p:nvSpPr>
        <p:spPr>
          <a:xfrm>
            <a:off x="786384" y="2450592"/>
            <a:ext cx="438912" cy="438912"/>
          </a:xfrm>
          <a:prstGeom prst="roundRect">
            <a:avLst>
              <a:gd name="adj" fmla="val 18750"/>
            </a:avLst>
          </a:prstGeom>
          <a:solidFill>
            <a:srgbClr val="EEF2FF"/>
          </a:solidFill>
          <a:ln/>
        </p:spPr>
      </p:sp>
      <p:pic>
        <p:nvPicPr>
          <p:cNvPr id="9" name="Image 0" descr="preencoded.png">    </p:cNvPr>
          <p:cNvPicPr>
            <a:picLocks noChangeAspect="1"/>
          </p:cNvPicPr>
          <p:nvPr/>
        </p:nvPicPr>
        <p:blipFill>
          <a:blip r:embed="rId1"/>
          <a:stretch>
            <a:fillRect/>
          </a:stretch>
        </p:blipFill>
        <p:spPr>
          <a:xfrm>
            <a:off x="882945" y="2547153"/>
            <a:ext cx="245791" cy="245791"/>
          </a:xfrm>
          <a:prstGeom prst="rect">
            <a:avLst/>
          </a:prstGeom>
        </p:spPr>
      </p:pic>
      <p:sp>
        <p:nvSpPr>
          <p:cNvPr id="10" name="Text 7"/>
          <p:cNvSpPr/>
          <p:nvPr/>
        </p:nvSpPr>
        <p:spPr>
          <a:xfrm>
            <a:off x="1389888" y="2286000"/>
            <a:ext cx="4297680" cy="777240"/>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A technical bug</a:t>
            </a:r>
            <a:endParaRPr lang="en-US" sz="1350" dirty="0"/>
          </a:p>
        </p:txBody>
      </p:sp>
      <p:sp>
        <p:nvSpPr>
          <p:cNvPr id="11" name="Shape 8"/>
          <p:cNvSpPr/>
          <p:nvPr/>
        </p:nvSpPr>
        <p:spPr>
          <a:xfrm>
            <a:off x="6263640" y="2286000"/>
            <a:ext cx="5349240" cy="777240"/>
          </a:xfrm>
          <a:prstGeom prst="roundRect">
            <a:avLst>
              <a:gd name="adj" fmla="val 11765"/>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2" name="Shape 9"/>
          <p:cNvSpPr/>
          <p:nvPr/>
        </p:nvSpPr>
        <p:spPr>
          <a:xfrm>
            <a:off x="6501384" y="2450592"/>
            <a:ext cx="438912" cy="438912"/>
          </a:xfrm>
          <a:prstGeom prst="roundRect">
            <a:avLst>
              <a:gd name="adj" fmla="val 18750"/>
            </a:avLst>
          </a:prstGeom>
          <a:solidFill>
            <a:srgbClr val="EEF2FF"/>
          </a:solidFill>
          <a:ln/>
        </p:spPr>
      </p:sp>
      <p:pic>
        <p:nvPicPr>
          <p:cNvPr id="13" name="Image 1" descr="preencoded.png">    </p:cNvPr>
          <p:cNvPicPr>
            <a:picLocks noChangeAspect="1"/>
          </p:cNvPicPr>
          <p:nvPr/>
        </p:nvPicPr>
        <p:blipFill>
          <a:blip r:embed="rId2"/>
          <a:stretch>
            <a:fillRect/>
          </a:stretch>
        </p:blipFill>
        <p:spPr>
          <a:xfrm>
            <a:off x="6597945" y="2547153"/>
            <a:ext cx="245791" cy="245791"/>
          </a:xfrm>
          <a:prstGeom prst="rect">
            <a:avLst/>
          </a:prstGeom>
        </p:spPr>
      </p:pic>
      <p:sp>
        <p:nvSpPr>
          <p:cNvPr id="14" name="Text 10"/>
          <p:cNvSpPr/>
          <p:nvPr/>
        </p:nvSpPr>
        <p:spPr>
          <a:xfrm>
            <a:off x="7104888" y="2286000"/>
            <a:ext cx="4297680" cy="777240"/>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Something that does not behave as expected</a:t>
            </a:r>
            <a:endParaRPr lang="en-US" sz="1350" dirty="0"/>
          </a:p>
        </p:txBody>
      </p:sp>
      <p:sp>
        <p:nvSpPr>
          <p:cNvPr id="15" name="Shape 11"/>
          <p:cNvSpPr/>
          <p:nvPr/>
        </p:nvSpPr>
        <p:spPr>
          <a:xfrm>
            <a:off x="548640" y="3291840"/>
            <a:ext cx="5349240" cy="777240"/>
          </a:xfrm>
          <a:prstGeom prst="roundRect">
            <a:avLst>
              <a:gd name="adj" fmla="val 11765"/>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6" name="Shape 12"/>
          <p:cNvSpPr/>
          <p:nvPr/>
        </p:nvSpPr>
        <p:spPr>
          <a:xfrm>
            <a:off x="786384" y="3456432"/>
            <a:ext cx="438912" cy="438912"/>
          </a:xfrm>
          <a:prstGeom prst="roundRect">
            <a:avLst>
              <a:gd name="adj" fmla="val 18750"/>
            </a:avLst>
          </a:prstGeom>
          <a:solidFill>
            <a:srgbClr val="EEF2FF"/>
          </a:solidFill>
          <a:ln/>
        </p:spPr>
      </p:sp>
      <p:pic>
        <p:nvPicPr>
          <p:cNvPr id="17" name="Image 2" descr="preencoded.png">    </p:cNvPr>
          <p:cNvPicPr>
            <a:picLocks noChangeAspect="1"/>
          </p:cNvPicPr>
          <p:nvPr/>
        </p:nvPicPr>
        <p:blipFill>
          <a:blip r:embed="rId3"/>
          <a:stretch>
            <a:fillRect/>
          </a:stretch>
        </p:blipFill>
        <p:spPr>
          <a:xfrm>
            <a:off x="882945" y="3552993"/>
            <a:ext cx="245791" cy="245791"/>
          </a:xfrm>
          <a:prstGeom prst="rect">
            <a:avLst/>
          </a:prstGeom>
        </p:spPr>
      </p:pic>
      <p:sp>
        <p:nvSpPr>
          <p:cNvPr id="18" name="Text 13"/>
          <p:cNvSpPr/>
          <p:nvPr/>
        </p:nvSpPr>
        <p:spPr>
          <a:xfrm>
            <a:off x="1389888" y="3291840"/>
            <a:ext cx="4297680" cy="777240"/>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A workflow that can be improved</a:t>
            </a:r>
            <a:endParaRPr lang="en-US" sz="1350" dirty="0"/>
          </a:p>
        </p:txBody>
      </p:sp>
      <p:sp>
        <p:nvSpPr>
          <p:cNvPr id="19" name="Shape 14"/>
          <p:cNvSpPr/>
          <p:nvPr/>
        </p:nvSpPr>
        <p:spPr>
          <a:xfrm>
            <a:off x="6263640" y="3291840"/>
            <a:ext cx="5349240" cy="777240"/>
          </a:xfrm>
          <a:prstGeom prst="roundRect">
            <a:avLst>
              <a:gd name="adj" fmla="val 11765"/>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0" name="Shape 15"/>
          <p:cNvSpPr/>
          <p:nvPr/>
        </p:nvSpPr>
        <p:spPr>
          <a:xfrm>
            <a:off x="6501384" y="3456432"/>
            <a:ext cx="438912" cy="438912"/>
          </a:xfrm>
          <a:prstGeom prst="roundRect">
            <a:avLst>
              <a:gd name="adj" fmla="val 18750"/>
            </a:avLst>
          </a:prstGeom>
          <a:solidFill>
            <a:srgbClr val="EEF2FF"/>
          </a:solidFill>
          <a:ln/>
        </p:spPr>
      </p:sp>
      <p:pic>
        <p:nvPicPr>
          <p:cNvPr id="21" name="Image 3" descr="preencoded.png">    </p:cNvPr>
          <p:cNvPicPr>
            <a:picLocks noChangeAspect="1"/>
          </p:cNvPicPr>
          <p:nvPr/>
        </p:nvPicPr>
        <p:blipFill>
          <a:blip r:embed="rId4"/>
          <a:stretch>
            <a:fillRect/>
          </a:stretch>
        </p:blipFill>
        <p:spPr>
          <a:xfrm>
            <a:off x="6597945" y="3552993"/>
            <a:ext cx="245791" cy="245791"/>
          </a:xfrm>
          <a:prstGeom prst="rect">
            <a:avLst/>
          </a:prstGeom>
        </p:spPr>
      </p:pic>
      <p:sp>
        <p:nvSpPr>
          <p:cNvPr id="22" name="Text 16"/>
          <p:cNvSpPr/>
          <p:nvPr/>
        </p:nvSpPr>
        <p:spPr>
          <a:xfrm>
            <a:off x="7104888" y="3291840"/>
            <a:ext cx="4297680" cy="777240"/>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A missing feature</a:t>
            </a:r>
            <a:endParaRPr lang="en-US" sz="1350" dirty="0"/>
          </a:p>
        </p:txBody>
      </p:sp>
      <p:sp>
        <p:nvSpPr>
          <p:cNvPr id="23" name="Shape 17"/>
          <p:cNvSpPr/>
          <p:nvPr/>
        </p:nvSpPr>
        <p:spPr>
          <a:xfrm>
            <a:off x="548640" y="4297680"/>
            <a:ext cx="5349240" cy="777240"/>
          </a:xfrm>
          <a:prstGeom prst="roundRect">
            <a:avLst>
              <a:gd name="adj" fmla="val 11765"/>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4" name="Shape 18"/>
          <p:cNvSpPr/>
          <p:nvPr/>
        </p:nvSpPr>
        <p:spPr>
          <a:xfrm>
            <a:off x="786384" y="4462272"/>
            <a:ext cx="438912" cy="438912"/>
          </a:xfrm>
          <a:prstGeom prst="roundRect">
            <a:avLst>
              <a:gd name="adj" fmla="val 18750"/>
            </a:avLst>
          </a:prstGeom>
          <a:solidFill>
            <a:srgbClr val="EEF2FF"/>
          </a:solidFill>
          <a:ln/>
        </p:spPr>
      </p:sp>
      <p:pic>
        <p:nvPicPr>
          <p:cNvPr id="25" name="Image 4" descr="preencoded.png">    </p:cNvPr>
          <p:cNvPicPr>
            <a:picLocks noChangeAspect="1"/>
          </p:cNvPicPr>
          <p:nvPr/>
        </p:nvPicPr>
        <p:blipFill>
          <a:blip r:embed="rId5"/>
          <a:stretch>
            <a:fillRect/>
          </a:stretch>
        </p:blipFill>
        <p:spPr>
          <a:xfrm>
            <a:off x="882945" y="4558833"/>
            <a:ext cx="245791" cy="245791"/>
          </a:xfrm>
          <a:prstGeom prst="rect">
            <a:avLst/>
          </a:prstGeom>
        </p:spPr>
      </p:pic>
      <p:sp>
        <p:nvSpPr>
          <p:cNvPr id="26" name="Text 19"/>
          <p:cNvSpPr/>
          <p:nvPr/>
        </p:nvSpPr>
        <p:spPr>
          <a:xfrm>
            <a:off x="1389888" y="4297680"/>
            <a:ext cx="4297680" cy="777240"/>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A usability issue</a:t>
            </a:r>
            <a:endParaRPr lang="en-US" sz="1350" dirty="0"/>
          </a:p>
        </p:txBody>
      </p:sp>
      <p:sp>
        <p:nvSpPr>
          <p:cNvPr id="27" name="Shape 20"/>
          <p:cNvSpPr/>
          <p:nvPr/>
        </p:nvSpPr>
        <p:spPr>
          <a:xfrm>
            <a:off x="6263640" y="4297680"/>
            <a:ext cx="5349240" cy="777240"/>
          </a:xfrm>
          <a:prstGeom prst="roundRect">
            <a:avLst>
              <a:gd name="adj" fmla="val 11765"/>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8" name="Shape 21"/>
          <p:cNvSpPr/>
          <p:nvPr/>
        </p:nvSpPr>
        <p:spPr>
          <a:xfrm>
            <a:off x="6501384" y="4462272"/>
            <a:ext cx="438912" cy="438912"/>
          </a:xfrm>
          <a:prstGeom prst="roundRect">
            <a:avLst>
              <a:gd name="adj" fmla="val 18750"/>
            </a:avLst>
          </a:prstGeom>
          <a:solidFill>
            <a:srgbClr val="EEF2FF"/>
          </a:solidFill>
          <a:ln/>
        </p:spPr>
      </p:sp>
      <p:pic>
        <p:nvPicPr>
          <p:cNvPr id="29" name="Image 5" descr="preencoded.png">    </p:cNvPr>
          <p:cNvPicPr>
            <a:picLocks noChangeAspect="1"/>
          </p:cNvPicPr>
          <p:nvPr/>
        </p:nvPicPr>
        <p:blipFill>
          <a:blip r:embed="rId6"/>
          <a:stretch>
            <a:fillRect/>
          </a:stretch>
        </p:blipFill>
        <p:spPr>
          <a:xfrm>
            <a:off x="6597945" y="4558833"/>
            <a:ext cx="245791" cy="245791"/>
          </a:xfrm>
          <a:prstGeom prst="rect">
            <a:avLst/>
          </a:prstGeom>
        </p:spPr>
      </p:pic>
      <p:sp>
        <p:nvSpPr>
          <p:cNvPr id="30" name="Text 22"/>
          <p:cNvSpPr/>
          <p:nvPr/>
        </p:nvSpPr>
        <p:spPr>
          <a:xfrm>
            <a:off x="7104888" y="4297680"/>
            <a:ext cx="4297680" cy="777240"/>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An idea that could make Orbit better</a:t>
            </a:r>
            <a:endParaRPr lang="en-US" sz="1350" dirty="0"/>
          </a:p>
        </p:txBody>
      </p:sp>
      <p:sp>
        <p:nvSpPr>
          <p:cNvPr id="31" name="Shape 23"/>
          <p:cNvSpPr/>
          <p:nvPr/>
        </p:nvSpPr>
        <p:spPr>
          <a:xfrm>
            <a:off x="548640" y="5486400"/>
            <a:ext cx="11064240" cy="658368"/>
          </a:xfrm>
          <a:prstGeom prst="roundRect">
            <a:avLst>
              <a:gd name="adj" fmla="val 13889"/>
            </a:avLst>
          </a:prstGeom>
          <a:solidFill>
            <a:srgbClr val="EEF2FF"/>
          </a:solidFill>
          <a:ln w="12700">
            <a:solidFill>
              <a:srgbClr val="C7D2FE"/>
            </a:solidFill>
            <a:prstDash val="solid"/>
          </a:ln>
          <a:effectLst>
            <a:outerShdw sx="100000" sy="100000" kx="0" ky="0" algn="bl" rotWithShape="0" blurRad="76200" dist="12700" dir="5400000">
              <a:srgbClr val="94A3B8">
                <a:alpha val="18000"/>
              </a:srgbClr>
            </a:outerShdw>
          </a:effectLst>
        </p:spPr>
      </p:sp>
      <p:sp>
        <p:nvSpPr>
          <p:cNvPr id="32" name="Text 24"/>
          <p:cNvSpPr/>
          <p:nvPr/>
        </p:nvSpPr>
        <p:spPr>
          <a:xfrm>
            <a:off x="914400" y="5486400"/>
            <a:ext cx="10332720" cy="658368"/>
          </a:xfrm>
          <a:prstGeom prst="rect">
            <a:avLst/>
          </a:prstGeom>
          <a:noFill/>
          <a:ln/>
        </p:spPr>
        <p:txBody>
          <a:bodyPr wrap="square" lIns="0" tIns="0" rIns="0" bIns="0" rtlCol="0" anchor="ctr"/>
          <a:lstStyle/>
          <a:p>
            <a:pPr algn="ctr" indent="0" marL="0">
              <a:buNone/>
            </a:pPr>
            <a:r>
              <a:rPr lang="en-US" sz="1600" b="1" dirty="0">
                <a:solidFill>
                  <a:srgbClr val="4F46E5"/>
                </a:solidFill>
                <a:latin typeface="Cambria" pitchFamily="34" charset="0"/>
                <a:ea typeface="Cambria" pitchFamily="34" charset="-122"/>
                <a:cs typeface="Cambria" pitchFamily="34" charset="-120"/>
              </a:rPr>
              <a:t>We want to know about it.</a:t>
            </a:r>
            <a:endParaRPr lang="en-US" sz="1600" dirty="0"/>
          </a:p>
        </p:txBody>
      </p:sp>
      <p:sp>
        <p:nvSpPr>
          <p:cNvPr id="33" name="Text 25"/>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34" name="Text 26"/>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BETA &amp; FEEDBACK</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One feedback system across our applications</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Found something? Report it.</a:t>
            </a:r>
            <a:endParaRPr lang="en-US" sz="1400" dirty="0"/>
          </a:p>
        </p:txBody>
      </p:sp>
      <p:sp>
        <p:nvSpPr>
          <p:cNvPr id="5" name="Shape 3"/>
          <p:cNvSpPr/>
          <p:nvPr/>
        </p:nvSpPr>
        <p:spPr>
          <a:xfrm>
            <a:off x="11341303" y="585216"/>
            <a:ext cx="146304" cy="146304"/>
          </a:xfrm>
          <a:prstGeom prst="diamond">
            <a:avLst/>
          </a:prstGeom>
          <a:solidFill>
            <a:srgbClr val="818CF8"/>
          </a:solidFill>
          <a:ln/>
        </p:spPr>
      </p:sp>
      <p:sp>
        <p:nvSpPr>
          <p:cNvPr id="6" name="Shape 4"/>
          <p:cNvSpPr/>
          <p:nvPr/>
        </p:nvSpPr>
        <p:spPr>
          <a:xfrm>
            <a:off x="548640" y="1783080"/>
            <a:ext cx="5349240" cy="1600200"/>
          </a:xfrm>
          <a:prstGeom prst="roundRect">
            <a:avLst>
              <a:gd name="adj" fmla="val 5714"/>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7" name="Shape 5"/>
          <p:cNvSpPr/>
          <p:nvPr/>
        </p:nvSpPr>
        <p:spPr>
          <a:xfrm>
            <a:off x="804672" y="2039112"/>
            <a:ext cx="457200" cy="457200"/>
          </a:xfrm>
          <a:prstGeom prst="roundRect">
            <a:avLst>
              <a:gd name="adj" fmla="val 18000"/>
            </a:avLst>
          </a:prstGeom>
          <a:solidFill>
            <a:srgbClr val="EEF2FF"/>
          </a:solidFill>
          <a:ln/>
        </p:spPr>
      </p:sp>
      <p:pic>
        <p:nvPicPr>
          <p:cNvPr id="8" name="Image 0" descr="preencoded.png">    </p:cNvPr>
          <p:cNvPicPr>
            <a:picLocks noChangeAspect="1"/>
          </p:cNvPicPr>
          <p:nvPr/>
        </p:nvPicPr>
        <p:blipFill>
          <a:blip r:embed="rId1"/>
          <a:stretch>
            <a:fillRect/>
          </a:stretch>
        </p:blipFill>
        <p:spPr>
          <a:xfrm>
            <a:off x="905256" y="2139696"/>
            <a:ext cx="256032" cy="256032"/>
          </a:xfrm>
          <a:prstGeom prst="rect">
            <a:avLst/>
          </a:prstGeom>
        </p:spPr>
      </p:pic>
      <p:sp>
        <p:nvSpPr>
          <p:cNvPr id="9" name="Text 6"/>
          <p:cNvSpPr/>
          <p:nvPr/>
        </p:nvSpPr>
        <p:spPr>
          <a:xfrm>
            <a:off x="1408176" y="2075688"/>
            <a:ext cx="4251960" cy="384048"/>
          </a:xfrm>
          <a:prstGeom prst="rect">
            <a:avLst/>
          </a:prstGeom>
          <a:noFill/>
          <a:ln/>
        </p:spPr>
        <p:txBody>
          <a:bodyPr wrap="square" lIns="0" tIns="0" rIns="0" bIns="0" rtlCol="0" anchor="ctr"/>
          <a:lstStyle/>
          <a:p>
            <a:pPr indent="0" marL="0">
              <a:buNone/>
            </a:pPr>
            <a:r>
              <a:rPr lang="en-US" sz="1550" b="1" dirty="0">
                <a:solidFill>
                  <a:srgbClr val="0F172A"/>
                </a:solidFill>
                <a:latin typeface="Cambria" pitchFamily="34" charset="0"/>
                <a:ea typeface="Cambria" pitchFamily="34" charset="-122"/>
                <a:cs typeface="Cambria" pitchFamily="34" charset="-120"/>
              </a:rPr>
              <a:t>Bug Report</a:t>
            </a:r>
            <a:endParaRPr lang="en-US" sz="1550" dirty="0"/>
          </a:p>
        </p:txBody>
      </p:sp>
      <p:sp>
        <p:nvSpPr>
          <p:cNvPr id="10" name="Text 7"/>
          <p:cNvSpPr/>
          <p:nvPr/>
        </p:nvSpPr>
        <p:spPr>
          <a:xfrm>
            <a:off x="1408176" y="2514600"/>
            <a:ext cx="4206240" cy="73152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Something is not working.</a:t>
            </a:r>
            <a:endParaRPr lang="en-US" sz="1250" dirty="0"/>
          </a:p>
        </p:txBody>
      </p:sp>
      <p:sp>
        <p:nvSpPr>
          <p:cNvPr id="11" name="Shape 8"/>
          <p:cNvSpPr/>
          <p:nvPr/>
        </p:nvSpPr>
        <p:spPr>
          <a:xfrm>
            <a:off x="6263640" y="1783080"/>
            <a:ext cx="5349240" cy="1600200"/>
          </a:xfrm>
          <a:prstGeom prst="roundRect">
            <a:avLst>
              <a:gd name="adj" fmla="val 5714"/>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2" name="Shape 9"/>
          <p:cNvSpPr/>
          <p:nvPr/>
        </p:nvSpPr>
        <p:spPr>
          <a:xfrm>
            <a:off x="6519672" y="2039112"/>
            <a:ext cx="457200" cy="457200"/>
          </a:xfrm>
          <a:prstGeom prst="roundRect">
            <a:avLst>
              <a:gd name="adj" fmla="val 18000"/>
            </a:avLst>
          </a:prstGeom>
          <a:solidFill>
            <a:srgbClr val="EEF2FF"/>
          </a:solidFill>
          <a:ln/>
        </p:spPr>
      </p:sp>
      <p:pic>
        <p:nvPicPr>
          <p:cNvPr id="13" name="Image 1" descr="preencoded.png">    </p:cNvPr>
          <p:cNvPicPr>
            <a:picLocks noChangeAspect="1"/>
          </p:cNvPicPr>
          <p:nvPr/>
        </p:nvPicPr>
        <p:blipFill>
          <a:blip r:embed="rId2"/>
          <a:stretch>
            <a:fillRect/>
          </a:stretch>
        </p:blipFill>
        <p:spPr>
          <a:xfrm>
            <a:off x="6620256" y="2139696"/>
            <a:ext cx="256032" cy="256032"/>
          </a:xfrm>
          <a:prstGeom prst="rect">
            <a:avLst/>
          </a:prstGeom>
        </p:spPr>
      </p:pic>
      <p:sp>
        <p:nvSpPr>
          <p:cNvPr id="14" name="Text 10"/>
          <p:cNvSpPr/>
          <p:nvPr/>
        </p:nvSpPr>
        <p:spPr>
          <a:xfrm>
            <a:off x="7123176" y="2075688"/>
            <a:ext cx="4251960" cy="384048"/>
          </a:xfrm>
          <a:prstGeom prst="rect">
            <a:avLst/>
          </a:prstGeom>
          <a:noFill/>
          <a:ln/>
        </p:spPr>
        <p:txBody>
          <a:bodyPr wrap="square" lIns="0" tIns="0" rIns="0" bIns="0" rtlCol="0" anchor="ctr"/>
          <a:lstStyle/>
          <a:p>
            <a:pPr indent="0" marL="0">
              <a:buNone/>
            </a:pPr>
            <a:r>
              <a:rPr lang="en-US" sz="1550" b="1" dirty="0">
                <a:solidFill>
                  <a:srgbClr val="0F172A"/>
                </a:solidFill>
                <a:latin typeface="Cambria" pitchFamily="34" charset="0"/>
                <a:ea typeface="Cambria" pitchFamily="34" charset="-122"/>
                <a:cs typeface="Cambria" pitchFamily="34" charset="-120"/>
              </a:rPr>
              <a:t>Feature Request</a:t>
            </a:r>
            <a:endParaRPr lang="en-US" sz="1550" dirty="0"/>
          </a:p>
        </p:txBody>
      </p:sp>
      <p:sp>
        <p:nvSpPr>
          <p:cNvPr id="15" name="Text 11"/>
          <p:cNvSpPr/>
          <p:nvPr/>
        </p:nvSpPr>
        <p:spPr>
          <a:xfrm>
            <a:off x="7123176" y="2514600"/>
            <a:ext cx="4206240" cy="73152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Something useful is missing.</a:t>
            </a:r>
            <a:endParaRPr lang="en-US" sz="1250" dirty="0"/>
          </a:p>
        </p:txBody>
      </p:sp>
      <p:sp>
        <p:nvSpPr>
          <p:cNvPr id="16" name="Shape 12"/>
          <p:cNvSpPr/>
          <p:nvPr/>
        </p:nvSpPr>
        <p:spPr>
          <a:xfrm>
            <a:off x="548640" y="3639312"/>
            <a:ext cx="5349240" cy="1600200"/>
          </a:xfrm>
          <a:prstGeom prst="roundRect">
            <a:avLst>
              <a:gd name="adj" fmla="val 5714"/>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17" name="Shape 13"/>
          <p:cNvSpPr/>
          <p:nvPr/>
        </p:nvSpPr>
        <p:spPr>
          <a:xfrm>
            <a:off x="804672" y="3895344"/>
            <a:ext cx="457200" cy="457200"/>
          </a:xfrm>
          <a:prstGeom prst="roundRect">
            <a:avLst>
              <a:gd name="adj" fmla="val 18000"/>
            </a:avLst>
          </a:prstGeom>
          <a:solidFill>
            <a:srgbClr val="EEF2FF"/>
          </a:solidFill>
          <a:ln/>
        </p:spPr>
      </p:sp>
      <p:pic>
        <p:nvPicPr>
          <p:cNvPr id="18" name="Image 2" descr="preencoded.png">    </p:cNvPr>
          <p:cNvPicPr>
            <a:picLocks noChangeAspect="1"/>
          </p:cNvPicPr>
          <p:nvPr/>
        </p:nvPicPr>
        <p:blipFill>
          <a:blip r:embed="rId3"/>
          <a:stretch>
            <a:fillRect/>
          </a:stretch>
        </p:blipFill>
        <p:spPr>
          <a:xfrm>
            <a:off x="905256" y="3995928"/>
            <a:ext cx="256032" cy="256032"/>
          </a:xfrm>
          <a:prstGeom prst="rect">
            <a:avLst/>
          </a:prstGeom>
        </p:spPr>
      </p:pic>
      <p:sp>
        <p:nvSpPr>
          <p:cNvPr id="19" name="Text 14"/>
          <p:cNvSpPr/>
          <p:nvPr/>
        </p:nvSpPr>
        <p:spPr>
          <a:xfrm>
            <a:off x="1408176" y="3931920"/>
            <a:ext cx="4251960" cy="384048"/>
          </a:xfrm>
          <a:prstGeom prst="rect">
            <a:avLst/>
          </a:prstGeom>
          <a:noFill/>
          <a:ln/>
        </p:spPr>
        <p:txBody>
          <a:bodyPr wrap="square" lIns="0" tIns="0" rIns="0" bIns="0" rtlCol="0" anchor="ctr"/>
          <a:lstStyle/>
          <a:p>
            <a:pPr indent="0" marL="0">
              <a:buNone/>
            </a:pPr>
            <a:r>
              <a:rPr lang="en-US" sz="1550" b="1" dirty="0">
                <a:solidFill>
                  <a:srgbClr val="0F172A"/>
                </a:solidFill>
                <a:latin typeface="Cambria" pitchFamily="34" charset="0"/>
                <a:ea typeface="Cambria" pitchFamily="34" charset="-122"/>
                <a:cs typeface="Cambria" pitchFamily="34" charset="-120"/>
              </a:rPr>
              <a:t>Improvement Suggestion</a:t>
            </a:r>
            <a:endParaRPr lang="en-US" sz="1550" dirty="0"/>
          </a:p>
        </p:txBody>
      </p:sp>
      <p:sp>
        <p:nvSpPr>
          <p:cNvPr id="20" name="Text 15"/>
          <p:cNvSpPr/>
          <p:nvPr/>
        </p:nvSpPr>
        <p:spPr>
          <a:xfrm>
            <a:off x="1408176" y="4370832"/>
            <a:ext cx="4206240" cy="73152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Something works, but could work better.</a:t>
            </a:r>
            <a:endParaRPr lang="en-US" sz="1250" dirty="0"/>
          </a:p>
        </p:txBody>
      </p:sp>
      <p:sp>
        <p:nvSpPr>
          <p:cNvPr id="21" name="Shape 16"/>
          <p:cNvSpPr/>
          <p:nvPr/>
        </p:nvSpPr>
        <p:spPr>
          <a:xfrm>
            <a:off x="6263640" y="3639312"/>
            <a:ext cx="5349240" cy="1600200"/>
          </a:xfrm>
          <a:prstGeom prst="roundRect">
            <a:avLst>
              <a:gd name="adj" fmla="val 5714"/>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2" name="Shape 17"/>
          <p:cNvSpPr/>
          <p:nvPr/>
        </p:nvSpPr>
        <p:spPr>
          <a:xfrm>
            <a:off x="6519672" y="3895344"/>
            <a:ext cx="457200" cy="457200"/>
          </a:xfrm>
          <a:prstGeom prst="roundRect">
            <a:avLst>
              <a:gd name="adj" fmla="val 18000"/>
            </a:avLst>
          </a:prstGeom>
          <a:solidFill>
            <a:srgbClr val="EEF2FF"/>
          </a:solidFill>
          <a:ln/>
        </p:spPr>
      </p:sp>
      <p:pic>
        <p:nvPicPr>
          <p:cNvPr id="23" name="Image 3" descr="preencoded.png">    </p:cNvPr>
          <p:cNvPicPr>
            <a:picLocks noChangeAspect="1"/>
          </p:cNvPicPr>
          <p:nvPr/>
        </p:nvPicPr>
        <p:blipFill>
          <a:blip r:embed="rId4"/>
          <a:stretch>
            <a:fillRect/>
          </a:stretch>
        </p:blipFill>
        <p:spPr>
          <a:xfrm>
            <a:off x="6620256" y="3995928"/>
            <a:ext cx="256032" cy="256032"/>
          </a:xfrm>
          <a:prstGeom prst="rect">
            <a:avLst/>
          </a:prstGeom>
        </p:spPr>
      </p:pic>
      <p:sp>
        <p:nvSpPr>
          <p:cNvPr id="24" name="Text 18"/>
          <p:cNvSpPr/>
          <p:nvPr/>
        </p:nvSpPr>
        <p:spPr>
          <a:xfrm>
            <a:off x="7123176" y="3931920"/>
            <a:ext cx="4251960" cy="384048"/>
          </a:xfrm>
          <a:prstGeom prst="rect">
            <a:avLst/>
          </a:prstGeom>
          <a:noFill/>
          <a:ln/>
        </p:spPr>
        <p:txBody>
          <a:bodyPr wrap="square" lIns="0" tIns="0" rIns="0" bIns="0" rtlCol="0" anchor="ctr"/>
          <a:lstStyle/>
          <a:p>
            <a:pPr indent="0" marL="0">
              <a:buNone/>
            </a:pPr>
            <a:r>
              <a:rPr lang="en-US" sz="1550" b="1" dirty="0">
                <a:solidFill>
                  <a:srgbClr val="0F172A"/>
                </a:solidFill>
                <a:latin typeface="Cambria" pitchFamily="34" charset="0"/>
                <a:ea typeface="Cambria" pitchFamily="34" charset="-122"/>
                <a:cs typeface="Cambria" pitchFamily="34" charset="-120"/>
              </a:rPr>
              <a:t>General Product Feedback</a:t>
            </a:r>
            <a:endParaRPr lang="en-US" sz="1550" dirty="0"/>
          </a:p>
        </p:txBody>
      </p:sp>
      <p:sp>
        <p:nvSpPr>
          <p:cNvPr id="25" name="Text 19"/>
          <p:cNvSpPr/>
          <p:nvPr/>
        </p:nvSpPr>
        <p:spPr>
          <a:xfrm>
            <a:off x="7123176" y="4370832"/>
            <a:ext cx="4206240" cy="73152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Anything else that can help improve the application.</a:t>
            </a:r>
            <a:endParaRPr lang="en-US" sz="1250" dirty="0"/>
          </a:p>
        </p:txBody>
      </p:sp>
      <p:sp>
        <p:nvSpPr>
          <p:cNvPr id="26" name="Shape 20"/>
          <p:cNvSpPr/>
          <p:nvPr/>
        </p:nvSpPr>
        <p:spPr>
          <a:xfrm>
            <a:off x="548640" y="5532120"/>
            <a:ext cx="11064240" cy="658368"/>
          </a:xfrm>
          <a:prstGeom prst="roundRect">
            <a:avLst>
              <a:gd name="adj" fmla="val 13889"/>
            </a:avLst>
          </a:prstGeom>
          <a:solidFill>
            <a:srgbClr val="EEF2FF"/>
          </a:solidFill>
          <a:ln w="12700">
            <a:solidFill>
              <a:srgbClr val="C7D2FE"/>
            </a:solidFill>
            <a:prstDash val="solid"/>
          </a:ln>
          <a:effectLst>
            <a:outerShdw sx="100000" sy="100000" kx="0" ky="0" algn="bl" rotWithShape="0" blurRad="76200" dist="12700" dir="5400000">
              <a:srgbClr val="94A3B8">
                <a:alpha val="18000"/>
              </a:srgbClr>
            </a:outerShdw>
          </a:effectLst>
        </p:spPr>
      </p:sp>
      <p:sp>
        <p:nvSpPr>
          <p:cNvPr id="27" name="Text 21"/>
          <p:cNvSpPr/>
          <p:nvPr/>
        </p:nvSpPr>
        <p:spPr>
          <a:xfrm>
            <a:off x="914400" y="5532120"/>
            <a:ext cx="10332720" cy="658368"/>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Orbit uses the same common Feedback form as our other applications — the entry points are already in the beta.  </a:t>
            </a:r>
            <a:pPr indent="0" marL="0">
              <a:buNone/>
            </a:pPr>
            <a:r>
              <a:rPr lang="en-US" sz="1250" b="1" dirty="0">
                <a:solidFill>
                  <a:srgbClr val="4F46E5"/>
                </a:solidFill>
                <a:latin typeface="Calibri" pitchFamily="34" charset="0"/>
                <a:ea typeface="Calibri" pitchFamily="34" charset="-122"/>
                <a:cs typeface="Calibri" pitchFamily="34" charset="-120"/>
              </a:rPr>
              <a:t>During beta, your feedback directly shapes the next version.</a:t>
            </a:r>
            <a:endParaRPr lang="en-US" sz="1200" dirty="0"/>
          </a:p>
        </p:txBody>
      </p:sp>
      <p:sp>
        <p:nvSpPr>
          <p:cNvPr id="28" name="Text 22"/>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29" name="Text 23"/>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GETTING STARTED</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Starting with Orbit</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indent="0" marL="0">
              <a:buNone/>
            </a:pPr>
            <a:r>
              <a:rPr lang="en-US" sz="1400" i="1" dirty="0">
                <a:solidFill>
                  <a:srgbClr val="64748B"/>
                </a:solidFill>
                <a:latin typeface="Calibri" pitchFamily="34" charset="0"/>
                <a:ea typeface="Calibri" pitchFamily="34" charset="-122"/>
                <a:cs typeface="Calibri" pitchFamily="34" charset="-120"/>
              </a:rPr>
              <a:t>Three things we need from everyone.</a:t>
            </a:r>
            <a:endParaRPr lang="en-US" sz="1400" dirty="0"/>
          </a:p>
        </p:txBody>
      </p:sp>
      <p:sp>
        <p:nvSpPr>
          <p:cNvPr id="5" name="Shape 3"/>
          <p:cNvSpPr/>
          <p:nvPr/>
        </p:nvSpPr>
        <p:spPr>
          <a:xfrm>
            <a:off x="11341303" y="585216"/>
            <a:ext cx="146304" cy="146304"/>
          </a:xfrm>
          <a:prstGeom prst="diamond">
            <a:avLst/>
          </a:prstGeom>
          <a:solidFill>
            <a:srgbClr val="818CF8"/>
          </a:solidFill>
          <a:ln/>
        </p:spPr>
      </p:sp>
      <p:sp>
        <p:nvSpPr>
          <p:cNvPr id="6" name="Shape 4"/>
          <p:cNvSpPr/>
          <p:nvPr/>
        </p:nvSpPr>
        <p:spPr>
          <a:xfrm>
            <a:off x="548640" y="1828800"/>
            <a:ext cx="3611880" cy="3657600"/>
          </a:xfrm>
          <a:prstGeom prst="roundRect">
            <a:avLst>
              <a:gd name="adj" fmla="val 253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7" name="Shape 5"/>
          <p:cNvSpPr/>
          <p:nvPr/>
        </p:nvSpPr>
        <p:spPr>
          <a:xfrm>
            <a:off x="822960" y="2121408"/>
            <a:ext cx="512064" cy="512064"/>
          </a:xfrm>
          <a:prstGeom prst="roundRect">
            <a:avLst>
              <a:gd name="adj" fmla="val 19643"/>
            </a:avLst>
          </a:prstGeom>
          <a:solidFill>
            <a:srgbClr val="4F46E5"/>
          </a:solidFill>
          <a:ln/>
        </p:spPr>
      </p:sp>
      <p:sp>
        <p:nvSpPr>
          <p:cNvPr id="8" name="Text 6"/>
          <p:cNvSpPr/>
          <p:nvPr/>
        </p:nvSpPr>
        <p:spPr>
          <a:xfrm>
            <a:off x="822960" y="2121408"/>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9" name="Shape 7"/>
          <p:cNvSpPr/>
          <p:nvPr/>
        </p:nvSpPr>
        <p:spPr>
          <a:xfrm>
            <a:off x="3383280" y="2139696"/>
            <a:ext cx="475488" cy="475488"/>
          </a:xfrm>
          <a:prstGeom prst="roundRect">
            <a:avLst>
              <a:gd name="adj" fmla="val 17308"/>
            </a:avLst>
          </a:prstGeom>
          <a:solidFill>
            <a:srgbClr val="EEF2FF"/>
          </a:solidFill>
          <a:ln/>
        </p:spPr>
      </p:sp>
      <p:pic>
        <p:nvPicPr>
          <p:cNvPr id="10" name="Image 0" descr="preencoded.png">    </p:cNvPr>
          <p:cNvPicPr>
            <a:picLocks noChangeAspect="1"/>
          </p:cNvPicPr>
          <p:nvPr/>
        </p:nvPicPr>
        <p:blipFill>
          <a:blip r:embed="rId1"/>
          <a:stretch>
            <a:fillRect/>
          </a:stretch>
        </p:blipFill>
        <p:spPr>
          <a:xfrm>
            <a:off x="3487887" y="2244303"/>
            <a:ext cx="266273" cy="266273"/>
          </a:xfrm>
          <a:prstGeom prst="rect">
            <a:avLst/>
          </a:prstGeom>
        </p:spPr>
      </p:pic>
      <p:sp>
        <p:nvSpPr>
          <p:cNvPr id="11" name="Text 8"/>
          <p:cNvSpPr/>
          <p:nvPr/>
        </p:nvSpPr>
        <p:spPr>
          <a:xfrm>
            <a:off x="822960" y="2971800"/>
            <a:ext cx="3063240" cy="777240"/>
          </a:xfrm>
          <a:prstGeom prst="rect">
            <a:avLst/>
          </a:prstGeom>
          <a:noFill/>
          <a:ln/>
        </p:spPr>
        <p:txBody>
          <a:bodyPr wrap="square" lIns="0" tIns="0" rIns="0" bIns="0" rtlCol="0" anchor="t"/>
          <a:lstStyle/>
          <a:p>
            <a:pPr indent="0" marL="0">
              <a:buNone/>
            </a:pPr>
            <a:r>
              <a:rPr lang="en-US" sz="1700" b="1" dirty="0">
                <a:solidFill>
                  <a:srgbClr val="0F172A"/>
                </a:solidFill>
                <a:latin typeface="Cambria" pitchFamily="34" charset="0"/>
                <a:ea typeface="Cambria" pitchFamily="34" charset="-122"/>
                <a:cs typeface="Cambria" pitchFamily="34" charset="-120"/>
              </a:rPr>
              <a:t>Use Orbit</a:t>
            </a:r>
            <a:endParaRPr lang="en-US" sz="1700" dirty="0"/>
          </a:p>
        </p:txBody>
      </p:sp>
      <p:sp>
        <p:nvSpPr>
          <p:cNvPr id="12" name="Text 9"/>
          <p:cNvSpPr/>
          <p:nvPr/>
        </p:nvSpPr>
        <p:spPr>
          <a:xfrm>
            <a:off x="822960" y="3794760"/>
            <a:ext cx="3063240" cy="1463040"/>
          </a:xfrm>
          <a:prstGeom prst="rect">
            <a:avLst/>
          </a:prstGeom>
          <a:noFill/>
          <a:ln/>
        </p:spPr>
        <p:txBody>
          <a:bodyPr wrap="square" lIns="0" tIns="0" rIns="0" bIns="0" rtlCol="0" anchor="t"/>
          <a:lstStyle/>
          <a:p>
            <a:pPr indent="0" marL="0">
              <a:buNone/>
            </a:pPr>
            <a:r>
              <a:rPr lang="en-US" sz="1280" dirty="0">
                <a:solidFill>
                  <a:srgbClr val="64748B"/>
                </a:solidFill>
                <a:latin typeface="Calibri" pitchFamily="34" charset="0"/>
                <a:ea typeface="Calibri" pitchFamily="34" charset="-122"/>
                <a:cs typeface="Calibri" pitchFamily="34" charset="-120"/>
              </a:rPr>
              <a:t>Start using it as part of your normal working routine.</a:t>
            </a:r>
            <a:endParaRPr lang="en-US" sz="1280" dirty="0"/>
          </a:p>
        </p:txBody>
      </p:sp>
      <p:sp>
        <p:nvSpPr>
          <p:cNvPr id="13" name="Shape 10"/>
          <p:cNvSpPr/>
          <p:nvPr/>
        </p:nvSpPr>
        <p:spPr>
          <a:xfrm>
            <a:off x="4352544" y="1828800"/>
            <a:ext cx="3611880" cy="3657600"/>
          </a:xfrm>
          <a:prstGeom prst="roundRect">
            <a:avLst>
              <a:gd name="adj" fmla="val 2532"/>
            </a:avLst>
          </a:prstGeom>
          <a:solidFill>
            <a:srgbClr val="EEF2FF"/>
          </a:solidFill>
          <a:ln w="12700">
            <a:solidFill>
              <a:srgbClr val="C7D2FE"/>
            </a:solidFill>
            <a:prstDash val="solid"/>
          </a:ln>
          <a:effectLst>
            <a:outerShdw sx="100000" sy="100000" kx="0" ky="0" algn="bl" rotWithShape="0" blurRad="76200" dist="12700" dir="5400000">
              <a:srgbClr val="94A3B8">
                <a:alpha val="18000"/>
              </a:srgbClr>
            </a:outerShdw>
          </a:effectLst>
        </p:spPr>
      </p:sp>
      <p:sp>
        <p:nvSpPr>
          <p:cNvPr id="14" name="Shape 11"/>
          <p:cNvSpPr/>
          <p:nvPr/>
        </p:nvSpPr>
        <p:spPr>
          <a:xfrm>
            <a:off x="4626864" y="2121408"/>
            <a:ext cx="512064" cy="512064"/>
          </a:xfrm>
          <a:prstGeom prst="roundRect">
            <a:avLst>
              <a:gd name="adj" fmla="val 19643"/>
            </a:avLst>
          </a:prstGeom>
          <a:solidFill>
            <a:srgbClr val="4F46E5"/>
          </a:solidFill>
          <a:ln/>
        </p:spPr>
      </p:sp>
      <p:sp>
        <p:nvSpPr>
          <p:cNvPr id="15" name="Text 12"/>
          <p:cNvSpPr/>
          <p:nvPr/>
        </p:nvSpPr>
        <p:spPr>
          <a:xfrm>
            <a:off x="4626864" y="2121408"/>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6" name="Shape 13"/>
          <p:cNvSpPr/>
          <p:nvPr/>
        </p:nvSpPr>
        <p:spPr>
          <a:xfrm>
            <a:off x="7187184" y="2139696"/>
            <a:ext cx="475488" cy="475488"/>
          </a:xfrm>
          <a:prstGeom prst="roundRect">
            <a:avLst>
              <a:gd name="adj" fmla="val 17308"/>
            </a:avLst>
          </a:prstGeom>
          <a:solidFill>
            <a:srgbClr val="E0E7FF"/>
          </a:solidFill>
          <a:ln/>
        </p:spPr>
      </p:sp>
      <p:pic>
        <p:nvPicPr>
          <p:cNvPr id="17" name="Image 1" descr="preencoded.png">    </p:cNvPr>
          <p:cNvPicPr>
            <a:picLocks noChangeAspect="1"/>
          </p:cNvPicPr>
          <p:nvPr/>
        </p:nvPicPr>
        <p:blipFill>
          <a:blip r:embed="rId2"/>
          <a:stretch>
            <a:fillRect/>
          </a:stretch>
        </p:blipFill>
        <p:spPr>
          <a:xfrm>
            <a:off x="7291791" y="2244303"/>
            <a:ext cx="266273" cy="266273"/>
          </a:xfrm>
          <a:prstGeom prst="rect">
            <a:avLst/>
          </a:prstGeom>
        </p:spPr>
      </p:pic>
      <p:sp>
        <p:nvSpPr>
          <p:cNvPr id="18" name="Text 14"/>
          <p:cNvSpPr/>
          <p:nvPr/>
        </p:nvSpPr>
        <p:spPr>
          <a:xfrm>
            <a:off x="4626864" y="2971800"/>
            <a:ext cx="3063240" cy="777240"/>
          </a:xfrm>
          <a:prstGeom prst="rect">
            <a:avLst/>
          </a:prstGeom>
          <a:noFill/>
          <a:ln/>
        </p:spPr>
        <p:txBody>
          <a:bodyPr wrap="square" lIns="0" tIns="0" rIns="0" bIns="0" rtlCol="0" anchor="t"/>
          <a:lstStyle/>
          <a:p>
            <a:pPr indent="0" marL="0">
              <a:buNone/>
            </a:pPr>
            <a:r>
              <a:rPr lang="en-US" sz="1700" b="1" dirty="0">
                <a:solidFill>
                  <a:srgbClr val="0F172A"/>
                </a:solidFill>
                <a:latin typeface="Cambria" pitchFamily="34" charset="0"/>
                <a:ea typeface="Cambria" pitchFamily="34" charset="-122"/>
                <a:cs typeface="Cambria" pitchFamily="34" charset="-120"/>
              </a:rPr>
              <a:t>Keep Orbit accurate</a:t>
            </a:r>
            <a:endParaRPr lang="en-US" sz="1700" dirty="0"/>
          </a:p>
        </p:txBody>
      </p:sp>
      <p:sp>
        <p:nvSpPr>
          <p:cNvPr id="19" name="Text 15"/>
          <p:cNvSpPr/>
          <p:nvPr/>
        </p:nvSpPr>
        <p:spPr>
          <a:xfrm>
            <a:off x="4626864" y="3794760"/>
            <a:ext cx="3063240" cy="1463040"/>
          </a:xfrm>
          <a:prstGeom prst="rect">
            <a:avLst/>
          </a:prstGeom>
          <a:noFill/>
          <a:ln/>
        </p:spPr>
        <p:txBody>
          <a:bodyPr wrap="square" lIns="0" tIns="0" rIns="0" bIns="0" rtlCol="0" anchor="t"/>
          <a:lstStyle/>
          <a:p>
            <a:pPr indent="0" marL="0">
              <a:buNone/>
            </a:pPr>
            <a:r>
              <a:rPr lang="en-US" sz="1280" dirty="0">
                <a:solidFill>
                  <a:srgbClr val="64748B"/>
                </a:solidFill>
                <a:latin typeface="Calibri" pitchFamily="34" charset="0"/>
                <a:ea typeface="Calibri" pitchFamily="34" charset="-122"/>
                <a:cs typeface="Calibri" pitchFamily="34" charset="-120"/>
              </a:rPr>
              <a:t>Record leave, WFH and other relevant information through the platform, so the shared calendar remains reliable.</a:t>
            </a:r>
            <a:endParaRPr lang="en-US" sz="1280" dirty="0"/>
          </a:p>
        </p:txBody>
      </p:sp>
      <p:sp>
        <p:nvSpPr>
          <p:cNvPr id="20" name="Shape 16"/>
          <p:cNvSpPr/>
          <p:nvPr/>
        </p:nvSpPr>
        <p:spPr>
          <a:xfrm>
            <a:off x="8156448" y="1828800"/>
            <a:ext cx="3611880" cy="3657600"/>
          </a:xfrm>
          <a:prstGeom prst="roundRect">
            <a:avLst>
              <a:gd name="adj" fmla="val 2532"/>
            </a:avLst>
          </a:prstGeom>
          <a:solidFill>
            <a:srgbClr val="F8FAFC"/>
          </a:solidFill>
          <a:ln w="12700">
            <a:solidFill>
              <a:srgbClr val="E2E8F0"/>
            </a:solidFill>
            <a:prstDash val="solid"/>
          </a:ln>
          <a:effectLst>
            <a:outerShdw sx="100000" sy="100000" kx="0" ky="0" algn="bl" rotWithShape="0" blurRad="76200" dist="12700" dir="5400000">
              <a:srgbClr val="94A3B8">
                <a:alpha val="18000"/>
              </a:srgbClr>
            </a:outerShdw>
          </a:effectLst>
        </p:spPr>
      </p:sp>
      <p:sp>
        <p:nvSpPr>
          <p:cNvPr id="21" name="Shape 17"/>
          <p:cNvSpPr/>
          <p:nvPr/>
        </p:nvSpPr>
        <p:spPr>
          <a:xfrm>
            <a:off x="8430768" y="2121408"/>
            <a:ext cx="512064" cy="512064"/>
          </a:xfrm>
          <a:prstGeom prst="roundRect">
            <a:avLst>
              <a:gd name="adj" fmla="val 19643"/>
            </a:avLst>
          </a:prstGeom>
          <a:solidFill>
            <a:srgbClr val="4F46E5"/>
          </a:solidFill>
          <a:ln/>
        </p:spPr>
      </p:sp>
      <p:sp>
        <p:nvSpPr>
          <p:cNvPr id="22" name="Text 18"/>
          <p:cNvSpPr/>
          <p:nvPr/>
        </p:nvSpPr>
        <p:spPr>
          <a:xfrm>
            <a:off x="8430768" y="2121408"/>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23" name="Shape 19"/>
          <p:cNvSpPr/>
          <p:nvPr/>
        </p:nvSpPr>
        <p:spPr>
          <a:xfrm>
            <a:off x="10991088" y="2139696"/>
            <a:ext cx="475488" cy="475488"/>
          </a:xfrm>
          <a:prstGeom prst="roundRect">
            <a:avLst>
              <a:gd name="adj" fmla="val 17308"/>
            </a:avLst>
          </a:prstGeom>
          <a:solidFill>
            <a:srgbClr val="EEF2FF"/>
          </a:solidFill>
          <a:ln/>
        </p:spPr>
      </p:sp>
      <p:pic>
        <p:nvPicPr>
          <p:cNvPr id="24" name="Image 2" descr="preencoded.png">    </p:cNvPr>
          <p:cNvPicPr>
            <a:picLocks noChangeAspect="1"/>
          </p:cNvPicPr>
          <p:nvPr/>
        </p:nvPicPr>
        <p:blipFill>
          <a:blip r:embed="rId3"/>
          <a:stretch>
            <a:fillRect/>
          </a:stretch>
        </p:blipFill>
        <p:spPr>
          <a:xfrm>
            <a:off x="11095695" y="2244303"/>
            <a:ext cx="266273" cy="266273"/>
          </a:xfrm>
          <a:prstGeom prst="rect">
            <a:avLst/>
          </a:prstGeom>
        </p:spPr>
      </p:pic>
      <p:sp>
        <p:nvSpPr>
          <p:cNvPr id="25" name="Text 20"/>
          <p:cNvSpPr/>
          <p:nvPr/>
        </p:nvSpPr>
        <p:spPr>
          <a:xfrm>
            <a:off x="8430768" y="2971800"/>
            <a:ext cx="3063240" cy="777240"/>
          </a:xfrm>
          <a:prstGeom prst="rect">
            <a:avLst/>
          </a:prstGeom>
          <a:noFill/>
          <a:ln/>
        </p:spPr>
        <p:txBody>
          <a:bodyPr wrap="square" lIns="0" tIns="0" rIns="0" bIns="0" rtlCol="0" anchor="t"/>
          <a:lstStyle/>
          <a:p>
            <a:pPr indent="0" marL="0">
              <a:buNone/>
            </a:pPr>
            <a:r>
              <a:rPr lang="en-US" sz="1700" b="1" dirty="0">
                <a:solidFill>
                  <a:srgbClr val="0F172A"/>
                </a:solidFill>
                <a:latin typeface="Cambria" pitchFamily="34" charset="0"/>
                <a:ea typeface="Cambria" pitchFamily="34" charset="-122"/>
                <a:cs typeface="Cambria" pitchFamily="34" charset="-120"/>
              </a:rPr>
              <a:t>Tell us what needs improvement</a:t>
            </a:r>
            <a:endParaRPr lang="en-US" sz="1700" dirty="0"/>
          </a:p>
        </p:txBody>
      </p:sp>
      <p:sp>
        <p:nvSpPr>
          <p:cNvPr id="26" name="Text 21"/>
          <p:cNvSpPr/>
          <p:nvPr/>
        </p:nvSpPr>
        <p:spPr>
          <a:xfrm>
            <a:off x="8430768" y="3794760"/>
            <a:ext cx="3063240" cy="1463040"/>
          </a:xfrm>
          <a:prstGeom prst="rect">
            <a:avLst/>
          </a:prstGeom>
          <a:noFill/>
          <a:ln/>
        </p:spPr>
        <p:txBody>
          <a:bodyPr wrap="square" lIns="0" tIns="0" rIns="0" bIns="0" rtlCol="0" anchor="t"/>
          <a:lstStyle/>
          <a:p>
            <a:pPr indent="0" marL="0">
              <a:buNone/>
            </a:pPr>
            <a:r>
              <a:rPr lang="en-US" sz="1280" dirty="0">
                <a:solidFill>
                  <a:srgbClr val="64748B"/>
                </a:solidFill>
                <a:latin typeface="Calibri" pitchFamily="34" charset="0"/>
                <a:ea typeface="Calibri" pitchFamily="34" charset="-122"/>
                <a:cs typeface="Calibri" pitchFamily="34" charset="-120"/>
              </a:rPr>
              <a:t>Use the Feedback form whenever you find an issue or have an idea.</a:t>
            </a:r>
            <a:endParaRPr lang="en-US" sz="1280" dirty="0"/>
          </a:p>
        </p:txBody>
      </p:sp>
      <p:sp>
        <p:nvSpPr>
          <p:cNvPr id="27" name="Text 22"/>
          <p:cNvSpPr/>
          <p:nvPr/>
        </p:nvSpPr>
        <p:spPr>
          <a:xfrm>
            <a:off x="548640" y="6473952"/>
            <a:ext cx="2743200" cy="27432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Orbit</a:t>
            </a:r>
            <a:pPr indent="0" marL="0">
              <a:buNone/>
            </a:pP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28" name="Text 23"/>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10058400" y="5120640"/>
            <a:ext cx="1828800" cy="1828800"/>
          </a:xfrm>
          <a:prstGeom prst="ellipse">
            <a:avLst/>
          </a:prstGeom>
          <a:ln w="12700">
            <a:solidFill>
              <a:srgbClr val="818CF8">
                <a:alpha val="18000"/>
              </a:srgbClr>
            </a:solidFill>
            <a:prstDash val="solid"/>
          </a:ln>
        </p:spPr>
      </p:sp>
      <p:sp>
        <p:nvSpPr>
          <p:cNvPr id="3" name="Shape 1"/>
          <p:cNvSpPr/>
          <p:nvPr/>
        </p:nvSpPr>
        <p:spPr>
          <a:xfrm>
            <a:off x="9326880" y="4389120"/>
            <a:ext cx="3291840" cy="3291840"/>
          </a:xfrm>
          <a:prstGeom prst="ellipse">
            <a:avLst/>
          </a:prstGeom>
          <a:ln w="12700">
            <a:solidFill>
              <a:srgbClr val="818CF8">
                <a:alpha val="18000"/>
              </a:srgbClr>
            </a:solidFill>
            <a:prstDash val="solid"/>
          </a:ln>
        </p:spPr>
      </p:sp>
      <p:sp>
        <p:nvSpPr>
          <p:cNvPr id="4" name="Shape 2"/>
          <p:cNvSpPr/>
          <p:nvPr/>
        </p:nvSpPr>
        <p:spPr>
          <a:xfrm>
            <a:off x="8503920" y="3566160"/>
            <a:ext cx="4937760" cy="4937760"/>
          </a:xfrm>
          <a:prstGeom prst="ellipse">
            <a:avLst/>
          </a:prstGeom>
          <a:ln w="12700">
            <a:solidFill>
              <a:srgbClr val="818CF8">
                <a:alpha val="18000"/>
              </a:srgbClr>
            </a:solidFill>
            <a:prstDash val="solid"/>
          </a:ln>
        </p:spPr>
      </p:sp>
      <p:sp>
        <p:nvSpPr>
          <p:cNvPr id="5" name="Shape 3"/>
          <p:cNvSpPr/>
          <p:nvPr/>
        </p:nvSpPr>
        <p:spPr>
          <a:xfrm>
            <a:off x="7589520" y="2651760"/>
            <a:ext cx="6766560" cy="6766560"/>
          </a:xfrm>
          <a:prstGeom prst="ellipse">
            <a:avLst/>
          </a:prstGeom>
          <a:ln w="12700">
            <a:solidFill>
              <a:srgbClr val="818CF8">
                <a:alpha val="18000"/>
              </a:srgbClr>
            </a:solidFill>
            <a:prstDash val="solid"/>
          </a:ln>
        </p:spPr>
      </p:sp>
      <p:sp>
        <p:nvSpPr>
          <p:cNvPr id="6" name="Shape 4"/>
          <p:cNvSpPr/>
          <p:nvPr/>
        </p:nvSpPr>
        <p:spPr>
          <a:xfrm>
            <a:off x="10908792" y="4325112"/>
            <a:ext cx="128016" cy="128016"/>
          </a:xfrm>
          <a:prstGeom prst="ellipse">
            <a:avLst/>
          </a:prstGeom>
          <a:solidFill>
            <a:srgbClr val="818CF8"/>
          </a:solidFill>
          <a:ln/>
        </p:spPr>
      </p:sp>
      <p:sp>
        <p:nvSpPr>
          <p:cNvPr id="7" name="Text 5"/>
          <p:cNvSpPr/>
          <p:nvPr/>
        </p:nvSpPr>
        <p:spPr>
          <a:xfrm>
            <a:off x="1280160" y="914400"/>
            <a:ext cx="7315200" cy="384048"/>
          </a:xfrm>
          <a:prstGeom prst="rect">
            <a:avLst/>
          </a:prstGeom>
          <a:noFill/>
          <a:ln/>
        </p:spPr>
        <p:txBody>
          <a:bodyPr wrap="square" lIns="0" tIns="0" rIns="0" bIns="0" rtlCol="0" anchor="ctr"/>
          <a:lstStyle/>
          <a:p>
            <a:pPr indent="0" marL="0">
              <a:buNone/>
            </a:pPr>
            <a:r>
              <a:rPr lang="en-US" sz="1700" i="1" dirty="0">
                <a:solidFill>
                  <a:srgbClr val="94A3B8"/>
                </a:solidFill>
                <a:latin typeface="Calibri" pitchFamily="34" charset="0"/>
                <a:ea typeface="Calibri" pitchFamily="34" charset="-122"/>
                <a:cs typeface="Calibri" pitchFamily="34" charset="-120"/>
              </a:rPr>
              <a:t>Who's working?</a:t>
            </a:r>
            <a:endParaRPr lang="en-US" sz="1700" dirty="0"/>
          </a:p>
        </p:txBody>
      </p:sp>
      <p:sp>
        <p:nvSpPr>
          <p:cNvPr id="8" name="Text 6"/>
          <p:cNvSpPr/>
          <p:nvPr/>
        </p:nvSpPr>
        <p:spPr>
          <a:xfrm>
            <a:off x="1280160" y="1353312"/>
            <a:ext cx="7315200" cy="384048"/>
          </a:xfrm>
          <a:prstGeom prst="rect">
            <a:avLst/>
          </a:prstGeom>
          <a:noFill/>
          <a:ln/>
        </p:spPr>
        <p:txBody>
          <a:bodyPr wrap="square" lIns="0" tIns="0" rIns="0" bIns="0" rtlCol="0" anchor="ctr"/>
          <a:lstStyle/>
          <a:p>
            <a:pPr indent="0" marL="0">
              <a:buNone/>
            </a:pPr>
            <a:r>
              <a:rPr lang="en-US" sz="1700" i="1" dirty="0">
                <a:solidFill>
                  <a:srgbClr val="94A3B8"/>
                </a:solidFill>
                <a:latin typeface="Calibri" pitchFamily="34" charset="0"/>
                <a:ea typeface="Calibri" pitchFamily="34" charset="-122"/>
                <a:cs typeface="Calibri" pitchFamily="34" charset="-120"/>
              </a:rPr>
              <a:t>Who's away?</a:t>
            </a:r>
            <a:endParaRPr lang="en-US" sz="1700" dirty="0"/>
          </a:p>
        </p:txBody>
      </p:sp>
      <p:sp>
        <p:nvSpPr>
          <p:cNvPr id="9" name="Text 7"/>
          <p:cNvSpPr/>
          <p:nvPr/>
        </p:nvSpPr>
        <p:spPr>
          <a:xfrm>
            <a:off x="1280160" y="1792224"/>
            <a:ext cx="7315200" cy="384048"/>
          </a:xfrm>
          <a:prstGeom prst="rect">
            <a:avLst/>
          </a:prstGeom>
          <a:noFill/>
          <a:ln/>
        </p:spPr>
        <p:txBody>
          <a:bodyPr wrap="square" lIns="0" tIns="0" rIns="0" bIns="0" rtlCol="0" anchor="ctr"/>
          <a:lstStyle/>
          <a:p>
            <a:pPr indent="0" marL="0">
              <a:buNone/>
            </a:pPr>
            <a:r>
              <a:rPr lang="en-US" sz="1700" i="1" dirty="0">
                <a:solidFill>
                  <a:srgbClr val="94A3B8"/>
                </a:solidFill>
                <a:latin typeface="Calibri" pitchFamily="34" charset="0"/>
                <a:ea typeface="Calibri" pitchFamily="34" charset="-122"/>
                <a:cs typeface="Calibri" pitchFamily="34" charset="-120"/>
              </a:rPr>
              <a:t>Where are we working from?</a:t>
            </a:r>
            <a:endParaRPr lang="en-US" sz="1700" dirty="0"/>
          </a:p>
        </p:txBody>
      </p:sp>
      <p:sp>
        <p:nvSpPr>
          <p:cNvPr id="10" name="Text 8"/>
          <p:cNvSpPr/>
          <p:nvPr/>
        </p:nvSpPr>
        <p:spPr>
          <a:xfrm>
            <a:off x="1280160" y="2231136"/>
            <a:ext cx="7315200" cy="384048"/>
          </a:xfrm>
          <a:prstGeom prst="rect">
            <a:avLst/>
          </a:prstGeom>
          <a:noFill/>
          <a:ln/>
        </p:spPr>
        <p:txBody>
          <a:bodyPr wrap="square" lIns="0" tIns="0" rIns="0" bIns="0" rtlCol="0" anchor="ctr"/>
          <a:lstStyle/>
          <a:p>
            <a:pPr indent="0" marL="0">
              <a:buNone/>
            </a:pPr>
            <a:r>
              <a:rPr lang="en-US" sz="1700" i="1" dirty="0">
                <a:solidFill>
                  <a:srgbClr val="94A3B8"/>
                </a:solidFill>
                <a:latin typeface="Calibri" pitchFamily="34" charset="0"/>
                <a:ea typeface="Calibri" pitchFamily="34" charset="-122"/>
                <a:cs typeface="Calibri" pitchFamily="34" charset="-120"/>
              </a:rPr>
              <a:t>When are we available?</a:t>
            </a:r>
            <a:endParaRPr lang="en-US" sz="1700" dirty="0"/>
          </a:p>
        </p:txBody>
      </p:sp>
      <p:sp>
        <p:nvSpPr>
          <p:cNvPr id="11" name="Text 9"/>
          <p:cNvSpPr/>
          <p:nvPr/>
        </p:nvSpPr>
        <p:spPr>
          <a:xfrm>
            <a:off x="1280160" y="2670048"/>
            <a:ext cx="7315200" cy="384048"/>
          </a:xfrm>
          <a:prstGeom prst="rect">
            <a:avLst/>
          </a:prstGeom>
          <a:noFill/>
          <a:ln/>
        </p:spPr>
        <p:txBody>
          <a:bodyPr wrap="square" lIns="0" tIns="0" rIns="0" bIns="0" rtlCol="0" anchor="ctr"/>
          <a:lstStyle/>
          <a:p>
            <a:pPr indent="0" marL="0">
              <a:buNone/>
            </a:pPr>
            <a:r>
              <a:rPr lang="en-US" sz="1700" i="1" dirty="0">
                <a:solidFill>
                  <a:srgbClr val="94A3B8"/>
                </a:solidFill>
                <a:latin typeface="Calibri" pitchFamily="34" charset="0"/>
                <a:ea typeface="Calibri" pitchFamily="34" charset="-122"/>
                <a:cs typeface="Calibri" pitchFamily="34" charset="-120"/>
              </a:rPr>
              <a:t>What leave do I have?</a:t>
            </a:r>
            <a:endParaRPr lang="en-US" sz="1700" dirty="0"/>
          </a:p>
        </p:txBody>
      </p:sp>
      <p:sp>
        <p:nvSpPr>
          <p:cNvPr id="12" name="Text 10"/>
          <p:cNvSpPr/>
          <p:nvPr/>
        </p:nvSpPr>
        <p:spPr>
          <a:xfrm>
            <a:off x="1280160" y="3108960"/>
            <a:ext cx="7315200" cy="384048"/>
          </a:xfrm>
          <a:prstGeom prst="rect">
            <a:avLst/>
          </a:prstGeom>
          <a:noFill/>
          <a:ln/>
        </p:spPr>
        <p:txBody>
          <a:bodyPr wrap="square" lIns="0" tIns="0" rIns="0" bIns="0" rtlCol="0" anchor="ctr"/>
          <a:lstStyle/>
          <a:p>
            <a:pPr indent="0" marL="0">
              <a:buNone/>
            </a:pPr>
            <a:r>
              <a:rPr lang="en-US" sz="1700" i="1" dirty="0">
                <a:solidFill>
                  <a:srgbClr val="94A3B8"/>
                </a:solidFill>
                <a:latin typeface="Calibri" pitchFamily="34" charset="0"/>
                <a:ea typeface="Calibri" pitchFamily="34" charset="-122"/>
                <a:cs typeface="Calibri" pitchFamily="34" charset="-120"/>
              </a:rPr>
              <a:t>Where do I make the request?</a:t>
            </a:r>
            <a:endParaRPr lang="en-US" sz="1700" dirty="0"/>
          </a:p>
        </p:txBody>
      </p:sp>
      <p:sp>
        <p:nvSpPr>
          <p:cNvPr id="13" name="Shape 11"/>
          <p:cNvSpPr/>
          <p:nvPr/>
        </p:nvSpPr>
        <p:spPr>
          <a:xfrm>
            <a:off x="1325880" y="4096512"/>
            <a:ext cx="310896" cy="310896"/>
          </a:xfrm>
          <a:prstGeom prst="diamond">
            <a:avLst/>
          </a:prstGeom>
          <a:solidFill>
            <a:srgbClr val="4F46E5"/>
          </a:solidFill>
          <a:ln/>
        </p:spPr>
      </p:sp>
      <p:sp>
        <p:nvSpPr>
          <p:cNvPr id="14" name="Text 12"/>
          <p:cNvSpPr/>
          <p:nvPr/>
        </p:nvSpPr>
        <p:spPr>
          <a:xfrm>
            <a:off x="1783080" y="3794760"/>
            <a:ext cx="73152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Orbit.</a:t>
            </a:r>
            <a:endParaRPr lang="en-US" sz="5400" dirty="0"/>
          </a:p>
        </p:txBody>
      </p:sp>
      <p:sp>
        <p:nvSpPr>
          <p:cNvPr id="15" name="Text 13"/>
          <p:cNvSpPr/>
          <p:nvPr/>
        </p:nvSpPr>
        <p:spPr>
          <a:xfrm>
            <a:off x="1325880" y="4892040"/>
            <a:ext cx="8686800" cy="411480"/>
          </a:xfrm>
          <a:prstGeom prst="rect">
            <a:avLst/>
          </a:prstGeom>
          <a:noFill/>
          <a:ln/>
        </p:spPr>
        <p:txBody>
          <a:bodyPr wrap="square" lIns="0" tIns="0" rIns="0" bIns="0" rtlCol="0" anchor="ctr"/>
          <a:lstStyle/>
          <a:p>
            <a:pPr indent="0" marL="0">
              <a:buNone/>
            </a:pPr>
            <a:r>
              <a:rPr lang="en-US" sz="1700" i="1" dirty="0">
                <a:solidFill>
                  <a:srgbClr val="E2E8F0"/>
                </a:solidFill>
                <a:latin typeface="Calibri" pitchFamily="34" charset="0"/>
                <a:ea typeface="Calibri" pitchFamily="34" charset="-122"/>
                <a:cs typeface="Calibri" pitchFamily="34" charset="-120"/>
              </a:rPr>
              <a:t>One place to understand the working organization.</a:t>
            </a:r>
            <a:endParaRPr lang="en-US" sz="1700" dirty="0"/>
          </a:p>
        </p:txBody>
      </p:sp>
      <p:sp>
        <p:nvSpPr>
          <p:cNvPr id="16" name="Shape 14"/>
          <p:cNvSpPr/>
          <p:nvPr/>
        </p:nvSpPr>
        <p:spPr>
          <a:xfrm>
            <a:off x="1325880" y="5623560"/>
            <a:ext cx="2926080" cy="0"/>
          </a:xfrm>
          <a:prstGeom prst="line">
            <a:avLst/>
          </a:prstGeom>
          <a:noFill/>
          <a:ln w="12700">
            <a:solidFill>
              <a:srgbClr val="1E293B"/>
            </a:solidFill>
            <a:prstDash val="solid"/>
          </a:ln>
        </p:spPr>
      </p:sp>
      <p:sp>
        <p:nvSpPr>
          <p:cNvPr id="17" name="Text 15"/>
          <p:cNvSpPr/>
          <p:nvPr/>
        </p:nvSpPr>
        <p:spPr>
          <a:xfrm>
            <a:off x="1325880" y="5779008"/>
            <a:ext cx="1024128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Beta today. The central employee workspace tomorrow.   </a:t>
            </a:r>
            <a:pPr indent="0" marL="0">
              <a:buNone/>
            </a:pPr>
            <a:r>
              <a:rPr lang="en-US" sz="1300" dirty="0">
                <a:solidFill>
                  <a:srgbClr val="94A3B8"/>
                </a:solidFill>
                <a:latin typeface="Calibri" pitchFamily="34" charset="0"/>
                <a:ea typeface="Calibri" pitchFamily="34" charset="-122"/>
                <a:cs typeface="Calibri" pitchFamily="34" charset="-120"/>
              </a:rPr>
              <a:t>Questions &amp; feedback: contact@trulaoverseas.com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2026-08-10T09:11:16Z</dcterms:created>
  <dcterms:modified xsi:type="dcterms:W3CDTF">2026-08-10T09:11:16Z</dcterms:modified>
</cp:coreProperties>
</file>