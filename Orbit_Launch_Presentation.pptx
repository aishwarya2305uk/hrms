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F172A"/>
                </a:solidFill>
                <a:latin typeface="Calibri"/>
              </a:rPr>
              <a:t>Weekly trend — average hours per day (sample)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hours / day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64748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Week 1</c:v>
                  </c:pt>
                  <c:pt idx="1">
                    <c:v>Week 2</c:v>
                  </c:pt>
                  <c:pt idx="2">
                    <c:v>Week 3</c:v>
                  </c:pt>
                  <c:pt idx="3">
                    <c:v>Week 4</c:v>
                  </c:pt>
                  <c:pt idx="4">
                    <c:v>Week 5</c:v>
                  </c:pt>
                  <c:pt idx="5">
                    <c:v>Week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7.6</c:v>
                </c:pt>
                <c:pt idx="1">
                  <c:v>8.2</c:v>
                </c:pt>
                <c:pt idx="2">
                  <c:v>8.4</c:v>
                </c:pt>
                <c:pt idx="3">
                  <c:v>7.9</c:v>
                </c:pt>
                <c:pt idx="4">
                  <c:v>8.6</c:v>
                </c:pt>
                <c:pt idx="5">
                  <c:v>8.3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64748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12700" cap="flat">
              <a:solidFill>
                <a:srgbClr val="EEF2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Today we are launching Orbit — Trula's own HR management system, built in-house. Orbit brings attendance, leave, approvals, notifications and HR documents into a single, fast application. Over the next few minutes I'll walk you through what it does, who it serves, and why it will make everyday work simpler for all of 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pain points are familiar: manual timesheets, leave over email, balance disputes, scattered documents. Orbit replaces all of that with one system where the record keeps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pillars: attendance, leave and work-from-home, approvals, communication, documents, and configurable policies. Simple and fast — no clutter, no unnecessary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roles. Every person gets a personal dashboard. Manager is a role layered on an employee account — managers track their own time and leave like anyone else, plus an approvals queue for their direct reports only. Administrators add company-wide policy and people management on 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Attendance is one button that changes as your day progresses: check in, pause and resume freely, check out. Because it lives on the server, refreshing or switching devices never loses time. Full day is 8 hours — 8 or more marks Present, under 8 auto-marks Leave. Forget to check out and the system closes your day at midnight.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Beyond raw hours, every employee gets a personal analytics view over the last 90 days: presents, short days, averages, best day, streaks, a weekly trend chart and a daily heatmap. This is personal insight — each person sees their own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Applying for leave takes a few clicks: pick a type, pick when, add a reason. Four ways to pick dates — ranges, up to 31 hand-picked days, half days, and an explicit working-hours window. Fairness is built in: balance only moves on approval, and pending requests can be cancelled any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Approvals live with the person who knows the team: the direct manager. Managers only ever see their own reports' requests, and Orbit re-verifies the balance at approval time so it can never go negative. Work-from-home follows the same flow but is tracked separately — it never touches leave balance and never shows as an absence.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channels keep everyone informed. Notifications collect what needs your attention. Announcements are targeted — company-wide, per role, per team, or custom groups a manager creates from their own people. And the team calendar shows availability at a glance while keeping leave reasons private.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person has a profile and a personal document file. Private fields stay private — visible only to the employee and administrators. Documents follow strict access: you, your direct manager, and admins. And only an admin can delete a document, so official records are protected.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admins, the theme is guardrails. You can't lock yourself out, you can't orphan a team, you can't create a reporting loop. Policy changes are never retroactive, so nobody's granted allowance is silently taken away. The org view shows the whole company as a live tree.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was a first-class requirement: encrypted passwords, sign-in throttling, optional captcha, and strict role-based access on every API. All state lives on the server, so nothing is lost to a refresh. Under the hood it's a modern stack — React 19, Vite, Express and MongoDB — responsive on any device.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Orbit is live today. Three steps to get started: sign in with your company email, check in to start your first tracked day, and personalise your workspace. Thank you — happy to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274320"/>
            <a:ext cx="2011680" cy="2011680"/>
          </a:xfrm>
          <a:prstGeom prst="ellipse">
            <a:avLst/>
          </a:prstGeom>
          <a:ln w="12700">
            <a:solidFill>
              <a:srgbClr val="818CF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-457200"/>
            <a:ext cx="3474720" cy="3474720"/>
          </a:xfrm>
          <a:prstGeom prst="ellipse">
            <a:avLst/>
          </a:prstGeom>
          <a:ln w="12700">
            <a:solidFill>
              <a:srgbClr val="818CF8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1280160"/>
            <a:ext cx="5120640" cy="5120640"/>
          </a:xfrm>
          <a:prstGeom prst="ellipse">
            <a:avLst/>
          </a:prstGeom>
          <a:ln w="12700">
            <a:solidFill>
              <a:srgbClr val="818CF8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0" y="-2194560"/>
            <a:ext cx="6949440" cy="6949440"/>
          </a:xfrm>
          <a:prstGeom prst="ellipse">
            <a:avLst/>
          </a:prstGeom>
          <a:ln w="12700">
            <a:solidFill>
              <a:srgbClr val="818CF8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5486400"/>
            <a:ext cx="1645920" cy="1645920"/>
          </a:xfrm>
          <a:prstGeom prst="ellipse">
            <a:avLst/>
          </a:prstGeom>
          <a:ln w="1270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365760" y="4846320"/>
            <a:ext cx="2926080" cy="2926080"/>
          </a:xfrm>
          <a:prstGeom prst="ellipse">
            <a:avLst/>
          </a:prstGeom>
          <a:ln w="1270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1097280" y="4114800"/>
            <a:ext cx="4389120" cy="4389120"/>
          </a:xfrm>
          <a:prstGeom prst="ellipse">
            <a:avLst/>
          </a:prstGeom>
          <a:ln w="1270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23192" y="1216152"/>
            <a:ext cx="128016" cy="128016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0" name="Shape 8"/>
          <p:cNvSpPr/>
          <p:nvPr/>
        </p:nvSpPr>
        <p:spPr>
          <a:xfrm>
            <a:off x="10094976" y="3785616"/>
            <a:ext cx="109728" cy="10972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1" name="Shape 9"/>
          <p:cNvSpPr/>
          <p:nvPr/>
        </p:nvSpPr>
        <p:spPr>
          <a:xfrm>
            <a:off x="768096" y="2203704"/>
            <a:ext cx="384048" cy="384048"/>
          </a:xfrm>
          <a:prstGeom prst="diamond">
            <a:avLst/>
          </a:prstGeom>
          <a:solidFill>
            <a:srgbClr val="4F46E5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2304288"/>
            <a:ext cx="182880" cy="182880"/>
          </a:xfrm>
          <a:prstGeom prst="diamond">
            <a:avLst/>
          </a:prstGeom>
          <a:solidFill>
            <a:srgbClr val="818CF8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18745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Orbit</a:t>
            </a:r>
            <a:endParaRPr lang="en-US" sz="6600" dirty="0"/>
          </a:p>
        </p:txBody>
      </p:sp>
      <p:sp>
        <p:nvSpPr>
          <p:cNvPr id="14" name="Text 12"/>
          <p:cNvSpPr/>
          <p:nvPr/>
        </p:nvSpPr>
        <p:spPr>
          <a:xfrm>
            <a:off x="1325880" y="29992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</a:t>
            </a:r>
            <a:pPr indent="0" marL="0">
              <a:buNone/>
            </a:pPr>
            <a:r>
              <a:rPr lang="en-US" sz="2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Trula.ai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25880" y="363931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everyday essentials of work — in one place.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25880" y="42245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  ·   Leave &amp; WFH   ·   Approvals   ·   Notifications   ·   Documents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325880" y="5120640"/>
            <a:ext cx="29260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5880" y="52852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Launch  •  Company Conference  •  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built Orbit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341303" y="585216"/>
            <a:ext cx="146304" cy="146304"/>
          </a:xfrm>
          <a:prstGeom prst="diamond">
            <a:avLst/>
          </a:prstGeom>
          <a:solidFill>
            <a:srgbClr val="818CF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D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96596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FEE2E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287" y="2070567"/>
            <a:ext cx="266273" cy="2662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81328" y="200253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Orbit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2651760"/>
            <a:ext cx="4617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kept in manual timesheets — easy to miss, hard to trust</a:t>
            </a:r>
            <a:endParaRPr lang="en-US" sz="1400" dirty="0"/>
          </a:p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requested over email and chat, with no clear status</a:t>
            </a:r>
            <a:endParaRPr lang="en-US" sz="1400" dirty="0"/>
          </a:p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tracked by hand; disputes at year-end</a:t>
            </a:r>
            <a:endParaRPr lang="en-US" sz="1400" dirty="0"/>
          </a:p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documents scattered across drives and inboxes</a:t>
            </a:r>
            <a:endParaRPr lang="en-US" sz="1400" dirty="0"/>
          </a:p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view of who is in, out, or working from home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63640" y="169164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196596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D1FAE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287" y="2070567"/>
            <a:ext cx="266273" cy="26627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96328" y="200253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Orbit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629400" y="2651760"/>
            <a:ext cx="4617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One-button daily timer — the system keeps the record automatically</a:t>
            </a:r>
            <a:endParaRPr lang="en-US" sz="1400" dirty="0"/>
          </a:p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and WFH applied in a few clicks, status visible at every step</a:t>
            </a:r>
            <a:endParaRPr lang="en-US" sz="1400" dirty="0"/>
          </a:p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update themselves, only when a request is approved</a:t>
            </a:r>
            <a:endParaRPr lang="en-US" sz="1400" dirty="0"/>
          </a:p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employee has one secure personal document file</a:t>
            </a:r>
            <a:endParaRPr lang="en-US" sz="1400" dirty="0"/>
          </a:p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calendar and analytics give everyone clarity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Trula.ai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the workday needs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341303" y="585216"/>
            <a:ext cx="146304" cy="146304"/>
          </a:xfrm>
          <a:prstGeom prst="diamond">
            <a:avLst/>
          </a:prstGeom>
          <a:solidFill>
            <a:srgbClr val="818CF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3657600" cy="2084832"/>
          </a:xfrm>
          <a:prstGeom prst="roundRect">
            <a:avLst>
              <a:gd name="adj" fmla="val 43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92938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EF2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02996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89888" y="19659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04672" y="2606040"/>
            <a:ext cx="31455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daily timer replaces timesheets — check in, pause for breaks, check out. Trends over time, automatically.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70832" y="1691640"/>
            <a:ext cx="3657600" cy="2084832"/>
          </a:xfrm>
          <a:prstGeom prst="roundRect">
            <a:avLst>
              <a:gd name="adj" fmla="val 43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26864" y="192938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EF2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202996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12080" y="19659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 &amp; Work-from-home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626864" y="2606040"/>
            <a:ext cx="31455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days, half days, ranges or hand-picked dates — applied in a few clicks, with live status.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93024" y="1691640"/>
            <a:ext cx="3657600" cy="2084832"/>
          </a:xfrm>
          <a:prstGeom prst="roundRect">
            <a:avLst>
              <a:gd name="adj" fmla="val 43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49056" y="192938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EF2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029968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34272" y="19659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Approvals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449056" y="2606040"/>
            <a:ext cx="31455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decide on their own team's requests from a dedicated queue — no one else's.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4032504"/>
            <a:ext cx="3657600" cy="2084832"/>
          </a:xfrm>
          <a:prstGeom prst="roundRect">
            <a:avLst>
              <a:gd name="adj" fmla="val 43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04672" y="427024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EF2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370832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89888" y="430682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 &amp; Announcements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804672" y="4946904"/>
            <a:ext cx="31455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bell drawer and a dedicated page for everything that needs your attention — plus targeted broadcasts.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370832" y="4032504"/>
            <a:ext cx="3657600" cy="2084832"/>
          </a:xfrm>
          <a:prstGeom prst="roundRect">
            <a:avLst>
              <a:gd name="adj" fmla="val 43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26864" y="427024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EF2FF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4370832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12080" y="430682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4626864" y="4946904"/>
            <a:ext cx="31455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HR file per employee — ID proofs, certificates, contracts — with strict access control.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8193024" y="4032504"/>
            <a:ext cx="3657600" cy="2084832"/>
          </a:xfrm>
          <a:prstGeom prst="roundRect">
            <a:avLst>
              <a:gd name="adj" fmla="val 43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449056" y="427024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EF2FF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4370832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034272" y="430682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Policies &amp; Administration</a:t>
            </a:r>
            <a:endParaRPr lang="en-US" sz="1550" dirty="0"/>
          </a:p>
        </p:txBody>
      </p:sp>
      <p:sp>
        <p:nvSpPr>
          <p:cNvPr id="34" name="Text 26"/>
          <p:cNvSpPr/>
          <p:nvPr/>
        </p:nvSpPr>
        <p:spPr>
          <a:xfrm>
            <a:off x="8449056" y="4946904"/>
            <a:ext cx="31455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leave types and employment types, each with its own annual allowance. Your policy, your rules.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Trula.ai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ACCESS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roles, one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341303" y="585216"/>
            <a:ext cx="146304" cy="146304"/>
          </a:xfrm>
          <a:prstGeom prst="diamond">
            <a:avLst/>
          </a:prstGeom>
          <a:solidFill>
            <a:srgbClr val="818CF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3611880" cy="4297680"/>
          </a:xfrm>
          <a:prstGeom prst="roundRect">
            <a:avLst>
              <a:gd name="adj" fmla="val 253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65960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EEF2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614" y="2078614"/>
            <a:ext cx="286756" cy="2867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9659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463040" y="235000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starts here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41248" y="2880360"/>
            <a:ext cx="304495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attendance, see personal analytics</a:t>
            </a:r>
            <a:endParaRPr lang="en-US" sz="125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leave &amp; WFH, watch balances live</a:t>
            </a:r>
            <a:endParaRPr lang="en-US" sz="125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Notifications, announcements &amp; calendar</a:t>
            </a:r>
            <a:endParaRPr lang="en-US" sz="125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profile and secure document file</a:t>
            </a:r>
            <a:endParaRPr lang="en-US" sz="125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HR Request buttons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52544" y="1691640"/>
            <a:ext cx="3611880" cy="4297680"/>
          </a:xfrm>
          <a:prstGeom prst="roundRect">
            <a:avLst>
              <a:gd name="adj" fmla="val 2532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26864" y="1965960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E0E7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518" y="2078614"/>
            <a:ext cx="286756" cy="2867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66944" y="19659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5266944" y="235000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 on top — not a separate account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645152" y="2880360"/>
            <a:ext cx="304495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an employee can do</a:t>
            </a:r>
            <a:endParaRPr lang="en-US" sz="125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direct reports' requests</a:t>
            </a:r>
            <a:endParaRPr lang="en-US" sz="125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 to their team or custom groups</a:t>
            </a:r>
            <a:endParaRPr lang="en-US" sz="125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direct reports' documents</a:t>
            </a:r>
            <a:endParaRPr lang="en-US" sz="125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queue right on the dashboard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156448" y="1691640"/>
            <a:ext cx="3611880" cy="4297680"/>
          </a:xfrm>
          <a:prstGeom prst="roundRect">
            <a:avLst>
              <a:gd name="adj" fmla="val 253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30768" y="1965960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EEF2F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3422" y="2078614"/>
            <a:ext cx="286756" cy="2867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070848" y="19659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Administrator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9070848" y="235000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Company-wide oversight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8449056" y="2880360"/>
            <a:ext cx="304495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manager can do</a:t>
            </a:r>
            <a:endParaRPr lang="en-US" sz="125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employees, change roles &amp; reporting lines</a:t>
            </a:r>
            <a:endParaRPr lang="en-US" sz="125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leave types &amp; employment policies</a:t>
            </a:r>
            <a:endParaRPr lang="en-US" sz="125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Company-wide attendance, leave &amp; org chart</a:t>
            </a:r>
            <a:endParaRPr lang="en-US" sz="125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forms, settings &amp; all documents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Trula.ai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whole day, one button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341303" y="585216"/>
            <a:ext cx="146304" cy="146304"/>
          </a:xfrm>
          <a:prstGeom prst="diamond">
            <a:avLst/>
          </a:prstGeom>
          <a:solidFill>
            <a:srgbClr val="818CF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271" y="1937431"/>
            <a:ext cx="276515" cy="2765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8105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Check in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188720" y="21945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when you start work — the timer begins.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86384" y="2395728"/>
            <a:ext cx="0" cy="777240"/>
          </a:xfrm>
          <a:prstGeom prst="line">
            <a:avLst/>
          </a:prstGeom>
          <a:noFill/>
          <a:ln w="19050">
            <a:solidFill>
              <a:srgbClr val="C7D2FE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548640" y="3182112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FFFBE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71" y="3290743"/>
            <a:ext cx="276515" cy="27651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316382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Pause / Resume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188720" y="354787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or a break? Pause as often as you like — paused time never counts as work.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86384" y="3749040"/>
            <a:ext cx="0" cy="777240"/>
          </a:xfrm>
          <a:prstGeom prst="line">
            <a:avLst/>
          </a:prstGeom>
          <a:noFill/>
          <a:ln w="19050">
            <a:solidFill>
              <a:srgbClr val="C7D2FE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>
            <a:off x="548640" y="4535424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71" y="4644055"/>
            <a:ext cx="276515" cy="27651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45171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Check out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188720" y="4901184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for the day — Orbit totals your time, breaks excluded, and locks in the result.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63640" y="1783080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10528" y="20025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EF2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065" y="2095073"/>
            <a:ext cx="235549" cy="2355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59168" y="19659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on the server, not your browser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059168" y="230428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the page, close your laptop, sign in elsewhere — your elapsed time is always accurate.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263640" y="3264408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510528" y="348386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EF2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3065" y="3576401"/>
            <a:ext cx="235549" cy="23554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059168" y="344728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8-hour rule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7059168" y="3785616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 hours → the day is marked Present.  Under 8 hours → automatically marked as Leave, visible on your calendar.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263640" y="4745736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510528" y="4965192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EF2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3065" y="5057729"/>
            <a:ext cx="235549" cy="23554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59168" y="492861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to check out?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7059168" y="5266944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closes your day at midnight with the time already accumulated. No timer runs forever.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Trula.ai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your patterns, not just your hours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341303" y="585216"/>
            <a:ext cx="146304" cy="146304"/>
          </a:xfrm>
          <a:prstGeom prst="diamond">
            <a:avLst/>
          </a:prstGeom>
          <a:solidFill>
            <a:srgbClr val="818CF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202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rolling insight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80360" y="20574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present &amp; short days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and average hours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day, current &amp; longest streaks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5120640" cy="205740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41605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EF2F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4261104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17320" y="417880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Week-by-week trend &amp; daily heatmap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41248" y="47091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patterns at a glance — busy weeks, quiet Fridays, your longest present streak — without digging through raw dates.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26480" y="1783080"/>
            <a:ext cx="5486400" cy="4206240"/>
          </a:xfrm>
          <a:prstGeom prst="roundRect">
            <a:avLst>
              <a:gd name="adj" fmla="val 217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8000"/>
              </a:srgbClr>
            </a:outerShdw>
          </a:effectLst>
        </p:spPr>
      </p:sp>
      <p:graphicFrame>
        <p:nvGraphicFramePr>
          <p:cNvPr id="15" name="Chart 0" descr=""/>
          <p:cNvGraphicFramePr/>
          <p:nvPr/>
        </p:nvGraphicFramePr>
        <p:xfrm>
          <a:off x="6355080" y="2011680"/>
          <a:ext cx="50292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 12"/>
          <p:cNvSpPr/>
          <p:nvPr/>
        </p:nvSpPr>
        <p:spPr>
          <a:xfrm>
            <a:off x="6355080" y="5486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data — every employee sees their own live analytics.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Trula.ai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off, with real flexibility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341303" y="585216"/>
            <a:ext cx="146304" cy="146304"/>
          </a:xfrm>
          <a:prstGeom prst="diamond">
            <a:avLst/>
          </a:prstGeom>
          <a:solidFill>
            <a:srgbClr val="818CF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EEF2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201" y="1879641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75564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43000" y="207568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start and end date for consecutive days.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825496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EEF2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01" y="2922057"/>
            <a:ext cx="245791" cy="2457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279806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dates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143000" y="311810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Hand-pick up to 31 scattered days — Orbit files one request per consecutive block.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867912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EEF2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01" y="3964473"/>
            <a:ext cx="245791" cy="24579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38404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days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143000" y="41605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or second half of a day — costs only 0.5 days of balance.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4910328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EEF2F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01" y="5006889"/>
            <a:ext cx="245791" cy="24579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488289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hours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143000" y="520293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carries its working-hours window, with sensible defaults pre-filled.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263640" y="1783080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8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6492240" y="205740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23" name="Text 17"/>
          <p:cNvSpPr/>
          <p:nvPr/>
        </p:nvSpPr>
        <p:spPr>
          <a:xfrm>
            <a:off x="6492240" y="26974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until approved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8092440" y="1984248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is deducted only when your manager approves. Pending or rejected requests never cost a day.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263640" y="3264408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8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6492240" y="353872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800" dirty="0"/>
          </a:p>
        </p:txBody>
      </p:sp>
      <p:sp>
        <p:nvSpPr>
          <p:cNvPr id="27" name="Text 21"/>
          <p:cNvSpPr/>
          <p:nvPr/>
        </p:nvSpPr>
        <p:spPr>
          <a:xfrm>
            <a:off x="6492240" y="41788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policy-driven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8092440" y="3465576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types and allowances are defined by your admins per employment type — Full-time, Intern, Part-time or custom.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6263640" y="4745736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8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6492240" y="5020056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click</a:t>
            </a:r>
            <a:endParaRPr lang="en-US" sz="2800" dirty="0"/>
          </a:p>
        </p:txBody>
      </p:sp>
      <p:sp>
        <p:nvSpPr>
          <p:cNvPr id="31" name="Text 25"/>
          <p:cNvSpPr/>
          <p:nvPr/>
        </p:nvSpPr>
        <p:spPr>
          <a:xfrm>
            <a:off x="6492240" y="56601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cancel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8092440" y="4946904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your mind? Cancel any request while it is still pending.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Trula.ai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&amp; REMOTE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where they belong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341303" y="585216"/>
            <a:ext cx="146304" cy="146304"/>
          </a:xfrm>
          <a:prstGeom prst="diamond">
            <a:avLst/>
          </a:prstGeom>
          <a:solidFill>
            <a:srgbClr val="818CF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96596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EF2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287" y="2070567"/>
            <a:ext cx="266273" cy="2662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81328" y="200253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Approvals — for managers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14400" y="2651760"/>
            <a:ext cx="4617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your direct manager can decide your request — nobody else in the company</a:t>
            </a:r>
            <a:endParaRPr lang="en-US" sz="130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shows who, staff code, dates, day-part, type and reason</a:t>
            </a:r>
            <a:endParaRPr lang="en-US" sz="130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approve or reject; rejections can carry a short note</a:t>
            </a:r>
            <a:endParaRPr lang="en-US" sz="130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is re-checked at the moment of approval — it can never go below zero</a:t>
            </a:r>
            <a:endParaRPr lang="en-US" sz="130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instantly update the employee's dashboard and notifications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169164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196596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EF2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287" y="2070567"/>
            <a:ext cx="266273" cy="26627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96328" y="200253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Work-from-home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6629400" y="2651760"/>
            <a:ext cx="4617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easy flow as leave — ranges, custom dates, half days</a:t>
            </a:r>
            <a:endParaRPr lang="en-US" sz="130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draws down your leave balance — tracked completely separately</a:t>
            </a:r>
            <a:endParaRPr lang="en-US" sz="130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appear on the “who's out” calendar — WFH is not an absence</a:t>
            </a:r>
            <a:endParaRPr lang="en-US" sz="130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reason is required, so the approving manager has context</a:t>
            </a:r>
            <a:endParaRPr lang="en-US" sz="130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by your direct manager, exactly like leave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Trula.ai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in the loop, no noise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341303" y="585216"/>
            <a:ext cx="146304" cy="146304"/>
          </a:xfrm>
          <a:prstGeom prst="diamond">
            <a:avLst/>
          </a:prstGeom>
          <a:solidFill>
            <a:srgbClr val="818CF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3611880" cy="4297680"/>
          </a:xfrm>
          <a:prstGeom prst="roundRect">
            <a:avLst>
              <a:gd name="adj" fmla="val 253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84248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591" y="2092879"/>
            <a:ext cx="276515" cy="27651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057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41248" y="2743200"/>
            <a:ext cx="304495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drawer + dedicated page, with unread badge</a:t>
            </a:r>
            <a:endParaRPr lang="en-US" sz="120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waiting on you, decisions on yours</a:t>
            </a:r>
            <a:endParaRPr lang="en-US" sz="120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approved time off (next 7 days)</a:t>
            </a:r>
            <a:endParaRPr lang="en-US" sz="120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messages, clearly flagged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52544" y="1691640"/>
            <a:ext cx="3611880" cy="4297680"/>
          </a:xfrm>
          <a:prstGeom prst="roundRect">
            <a:avLst>
              <a:gd name="adj" fmla="val 253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26864" y="1984248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495" y="2092879"/>
            <a:ext cx="276515" cy="27651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66944" y="2057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Announcements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645152" y="2743200"/>
            <a:ext cx="304495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Admins: broadcast to everyone or by role</a:t>
            </a:r>
            <a:endParaRPr lang="en-US" sz="120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Managers: their team, or hand-picked groups (“Project Alpha”)</a:t>
            </a:r>
            <a:endParaRPr lang="en-US" sz="120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posts surface in everyone's notifications</a:t>
            </a:r>
            <a:endParaRPr lang="en-US" sz="120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manage their own posts; admins can remove any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56448" y="1691640"/>
            <a:ext cx="3611880" cy="4297680"/>
          </a:xfrm>
          <a:prstGeom prst="roundRect">
            <a:avLst>
              <a:gd name="adj" fmla="val 253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30768" y="1984248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399" y="2092879"/>
            <a:ext cx="276515" cy="27651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70848" y="2057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calendar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449056" y="2743200"/>
            <a:ext cx="304495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view for every employee</a:t>
            </a:r>
            <a:endParaRPr lang="en-US" sz="120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requests, marked by date and status</a:t>
            </a:r>
            <a:endParaRPr lang="en-US" sz="120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Company-wide view of who is on approved leave</a:t>
            </a:r>
            <a:endParaRPr lang="en-US" sz="120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stay private between employee &amp; manager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Trula.ai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RECORDS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secure file per person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341303" y="585216"/>
            <a:ext cx="146304" cy="146304"/>
          </a:xfrm>
          <a:prstGeom prst="diamond">
            <a:avLst/>
          </a:prstGeom>
          <a:solidFill>
            <a:srgbClr val="818CF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96596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EF2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287" y="2070567"/>
            <a:ext cx="266273" cy="2662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81328" y="200253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Profiles, with privacy built in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2651760"/>
            <a:ext cx="4617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staff code, department, title, employment type, joining date</a:t>
            </a:r>
            <a:endParaRPr lang="en-US" sz="125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details (DOB, address, phone, IDs) visible only to you and administrators</a:t>
            </a:r>
            <a:endParaRPr lang="en-US" sz="125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staff codes (EMP001…) so similar names are never confused</a:t>
            </a:r>
            <a:endParaRPr lang="en-US" sz="125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update your own details; employment type is admin-only, since it drives leave allowance</a:t>
            </a:r>
            <a:endParaRPr lang="en-US" sz="125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workspace themes, remembered per person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169164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196596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EF2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287" y="2070567"/>
            <a:ext cx="266273" cy="26627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96328" y="200253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Documents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629400" y="2651760"/>
            <a:ext cx="4617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proofs, certificates, contracts — on record in one place</a:t>
            </a:r>
            <a:endParaRPr lang="en-US" sz="125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image, Word or Excel, up to ~3 MB each</a:t>
            </a:r>
            <a:endParaRPr lang="en-US" sz="125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only to you, your direct manager, and administrators</a:t>
            </a:r>
            <a:endParaRPr lang="en-US" sz="125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an administrator can delete — official records can't quietly disappear</a:t>
            </a:r>
            <a:endParaRPr lang="en-US" sz="125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HR Request buttons in every sidebar, wired to your admin-configured forms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Trula.ai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ADMINISTRATORS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guardrails, not just controls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341303" y="585216"/>
            <a:ext cx="146304" cy="146304"/>
          </a:xfrm>
          <a:prstGeom prst="diamond">
            <a:avLst/>
          </a:prstGeom>
          <a:solidFill>
            <a:srgbClr val="818CF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3657600" cy="2084832"/>
          </a:xfrm>
          <a:prstGeom prst="roundRect">
            <a:avLst>
              <a:gd name="adj" fmla="val 43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929384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EEF2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233" y="2025945"/>
            <a:ext cx="245791" cy="2457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965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management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04672" y="2441448"/>
            <a:ext cx="31455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employees with role, manager, employment type &amp; joining date. Staff codes assigned automatically. Promote and demote from one list.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4370832" y="1691640"/>
            <a:ext cx="3657600" cy="2084832"/>
          </a:xfrm>
          <a:prstGeom prst="roundRect">
            <a:avLst>
              <a:gd name="adj" fmla="val 43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26864" y="1929384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EEF2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425" y="2025945"/>
            <a:ext cx="245791" cy="2457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93792" y="1965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rails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26864" y="2441448"/>
            <a:ext cx="31455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change your own role — the last admin can never be locked out. A manager with reports can't be demoted until their team is reassigned. Reporting loops are blocked.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8193024" y="1691640"/>
            <a:ext cx="3657600" cy="2084832"/>
          </a:xfrm>
          <a:prstGeom prst="roundRect">
            <a:avLst>
              <a:gd name="adj" fmla="val 43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49056" y="1929384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EEF2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5617" y="2025945"/>
            <a:ext cx="245791" cy="24579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15984" y="1965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view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449056" y="2441448"/>
            <a:ext cx="31455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company as an expandable tree — who reports to whom, with a live presence dot per person (online, on break, offline).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548640" y="4032504"/>
            <a:ext cx="3657600" cy="2084832"/>
          </a:xfrm>
          <a:prstGeom prst="roundRect">
            <a:avLst>
              <a:gd name="adj" fmla="val 43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04672" y="4270248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EEF2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233" y="4366809"/>
            <a:ext cx="245791" cy="24579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71600" y="43068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 policies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804672" y="4782312"/>
            <a:ext cx="31455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rename, retire and reactivate leave types — history is always preserved. Employment types each carry their own allowances.</a:t>
            </a:r>
            <a:endParaRPr lang="en-US" sz="1080" dirty="0"/>
          </a:p>
        </p:txBody>
      </p:sp>
      <p:sp>
        <p:nvSpPr>
          <p:cNvPr id="25" name="Shape 19"/>
          <p:cNvSpPr/>
          <p:nvPr/>
        </p:nvSpPr>
        <p:spPr>
          <a:xfrm>
            <a:off x="4370832" y="4032504"/>
            <a:ext cx="3657600" cy="2084832"/>
          </a:xfrm>
          <a:prstGeom prst="roundRect">
            <a:avLst>
              <a:gd name="adj" fmla="val 43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26864" y="4270248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EEF2FF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3425" y="4366809"/>
            <a:ext cx="245791" cy="24579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93792" y="43068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 by design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626864" y="4782312"/>
            <a:ext cx="31455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edits are never retroactive: people keep the allowance they were granted; only future assignments get new numbers.</a:t>
            </a:r>
            <a:endParaRPr lang="en-US" sz="1080" dirty="0"/>
          </a:p>
        </p:txBody>
      </p:sp>
      <p:sp>
        <p:nvSpPr>
          <p:cNvPr id="30" name="Shape 23"/>
          <p:cNvSpPr/>
          <p:nvPr/>
        </p:nvSpPr>
        <p:spPr>
          <a:xfrm>
            <a:off x="8193024" y="4032504"/>
            <a:ext cx="3657600" cy="2084832"/>
          </a:xfrm>
          <a:prstGeom prst="roundRect">
            <a:avLst>
              <a:gd name="adj" fmla="val 43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449056" y="4270248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EEF2FF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5617" y="4366809"/>
            <a:ext cx="245791" cy="245791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015984" y="43068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settings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449056" y="4782312"/>
            <a:ext cx="31455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Org-wide options like the Feedback and HR Request form links — paste a form URL and the buttons work instantly for everyone.</a:t>
            </a:r>
            <a:endParaRPr lang="en-US" sz="1080" dirty="0"/>
          </a:p>
        </p:txBody>
      </p:sp>
      <p:sp>
        <p:nvSpPr>
          <p:cNvPr id="35" name="Text 27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Trula.ai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and reliable by design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341303" y="585216"/>
            <a:ext cx="146304" cy="146304"/>
          </a:xfrm>
          <a:prstGeom prst="diamond">
            <a:avLst/>
          </a:prstGeom>
          <a:solidFill>
            <a:srgbClr val="818CF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5349240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92938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EF2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02996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08176" y="1929384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sign-in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08176" y="2276856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stored encrypted, never in plain text. Optional “I'm not a robot” check. 10 failed attempts pauses that connection for 15 minutes.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6263640" y="1691640"/>
            <a:ext cx="5349240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19672" y="192938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EF2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202996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23176" y="1929384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truth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123176" y="2276856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Timers, balances and requests live on the server — nothing important sits in the browser. Refreshing, switching devices or long inactivity never loses data.</a:t>
            </a:r>
            <a:endParaRPr lang="en-US" sz="1120" dirty="0"/>
          </a:p>
        </p:txBody>
      </p:sp>
      <p:sp>
        <p:nvSpPr>
          <p:cNvPr id="15" name="Shape 11"/>
          <p:cNvSpPr/>
          <p:nvPr/>
        </p:nvSpPr>
        <p:spPr>
          <a:xfrm>
            <a:off x="548640" y="3502152"/>
            <a:ext cx="5349240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4672" y="373989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EF2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840480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08176" y="3739896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408176" y="4087368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and API enforces the role model — managers see only their reports; private profile fields and documents stay locked down.</a:t>
            </a:r>
            <a:endParaRPr lang="en-US" sz="1120" dirty="0"/>
          </a:p>
        </p:txBody>
      </p:sp>
      <p:sp>
        <p:nvSpPr>
          <p:cNvPr id="20" name="Shape 15"/>
          <p:cNvSpPr/>
          <p:nvPr/>
        </p:nvSpPr>
        <p:spPr>
          <a:xfrm>
            <a:off x="6263640" y="3502152"/>
            <a:ext cx="5349240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19672" y="373989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EF2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3840480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23176" y="3739896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consistent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123176" y="4087368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jobs close forgotten timers; balances are re-verified at approval time; retired policies keep their history.</a:t>
            </a:r>
            <a:endParaRPr lang="en-US" sz="1120" dirty="0"/>
          </a:p>
        </p:txBody>
      </p:sp>
      <p:sp>
        <p:nvSpPr>
          <p:cNvPr id="25" name="Shape 19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8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914400" y="53492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stack: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 ·  Vite  ·  Node.js + Express  ·  MongoDB   —   fast, responsive on desktop &amp; mobile, ten workspace themes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Trula.ai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5120640"/>
            <a:ext cx="1828800" cy="1828800"/>
          </a:xfrm>
          <a:prstGeom prst="ellipse">
            <a:avLst/>
          </a:prstGeom>
          <a:ln w="12700">
            <a:solidFill>
              <a:srgbClr val="818CF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389120"/>
            <a:ext cx="3291840" cy="3291840"/>
          </a:xfrm>
          <a:prstGeom prst="ellipse">
            <a:avLst/>
          </a:prstGeom>
          <a:ln w="12700">
            <a:solidFill>
              <a:srgbClr val="818CF8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3566160"/>
            <a:ext cx="4937760" cy="4937760"/>
          </a:xfrm>
          <a:prstGeom prst="ellipse">
            <a:avLst/>
          </a:prstGeom>
          <a:ln w="12700">
            <a:solidFill>
              <a:srgbClr val="818CF8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0" y="2651760"/>
            <a:ext cx="6766560" cy="6766560"/>
          </a:xfrm>
          <a:prstGeom prst="ellipse">
            <a:avLst/>
          </a:prstGeom>
          <a:ln w="12700">
            <a:solidFill>
              <a:srgbClr val="818CF8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8792" y="4325112"/>
            <a:ext cx="128016" cy="128016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1325880"/>
            <a:ext cx="310896" cy="310896"/>
          </a:xfrm>
          <a:prstGeom prst="diamond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Orbit is live.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28016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takes three steps: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80160" y="274320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2743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920240" y="27249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in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920240" y="307238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company email and the starting password from HR.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280160" y="363931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3639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920240" y="362102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in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920240" y="396849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your timer on day one — attendance takes care of itself.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280160" y="4535424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1280160" y="45354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920240" y="45171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it yours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920240" y="486460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theme, complete your profile, upload your documents.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280160" y="5623560"/>
            <a:ext cx="29260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80160" y="577900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 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feedback: contact@trulaoverseas.com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2026-08-06T12:05:10Z</dcterms:created>
  <dcterms:modified xsi:type="dcterms:W3CDTF">2026-08-06T12:05:10Z</dcterms:modified>
</cp:coreProperties>
</file>