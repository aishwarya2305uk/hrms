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172A"/>
                </a:solidFill>
                <a:latin typeface="Calibri"/>
              </a:defRPr>
            </a:pPr>
            <a:r>
              <a:rPr sz="1200" b="0" i="0" u="none" strike="noStrike">
                <a:solidFill>
                  <a:srgbClr val="0F172A"/>
                </a:solidFill>
                <a:latin typeface="Calibri"/>
              </a:rPr>
              <a:t>Weekly trend — average hours per day (sample)</a:t>
            </a:r>
          </a:p>
        </c:rich>
      </c:tx>
      <c:layout/>
      <c:overlay val="0"/>
    </c:title>
    <c:autoTitleDeleted val="0"/>
    <c:plotArea>
      <c:layout/>
      <c:barChart>
        <c:barDir val="col"/>
        <c:grouping val="clustered"/>
        <c:varyColors val="0"/>
        <c:ser>
          <c:idx val="0"/>
          <c:order val="0"/>
          <c:tx>
            <c:strRef>
              <c:f>Sheet1!$B$1</c:f>
              <c:strCache>
                <c:ptCount val="1"/>
                <c:pt idx="0">
                  <c:v>Average hours / day</c:v>
                </c:pt>
              </c:strCache>
            </c:strRef>
          </c:tx>
          <c:spPr>
            <a:solidFill>
              <a:srgbClr val="4F46E5"/>
            </a:solidFill>
            <a:effectLst/>
          </c:spPr>
          <c:invertIfNegative val="0"/>
          <c:dLbls>
            <c:numFmt formatCode="0.0" sourceLinked="0"/>
            <c:txPr>
              <a:bodyPr/>
              <a:lstStyle/>
              <a:p>
                <a:pPr>
                  <a:defRPr b="0" i="0" strike="noStrike" sz="1000" u="none">
                    <a:solidFill>
                      <a:srgbClr val="64748B"/>
                    </a:solidFill>
                    <a:latin typeface="Calibri"/>
                  </a:defRPr>
                </a:pPr>
              </a:p>
            </c:txPr>
            <c:showLegendKey val="0"/>
            <c:showVal val="1"/>
            <c:showCatName val="0"/>
            <c:showSerName val="0"/>
            <c:showPercent val="0"/>
            <c:showBubbleSize val="0"/>
            <c:showLeaderLines val="0"/>
          </c:dLbls>
          <c:cat>
            <c:multiLvlStrRef>
              <c:f>Sheet1!$A$2:$A$7</c:f>
              <c:multiLvlStrCache>
                <c:ptCount val="6"/>
                <c:lvl>
                  <c:pt idx="0">
                    <c:v>Week 1</c:v>
                  </c:pt>
                  <c:pt idx="1">
                    <c:v>Week 2</c:v>
                  </c:pt>
                  <c:pt idx="2">
                    <c:v>Week 3</c:v>
                  </c:pt>
                  <c:pt idx="3">
                    <c:v>Week 4</c:v>
                  </c:pt>
                  <c:pt idx="4">
                    <c:v>Week 5</c:v>
                  </c:pt>
                  <c:pt idx="5">
                    <c:v>Week 6</c:v>
                  </c:pt>
                </c:lvl>
              </c:multiLvlStrCache>
            </c:multiLvlStrRef>
          </c:cat>
          <c:val>
            <c:numRef>
              <c:f>Sheet1!$B$2:$B$7</c:f>
              <c:numCache>
                <c:formatCode>General</c:formatCode>
                <c:ptCount val="6"/>
                <c:pt idx="0">
                  <c:v>7.6</c:v>
                </c:pt>
                <c:pt idx="1">
                  <c:v>8.2</c:v>
                </c:pt>
                <c:pt idx="2">
                  <c:v>8.4</c:v>
                </c:pt>
                <c:pt idx="3">
                  <c:v>7.9</c:v>
                </c:pt>
                <c:pt idx="4">
                  <c:v>8.6</c:v>
                </c:pt>
                <c:pt idx="5">
                  <c:v>8.3</c:v>
                </c:pt>
              </c:numCache>
            </c:numRef>
          </c:val>
        </c:ser>
        <c:dLbls>
          <c:numFmt formatCode="0.0" sourceLinked="0"/>
          <c:txPr>
            <a:bodyPr/>
            <a:lstStyle/>
            <a:p>
              <a:pPr>
                <a:defRPr b="0" i="0" strike="noStrike" sz="1000" u="none">
                  <a:solidFill>
                    <a:srgbClr val="64748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12700" cap="flat">
              <a:solidFill>
                <a:srgbClr val="EEF2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Welcome everyone. Today we're launching the beta of Orbit — Trula's own HR management system, built in-house. Over the next 35 minutes or so I'll tell you why we built it, what problems it solves, walk you through how the beta works, show it to you live, share where it's going, and finish with what each of us needs to do to make this launch succeed.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Here's how we'll spend the time. The heart of the session is the middle: a ten-minute tour of the beta and then ten minutes in the live application. We'll close with the roadmap and — importantly — what I need from each of you starting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Part one: why does Orbit exist at all? Tell the origin story here. The essentials of the workday were scattered and nothing matched our actual policies. Three reasons we built instead of bought: off-the-shelf tools don't fit our rules; we needed something simple enough that people genuinely use it daily; and owning it means no licence fees, our data stays with us, and we can evolve it on our own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Part two: the concrete problems. Walk the left column first — each one of these has probably bitten someone in this room. Then the right column: for every pain point there is a direct answer, and each one is something you'll see live in the demo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Those problems map onto six modules — attendance, leave and work-from-home, approvals, communication, documents, and configurable policies. Keep this brief; it's the map for the tour that starts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Part three begins — how the beta works today. First, the role model. Everyone gets a personal dashboard. Manager is a layer on an employee account, not a separate one — managers track their own time like anyone else, plus an approvals queue for their direct reports only. Administrators add policy and people management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Attendance is one button that changes as your day progresses: check in, pause and resume freely, check out. It lives on the server, so refreshing or switching devices never loses time. Full day is 8 hours — 8 or more marks Present, under 8 auto-marks Leave. Forget to check out and the system closes your day at midnight.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Beyond raw hours, every employee gets a personal analytics view over the last 90 days: presents, short days, averages, best day, streaks, a weekly trend chart and a daily heatmap. Personal insight — each person sees their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Applying for leave takes a few clicks: pick a type, pick when, add a reason. Four ways to pick dates — ranges, up to 31 hand-picked days, half days, and an explicit working-hours window. Fairness is built in: balance only moves on approval, and pending requests can be cancelled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Approvals live with the person who knows the team: the direct manager. Managers only ever see their own reports' requests, and Orbit re-verifies the balance at approval time so it can never go negative. Work-from-home follows the same flow but is tracked separately — it never touches leave balance and never shows as an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Three channels keep everyone informed. Notifications collect what needs your attention. Announcements are targeted — company-wide, per role, per team, or custom groups a manager creates from their own people. The team calendar shows availability at a glance while keeping leave reasons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Every person has a profile and a personal document file. Private fields stay private — visible only to the employee and administrators. Documents follow strict access: you, your direct manager, and admins. Only an admin can delete a document, so official records are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For admins, the theme is guardrails. You can't lock yourself out, you can't orphan a team, you can't create a reporting loop. Policy changes are never retroactive, so nobody's granted allowance is silently taken away. The org view shows the whole company as a live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Last stop on the tour: trust. Encrypted passwords, sign-in throttling, optional captcha, strict role-based access on every API. All state lives on the server, so nothing is lost to a refresh. Under the hood: React 19, Vite, Express and MongoDB — responsive on any device. Now — let's see it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The centerpiece. Walk one leave request through its entire life across three roles. Before the talk: have two browser windows ready (employee + manager), signed in, and a third tab for admin. Follow the eight steps on the slide in order. TIP: keep screenshots of each step as backup in case the network or demo environment misbehaves — if something breaks, narrate over the screenshots and move on rather than debugging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Part five: where this goes. Three horizons. Right now, the priority is hardening the beta with everyone's feedback. Next, the known gaps: reports and exports for HR, email notifications, and opening up the org chart beyond admins. Later, the bigger swings — payroll summaries, a mobile app, integrations. Be explicit that this is a proposal shaped by their feedback, not a signed commitment — it sets honest expectations and invites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Part six: the launch only works if everyone plays their role. Admins and HR seed the data this week — the system is only as good as its reporting lines. Managers: your one job is deciding requests promptly; the queue is right on your dashboard. Everyone else: check in from day one and route leave through Orbit, not email — every email request after Monday delays your own approval. And our commitment as the Orbit team: weekly releases, every piece of feedback read, and a direct line during rollout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 Q&amp;A) Close with the three asks: sign in this week, route attendance and leave through Orbit from Monday, and use the Feedback button liberally — during beta, feedback is the roadmap. Then open the floor for questions. Budget the remaining time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9144000" y="274320"/>
            <a:ext cx="2011680" cy="2011680"/>
          </a:xfrm>
          <a:prstGeom prst="ellipse">
            <a:avLst/>
          </a:prstGeom>
          <a:ln w="12700">
            <a:solidFill>
              <a:srgbClr val="818CF8">
                <a:alpha val="18000"/>
              </a:srgbClr>
            </a:solidFill>
            <a:prstDash val="solid"/>
          </a:ln>
        </p:spPr>
      </p:sp>
      <p:sp>
        <p:nvSpPr>
          <p:cNvPr id="3" name="Shape 1"/>
          <p:cNvSpPr/>
          <p:nvPr/>
        </p:nvSpPr>
        <p:spPr>
          <a:xfrm>
            <a:off x="8412480" y="-457200"/>
            <a:ext cx="3474720" cy="3474720"/>
          </a:xfrm>
          <a:prstGeom prst="ellipse">
            <a:avLst/>
          </a:prstGeom>
          <a:ln w="12700">
            <a:solidFill>
              <a:srgbClr val="818CF8">
                <a:alpha val="18000"/>
              </a:srgbClr>
            </a:solidFill>
            <a:prstDash val="solid"/>
          </a:ln>
        </p:spPr>
      </p:sp>
      <p:sp>
        <p:nvSpPr>
          <p:cNvPr id="4" name="Shape 2"/>
          <p:cNvSpPr/>
          <p:nvPr/>
        </p:nvSpPr>
        <p:spPr>
          <a:xfrm>
            <a:off x="7589520" y="-1280160"/>
            <a:ext cx="5120640" cy="5120640"/>
          </a:xfrm>
          <a:prstGeom prst="ellipse">
            <a:avLst/>
          </a:prstGeom>
          <a:ln w="12700">
            <a:solidFill>
              <a:srgbClr val="818CF8">
                <a:alpha val="18000"/>
              </a:srgbClr>
            </a:solidFill>
            <a:prstDash val="solid"/>
          </a:ln>
        </p:spPr>
      </p:sp>
      <p:sp>
        <p:nvSpPr>
          <p:cNvPr id="5" name="Shape 3"/>
          <p:cNvSpPr/>
          <p:nvPr/>
        </p:nvSpPr>
        <p:spPr>
          <a:xfrm>
            <a:off x="6675120" y="-2194560"/>
            <a:ext cx="6949440" cy="6949440"/>
          </a:xfrm>
          <a:prstGeom prst="ellipse">
            <a:avLst/>
          </a:prstGeom>
          <a:ln w="12700">
            <a:solidFill>
              <a:srgbClr val="818CF8">
                <a:alpha val="18000"/>
              </a:srgbClr>
            </a:solidFill>
            <a:prstDash val="solid"/>
          </a:ln>
        </p:spPr>
      </p:sp>
      <p:sp>
        <p:nvSpPr>
          <p:cNvPr id="6" name="Shape 4"/>
          <p:cNvSpPr/>
          <p:nvPr/>
        </p:nvSpPr>
        <p:spPr>
          <a:xfrm>
            <a:off x="274320" y="5486400"/>
            <a:ext cx="1645920" cy="1645920"/>
          </a:xfrm>
          <a:prstGeom prst="ellipse">
            <a:avLst/>
          </a:prstGeom>
          <a:ln w="12700">
            <a:solidFill>
              <a:srgbClr val="818CF8">
                <a:alpha val="14000"/>
              </a:srgbClr>
            </a:solidFill>
            <a:prstDash val="solid"/>
          </a:ln>
        </p:spPr>
      </p:sp>
      <p:sp>
        <p:nvSpPr>
          <p:cNvPr id="7" name="Shape 5"/>
          <p:cNvSpPr/>
          <p:nvPr/>
        </p:nvSpPr>
        <p:spPr>
          <a:xfrm>
            <a:off x="-365760" y="4846320"/>
            <a:ext cx="2926080" cy="2926080"/>
          </a:xfrm>
          <a:prstGeom prst="ellipse">
            <a:avLst/>
          </a:prstGeom>
          <a:ln w="12700">
            <a:solidFill>
              <a:srgbClr val="818CF8">
                <a:alpha val="14000"/>
              </a:srgbClr>
            </a:solidFill>
            <a:prstDash val="solid"/>
          </a:ln>
        </p:spPr>
      </p:sp>
      <p:sp>
        <p:nvSpPr>
          <p:cNvPr id="8" name="Shape 6"/>
          <p:cNvSpPr/>
          <p:nvPr/>
        </p:nvSpPr>
        <p:spPr>
          <a:xfrm>
            <a:off x="-1097280" y="4114800"/>
            <a:ext cx="4389120" cy="4389120"/>
          </a:xfrm>
          <a:prstGeom prst="ellipse">
            <a:avLst/>
          </a:prstGeom>
          <a:ln w="12700">
            <a:solidFill>
              <a:srgbClr val="818CF8">
                <a:alpha val="14000"/>
              </a:srgbClr>
            </a:solidFill>
            <a:prstDash val="solid"/>
          </a:ln>
        </p:spPr>
      </p:sp>
      <p:sp>
        <p:nvSpPr>
          <p:cNvPr id="9" name="Shape 7"/>
          <p:cNvSpPr/>
          <p:nvPr/>
        </p:nvSpPr>
        <p:spPr>
          <a:xfrm>
            <a:off x="11823192" y="1216152"/>
            <a:ext cx="128016" cy="128016"/>
          </a:xfrm>
          <a:prstGeom prst="ellipse">
            <a:avLst/>
          </a:prstGeom>
          <a:solidFill>
            <a:srgbClr val="818CF8"/>
          </a:solidFill>
          <a:ln/>
        </p:spPr>
      </p:sp>
      <p:sp>
        <p:nvSpPr>
          <p:cNvPr id="10" name="Shape 8"/>
          <p:cNvSpPr/>
          <p:nvPr/>
        </p:nvSpPr>
        <p:spPr>
          <a:xfrm>
            <a:off x="10094976" y="3785616"/>
            <a:ext cx="109728" cy="109728"/>
          </a:xfrm>
          <a:prstGeom prst="ellipse">
            <a:avLst/>
          </a:prstGeom>
          <a:solidFill>
            <a:srgbClr val="4F46E5"/>
          </a:solidFill>
          <a:ln/>
        </p:spPr>
      </p:sp>
      <p:sp>
        <p:nvSpPr>
          <p:cNvPr id="11" name="Shape 9"/>
          <p:cNvSpPr/>
          <p:nvPr/>
        </p:nvSpPr>
        <p:spPr>
          <a:xfrm>
            <a:off x="768096" y="2203704"/>
            <a:ext cx="384048" cy="384048"/>
          </a:xfrm>
          <a:prstGeom prst="diamond">
            <a:avLst/>
          </a:prstGeom>
          <a:solidFill>
            <a:srgbClr val="4F46E5"/>
          </a:solidFill>
          <a:ln/>
        </p:spPr>
      </p:sp>
      <p:sp>
        <p:nvSpPr>
          <p:cNvPr id="12" name="Shape 10"/>
          <p:cNvSpPr/>
          <p:nvPr/>
        </p:nvSpPr>
        <p:spPr>
          <a:xfrm>
            <a:off x="868680" y="2304288"/>
            <a:ext cx="182880" cy="182880"/>
          </a:xfrm>
          <a:prstGeom prst="diamond">
            <a:avLst/>
          </a:prstGeom>
          <a:solidFill>
            <a:srgbClr val="818CF8"/>
          </a:solidFill>
          <a:ln/>
        </p:spPr>
      </p:sp>
      <p:sp>
        <p:nvSpPr>
          <p:cNvPr id="13" name="Text 11"/>
          <p:cNvSpPr/>
          <p:nvPr/>
        </p:nvSpPr>
        <p:spPr>
          <a:xfrm>
            <a:off x="1280160" y="1874520"/>
            <a:ext cx="7315200" cy="109728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Orbit</a:t>
            </a:r>
            <a:endParaRPr lang="en-US" sz="6600" dirty="0"/>
          </a:p>
        </p:txBody>
      </p:sp>
      <p:sp>
        <p:nvSpPr>
          <p:cNvPr id="14" name="Text 12"/>
          <p:cNvSpPr/>
          <p:nvPr/>
        </p:nvSpPr>
        <p:spPr>
          <a:xfrm>
            <a:off x="1325880" y="2999232"/>
            <a:ext cx="5486400" cy="365760"/>
          </a:xfrm>
          <a:prstGeom prst="rect">
            <a:avLst/>
          </a:prstGeom>
          <a:noFill/>
          <a:ln/>
        </p:spPr>
        <p:txBody>
          <a:bodyPr wrap="square" lIns="0" tIns="0" rIns="0" bIns="0" rtlCol="0" anchor="ctr"/>
          <a:lstStyle/>
          <a:p>
            <a:pPr indent="0" marL="0">
              <a:buNone/>
            </a:pPr>
            <a:r>
              <a:rPr lang="en-US" sz="2000" dirty="0">
                <a:solidFill>
                  <a:srgbClr val="94A3B8"/>
                </a:solidFill>
                <a:latin typeface="Calibri" pitchFamily="34" charset="0"/>
                <a:ea typeface="Calibri" pitchFamily="34" charset="-122"/>
                <a:cs typeface="Calibri" pitchFamily="34" charset="-120"/>
              </a:rPr>
              <a:t>by </a:t>
            </a:r>
            <a:pPr indent="0" marL="0">
              <a:buNone/>
            </a:pPr>
            <a:r>
              <a:rPr lang="en-US" sz="2000" b="1" dirty="0">
                <a:solidFill>
                  <a:srgbClr val="818CF8"/>
                </a:solidFill>
                <a:latin typeface="Calibri" pitchFamily="34" charset="0"/>
                <a:ea typeface="Calibri" pitchFamily="34" charset="-122"/>
                <a:cs typeface="Calibri" pitchFamily="34" charset="-120"/>
              </a:rPr>
              <a:t>Trula.ai</a:t>
            </a:r>
            <a:endParaRPr lang="en-US" sz="2000" dirty="0"/>
          </a:p>
        </p:txBody>
      </p:sp>
      <p:sp>
        <p:nvSpPr>
          <p:cNvPr id="15" name="Text 13"/>
          <p:cNvSpPr/>
          <p:nvPr/>
        </p:nvSpPr>
        <p:spPr>
          <a:xfrm>
            <a:off x="1325880" y="3639312"/>
            <a:ext cx="8686800" cy="457200"/>
          </a:xfrm>
          <a:prstGeom prst="rect">
            <a:avLst/>
          </a:prstGeom>
          <a:noFill/>
          <a:ln/>
        </p:spPr>
        <p:txBody>
          <a:bodyPr wrap="square" lIns="0" tIns="0" rIns="0" bIns="0" rtlCol="0" anchor="ctr"/>
          <a:lstStyle/>
          <a:p>
            <a:pPr indent="0" marL="0">
              <a:buNone/>
            </a:pPr>
            <a:r>
              <a:rPr lang="en-US" sz="2200" i="1" dirty="0">
                <a:solidFill>
                  <a:srgbClr val="E2E8F0"/>
                </a:solidFill>
                <a:latin typeface="Calibri" pitchFamily="34" charset="0"/>
                <a:ea typeface="Calibri" pitchFamily="34" charset="-122"/>
                <a:cs typeface="Calibri" pitchFamily="34" charset="-120"/>
              </a:rPr>
              <a:t>The everyday essentials of work — in one place.</a:t>
            </a:r>
            <a:endParaRPr lang="en-US" sz="2200" dirty="0"/>
          </a:p>
        </p:txBody>
      </p:sp>
      <p:sp>
        <p:nvSpPr>
          <p:cNvPr id="16" name="Text 14"/>
          <p:cNvSpPr/>
          <p:nvPr/>
        </p:nvSpPr>
        <p:spPr>
          <a:xfrm>
            <a:off x="1325880" y="4224528"/>
            <a:ext cx="9601200" cy="36576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Attendance   ·   Leave &amp; WFH   ·   Approvals   ·   Notifications   ·   Documents</a:t>
            </a:r>
            <a:endParaRPr lang="en-US" sz="1400" dirty="0"/>
          </a:p>
        </p:txBody>
      </p:sp>
      <p:sp>
        <p:nvSpPr>
          <p:cNvPr id="17" name="Shape 15"/>
          <p:cNvSpPr/>
          <p:nvPr/>
        </p:nvSpPr>
        <p:spPr>
          <a:xfrm>
            <a:off x="1325880" y="5120640"/>
            <a:ext cx="2926080" cy="0"/>
          </a:xfrm>
          <a:prstGeom prst="line">
            <a:avLst/>
          </a:prstGeom>
          <a:noFill/>
          <a:ln w="12700">
            <a:solidFill>
              <a:srgbClr val="1E293B"/>
            </a:solidFill>
            <a:prstDash val="solid"/>
          </a:ln>
        </p:spPr>
      </p:sp>
      <p:sp>
        <p:nvSpPr>
          <p:cNvPr id="18" name="Text 16"/>
          <p:cNvSpPr/>
          <p:nvPr/>
        </p:nvSpPr>
        <p:spPr>
          <a:xfrm>
            <a:off x="1325880" y="5285232"/>
            <a:ext cx="7315200" cy="32004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Beta Launch  •  Company Conference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AGENDA</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Today, in six parts</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804672" y="1947672"/>
            <a:ext cx="457200" cy="457200"/>
          </a:xfrm>
          <a:prstGeom prst="roundRect">
            <a:avLst>
              <a:gd name="adj" fmla="val 20000"/>
            </a:avLst>
          </a:prstGeom>
          <a:solidFill>
            <a:srgbClr val="4F46E5"/>
          </a:solidFill>
          <a:ln/>
        </p:spPr>
      </p:sp>
      <p:sp>
        <p:nvSpPr>
          <p:cNvPr id="7" name="Text 5"/>
          <p:cNvSpPr/>
          <p:nvPr/>
        </p:nvSpPr>
        <p:spPr>
          <a:xfrm>
            <a:off x="804672" y="19476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p:nvPr/>
        </p:nvSpPr>
        <p:spPr>
          <a:xfrm>
            <a:off x="3017520" y="2039112"/>
            <a:ext cx="960120" cy="274320"/>
          </a:xfrm>
          <a:prstGeom prst="rect">
            <a:avLst/>
          </a:prstGeom>
          <a:noFill/>
          <a:ln/>
        </p:spPr>
        <p:txBody>
          <a:bodyPr wrap="square" lIns="0" tIns="0" rIns="0" bIns="0" rtlCol="0" anchor="ctr"/>
          <a:lstStyle/>
          <a:p>
            <a:pPr algn="r" indent="0" marL="0">
              <a:buNone/>
            </a:pPr>
            <a:r>
              <a:rPr lang="en-US" sz="1050" b="1" dirty="0">
                <a:solidFill>
                  <a:srgbClr val="4F46E5"/>
                </a:solidFill>
                <a:latin typeface="Calibri" pitchFamily="34" charset="0"/>
                <a:ea typeface="Calibri" pitchFamily="34" charset="-122"/>
                <a:cs typeface="Calibri" pitchFamily="34" charset="-120"/>
              </a:rPr>
              <a:t>~3 min</a:t>
            </a:r>
            <a:endParaRPr lang="en-US" sz="1050" dirty="0"/>
          </a:p>
        </p:txBody>
      </p:sp>
      <p:sp>
        <p:nvSpPr>
          <p:cNvPr id="9" name="Text 7"/>
          <p:cNvSpPr/>
          <p:nvPr/>
        </p:nvSpPr>
        <p:spPr>
          <a:xfrm>
            <a:off x="804672" y="2606040"/>
            <a:ext cx="3145536" cy="41148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Why Orbit exists</a:t>
            </a:r>
            <a:endParaRPr lang="en-US" sz="1600" dirty="0"/>
          </a:p>
        </p:txBody>
      </p:sp>
      <p:sp>
        <p:nvSpPr>
          <p:cNvPr id="10" name="Text 8"/>
          <p:cNvSpPr/>
          <p:nvPr/>
        </p:nvSpPr>
        <p:spPr>
          <a:xfrm>
            <a:off x="804672" y="3044952"/>
            <a:ext cx="3145536" cy="59436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The story behind building our own HRMS</a:t>
            </a:r>
            <a:endParaRPr lang="en-US" sz="1150" dirty="0"/>
          </a:p>
        </p:txBody>
      </p:sp>
      <p:sp>
        <p:nvSpPr>
          <p:cNvPr id="11" name="Shape 9"/>
          <p:cNvSpPr/>
          <p:nvPr/>
        </p:nvSpPr>
        <p:spPr>
          <a:xfrm>
            <a:off x="4370832" y="1691640"/>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2" name="Shape 10"/>
          <p:cNvSpPr/>
          <p:nvPr/>
        </p:nvSpPr>
        <p:spPr>
          <a:xfrm>
            <a:off x="4626864" y="1947672"/>
            <a:ext cx="457200" cy="457200"/>
          </a:xfrm>
          <a:prstGeom prst="roundRect">
            <a:avLst>
              <a:gd name="adj" fmla="val 20000"/>
            </a:avLst>
          </a:prstGeom>
          <a:solidFill>
            <a:srgbClr val="4F46E5"/>
          </a:solidFill>
          <a:ln/>
        </p:spPr>
      </p:sp>
      <p:sp>
        <p:nvSpPr>
          <p:cNvPr id="13" name="Text 11"/>
          <p:cNvSpPr/>
          <p:nvPr/>
        </p:nvSpPr>
        <p:spPr>
          <a:xfrm>
            <a:off x="4626864" y="19476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4" name="Text 12"/>
          <p:cNvSpPr/>
          <p:nvPr/>
        </p:nvSpPr>
        <p:spPr>
          <a:xfrm>
            <a:off x="6839712" y="2039112"/>
            <a:ext cx="960120" cy="274320"/>
          </a:xfrm>
          <a:prstGeom prst="rect">
            <a:avLst/>
          </a:prstGeom>
          <a:noFill/>
          <a:ln/>
        </p:spPr>
        <p:txBody>
          <a:bodyPr wrap="square" lIns="0" tIns="0" rIns="0" bIns="0" rtlCol="0" anchor="ctr"/>
          <a:lstStyle/>
          <a:p>
            <a:pPr algn="r" indent="0" marL="0">
              <a:buNone/>
            </a:pPr>
            <a:r>
              <a:rPr lang="en-US" sz="1050" b="1" dirty="0">
                <a:solidFill>
                  <a:srgbClr val="4F46E5"/>
                </a:solidFill>
                <a:latin typeface="Calibri" pitchFamily="34" charset="0"/>
                <a:ea typeface="Calibri" pitchFamily="34" charset="-122"/>
                <a:cs typeface="Calibri" pitchFamily="34" charset="-120"/>
              </a:rPr>
              <a:t>~5 min</a:t>
            </a:r>
            <a:endParaRPr lang="en-US" sz="1050" dirty="0"/>
          </a:p>
        </p:txBody>
      </p:sp>
      <p:sp>
        <p:nvSpPr>
          <p:cNvPr id="15" name="Text 13"/>
          <p:cNvSpPr/>
          <p:nvPr/>
        </p:nvSpPr>
        <p:spPr>
          <a:xfrm>
            <a:off x="4626864" y="2606040"/>
            <a:ext cx="3145536" cy="41148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The problems it solves</a:t>
            </a:r>
            <a:endParaRPr lang="en-US" sz="1600" dirty="0"/>
          </a:p>
        </p:txBody>
      </p:sp>
      <p:sp>
        <p:nvSpPr>
          <p:cNvPr id="16" name="Text 14"/>
          <p:cNvSpPr/>
          <p:nvPr/>
        </p:nvSpPr>
        <p:spPr>
          <a:xfrm>
            <a:off x="4626864" y="3044952"/>
            <a:ext cx="3145536" cy="59436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From scattered tools to one system</a:t>
            </a:r>
            <a:endParaRPr lang="en-US" sz="1150" dirty="0"/>
          </a:p>
        </p:txBody>
      </p:sp>
      <p:sp>
        <p:nvSpPr>
          <p:cNvPr id="17" name="Shape 15"/>
          <p:cNvSpPr/>
          <p:nvPr/>
        </p:nvSpPr>
        <p:spPr>
          <a:xfrm>
            <a:off x="8193024" y="1691640"/>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8" name="Shape 16"/>
          <p:cNvSpPr/>
          <p:nvPr/>
        </p:nvSpPr>
        <p:spPr>
          <a:xfrm>
            <a:off x="8449056" y="1947672"/>
            <a:ext cx="457200" cy="457200"/>
          </a:xfrm>
          <a:prstGeom prst="roundRect">
            <a:avLst>
              <a:gd name="adj" fmla="val 20000"/>
            </a:avLst>
          </a:prstGeom>
          <a:solidFill>
            <a:srgbClr val="4F46E5"/>
          </a:solidFill>
          <a:ln/>
        </p:spPr>
      </p:sp>
      <p:sp>
        <p:nvSpPr>
          <p:cNvPr id="19" name="Text 17"/>
          <p:cNvSpPr/>
          <p:nvPr/>
        </p:nvSpPr>
        <p:spPr>
          <a:xfrm>
            <a:off x="8449056" y="19476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0" name="Text 18"/>
          <p:cNvSpPr/>
          <p:nvPr/>
        </p:nvSpPr>
        <p:spPr>
          <a:xfrm>
            <a:off x="10661904" y="2039112"/>
            <a:ext cx="960120" cy="274320"/>
          </a:xfrm>
          <a:prstGeom prst="rect">
            <a:avLst/>
          </a:prstGeom>
          <a:noFill/>
          <a:ln/>
        </p:spPr>
        <p:txBody>
          <a:bodyPr wrap="square" lIns="0" tIns="0" rIns="0" bIns="0" rtlCol="0" anchor="ctr"/>
          <a:lstStyle/>
          <a:p>
            <a:pPr algn="r" indent="0" marL="0">
              <a:buNone/>
            </a:pPr>
            <a:r>
              <a:rPr lang="en-US" sz="1050" b="1" dirty="0">
                <a:solidFill>
                  <a:srgbClr val="4F46E5"/>
                </a:solidFill>
                <a:latin typeface="Calibri" pitchFamily="34" charset="0"/>
                <a:ea typeface="Calibri" pitchFamily="34" charset="-122"/>
                <a:cs typeface="Calibri" pitchFamily="34" charset="-120"/>
              </a:rPr>
              <a:t>~10 min</a:t>
            </a:r>
            <a:endParaRPr lang="en-US" sz="1050" dirty="0"/>
          </a:p>
        </p:txBody>
      </p:sp>
      <p:sp>
        <p:nvSpPr>
          <p:cNvPr id="21" name="Text 19"/>
          <p:cNvSpPr/>
          <p:nvPr/>
        </p:nvSpPr>
        <p:spPr>
          <a:xfrm>
            <a:off x="8449056" y="2606040"/>
            <a:ext cx="3145536" cy="41148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How the beta works</a:t>
            </a:r>
            <a:endParaRPr lang="en-US" sz="1600" dirty="0"/>
          </a:p>
        </p:txBody>
      </p:sp>
      <p:sp>
        <p:nvSpPr>
          <p:cNvPr id="22" name="Text 20"/>
          <p:cNvSpPr/>
          <p:nvPr/>
        </p:nvSpPr>
        <p:spPr>
          <a:xfrm>
            <a:off x="8449056" y="3044952"/>
            <a:ext cx="3145536" cy="59436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A tour of every module, role by role</a:t>
            </a:r>
            <a:endParaRPr lang="en-US" sz="1150" dirty="0"/>
          </a:p>
        </p:txBody>
      </p:sp>
      <p:sp>
        <p:nvSpPr>
          <p:cNvPr id="23" name="Shape 21"/>
          <p:cNvSpPr/>
          <p:nvPr/>
        </p:nvSpPr>
        <p:spPr>
          <a:xfrm>
            <a:off x="548640" y="4032504"/>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4" name="Shape 22"/>
          <p:cNvSpPr/>
          <p:nvPr/>
        </p:nvSpPr>
        <p:spPr>
          <a:xfrm>
            <a:off x="804672" y="4288536"/>
            <a:ext cx="457200" cy="457200"/>
          </a:xfrm>
          <a:prstGeom prst="roundRect">
            <a:avLst>
              <a:gd name="adj" fmla="val 20000"/>
            </a:avLst>
          </a:prstGeom>
          <a:solidFill>
            <a:srgbClr val="4F46E5"/>
          </a:solidFill>
          <a:ln/>
        </p:spPr>
      </p:sp>
      <p:sp>
        <p:nvSpPr>
          <p:cNvPr id="25" name="Text 23"/>
          <p:cNvSpPr/>
          <p:nvPr/>
        </p:nvSpPr>
        <p:spPr>
          <a:xfrm>
            <a:off x="804672" y="42885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6" name="Text 24"/>
          <p:cNvSpPr/>
          <p:nvPr/>
        </p:nvSpPr>
        <p:spPr>
          <a:xfrm>
            <a:off x="3017520" y="4379976"/>
            <a:ext cx="960120" cy="274320"/>
          </a:xfrm>
          <a:prstGeom prst="rect">
            <a:avLst/>
          </a:prstGeom>
          <a:noFill/>
          <a:ln/>
        </p:spPr>
        <p:txBody>
          <a:bodyPr wrap="square" lIns="0" tIns="0" rIns="0" bIns="0" rtlCol="0" anchor="ctr"/>
          <a:lstStyle/>
          <a:p>
            <a:pPr algn="r" indent="0" marL="0">
              <a:buNone/>
            </a:pPr>
            <a:r>
              <a:rPr lang="en-US" sz="1050" b="1" dirty="0">
                <a:solidFill>
                  <a:srgbClr val="4F46E5"/>
                </a:solidFill>
                <a:latin typeface="Calibri" pitchFamily="34" charset="0"/>
                <a:ea typeface="Calibri" pitchFamily="34" charset="-122"/>
                <a:cs typeface="Calibri" pitchFamily="34" charset="-120"/>
              </a:rPr>
              <a:t>~10 min</a:t>
            </a:r>
            <a:endParaRPr lang="en-US" sz="1050" dirty="0"/>
          </a:p>
        </p:txBody>
      </p:sp>
      <p:sp>
        <p:nvSpPr>
          <p:cNvPr id="27" name="Text 25"/>
          <p:cNvSpPr/>
          <p:nvPr/>
        </p:nvSpPr>
        <p:spPr>
          <a:xfrm>
            <a:off x="804672" y="4946904"/>
            <a:ext cx="3145536" cy="41148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Live demonstration</a:t>
            </a:r>
            <a:endParaRPr lang="en-US" sz="1600" dirty="0"/>
          </a:p>
        </p:txBody>
      </p:sp>
      <p:sp>
        <p:nvSpPr>
          <p:cNvPr id="28" name="Text 26"/>
          <p:cNvSpPr/>
          <p:nvPr/>
        </p:nvSpPr>
        <p:spPr>
          <a:xfrm>
            <a:off x="804672" y="5385816"/>
            <a:ext cx="3145536" cy="59436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The real application, end to end</a:t>
            </a:r>
            <a:endParaRPr lang="en-US" sz="1150" dirty="0"/>
          </a:p>
        </p:txBody>
      </p:sp>
      <p:sp>
        <p:nvSpPr>
          <p:cNvPr id="29" name="Shape 27"/>
          <p:cNvSpPr/>
          <p:nvPr/>
        </p:nvSpPr>
        <p:spPr>
          <a:xfrm>
            <a:off x="4370832" y="4032504"/>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30" name="Shape 28"/>
          <p:cNvSpPr/>
          <p:nvPr/>
        </p:nvSpPr>
        <p:spPr>
          <a:xfrm>
            <a:off x="4626864" y="4288536"/>
            <a:ext cx="457200" cy="457200"/>
          </a:xfrm>
          <a:prstGeom prst="roundRect">
            <a:avLst>
              <a:gd name="adj" fmla="val 20000"/>
            </a:avLst>
          </a:prstGeom>
          <a:solidFill>
            <a:srgbClr val="4F46E5"/>
          </a:solidFill>
          <a:ln/>
        </p:spPr>
      </p:sp>
      <p:sp>
        <p:nvSpPr>
          <p:cNvPr id="31" name="Text 29"/>
          <p:cNvSpPr/>
          <p:nvPr/>
        </p:nvSpPr>
        <p:spPr>
          <a:xfrm>
            <a:off x="4626864" y="42885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2" name="Text 30"/>
          <p:cNvSpPr/>
          <p:nvPr/>
        </p:nvSpPr>
        <p:spPr>
          <a:xfrm>
            <a:off x="6839712" y="4379976"/>
            <a:ext cx="960120" cy="274320"/>
          </a:xfrm>
          <a:prstGeom prst="rect">
            <a:avLst/>
          </a:prstGeom>
          <a:noFill/>
          <a:ln/>
        </p:spPr>
        <p:txBody>
          <a:bodyPr wrap="square" lIns="0" tIns="0" rIns="0" bIns="0" rtlCol="0" anchor="ctr"/>
          <a:lstStyle/>
          <a:p>
            <a:pPr algn="r" indent="0" marL="0">
              <a:buNone/>
            </a:pPr>
            <a:r>
              <a:rPr lang="en-US" sz="1050" b="1" dirty="0">
                <a:solidFill>
                  <a:srgbClr val="4F46E5"/>
                </a:solidFill>
                <a:latin typeface="Calibri" pitchFamily="34" charset="0"/>
                <a:ea typeface="Calibri" pitchFamily="34" charset="-122"/>
                <a:cs typeface="Calibri" pitchFamily="34" charset="-120"/>
              </a:rPr>
              <a:t>~5 min</a:t>
            </a:r>
            <a:endParaRPr lang="en-US" sz="1050" dirty="0"/>
          </a:p>
        </p:txBody>
      </p:sp>
      <p:sp>
        <p:nvSpPr>
          <p:cNvPr id="33" name="Text 31"/>
          <p:cNvSpPr/>
          <p:nvPr/>
        </p:nvSpPr>
        <p:spPr>
          <a:xfrm>
            <a:off x="4626864" y="4946904"/>
            <a:ext cx="3145536" cy="41148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Where Orbit goes next</a:t>
            </a:r>
            <a:endParaRPr lang="en-US" sz="1600" dirty="0"/>
          </a:p>
        </p:txBody>
      </p:sp>
      <p:sp>
        <p:nvSpPr>
          <p:cNvPr id="34" name="Text 32"/>
          <p:cNvSpPr/>
          <p:nvPr/>
        </p:nvSpPr>
        <p:spPr>
          <a:xfrm>
            <a:off x="4626864" y="5385816"/>
            <a:ext cx="3145536" cy="59436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The roadmap beyond beta</a:t>
            </a:r>
            <a:endParaRPr lang="en-US" sz="1150" dirty="0"/>
          </a:p>
        </p:txBody>
      </p:sp>
      <p:sp>
        <p:nvSpPr>
          <p:cNvPr id="35" name="Shape 33"/>
          <p:cNvSpPr/>
          <p:nvPr/>
        </p:nvSpPr>
        <p:spPr>
          <a:xfrm>
            <a:off x="8193024" y="4032504"/>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36" name="Shape 34"/>
          <p:cNvSpPr/>
          <p:nvPr/>
        </p:nvSpPr>
        <p:spPr>
          <a:xfrm>
            <a:off x="8449056" y="4288536"/>
            <a:ext cx="457200" cy="457200"/>
          </a:xfrm>
          <a:prstGeom prst="roundRect">
            <a:avLst>
              <a:gd name="adj" fmla="val 20000"/>
            </a:avLst>
          </a:prstGeom>
          <a:solidFill>
            <a:srgbClr val="4F46E5"/>
          </a:solidFill>
          <a:ln/>
        </p:spPr>
      </p:sp>
      <p:sp>
        <p:nvSpPr>
          <p:cNvPr id="37" name="Text 35"/>
          <p:cNvSpPr/>
          <p:nvPr/>
        </p:nvSpPr>
        <p:spPr>
          <a:xfrm>
            <a:off x="8449056" y="42885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38" name="Text 36"/>
          <p:cNvSpPr/>
          <p:nvPr/>
        </p:nvSpPr>
        <p:spPr>
          <a:xfrm>
            <a:off x="10661904" y="4379976"/>
            <a:ext cx="960120" cy="274320"/>
          </a:xfrm>
          <a:prstGeom prst="rect">
            <a:avLst/>
          </a:prstGeom>
          <a:noFill/>
          <a:ln/>
        </p:spPr>
        <p:txBody>
          <a:bodyPr wrap="square" lIns="0" tIns="0" rIns="0" bIns="0" rtlCol="0" anchor="ctr"/>
          <a:lstStyle/>
          <a:p>
            <a:pPr algn="r" indent="0" marL="0">
              <a:buNone/>
            </a:pPr>
            <a:r>
              <a:rPr lang="en-US" sz="1050" b="1" dirty="0">
                <a:solidFill>
                  <a:srgbClr val="4F46E5"/>
                </a:solidFill>
                <a:latin typeface="Calibri" pitchFamily="34" charset="0"/>
                <a:ea typeface="Calibri" pitchFamily="34" charset="-122"/>
                <a:cs typeface="Calibri" pitchFamily="34" charset="-120"/>
              </a:rPr>
              <a:t>~5 min</a:t>
            </a:r>
            <a:endParaRPr lang="en-US" sz="1050" dirty="0"/>
          </a:p>
        </p:txBody>
      </p:sp>
      <p:sp>
        <p:nvSpPr>
          <p:cNvPr id="39" name="Text 37"/>
          <p:cNvSpPr/>
          <p:nvPr/>
        </p:nvSpPr>
        <p:spPr>
          <a:xfrm>
            <a:off x="8449056" y="4946904"/>
            <a:ext cx="3145536" cy="41148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Your part in the launch</a:t>
            </a:r>
            <a:endParaRPr lang="en-US" sz="1600" dirty="0"/>
          </a:p>
        </p:txBody>
      </p:sp>
      <p:sp>
        <p:nvSpPr>
          <p:cNvPr id="40" name="Text 38"/>
          <p:cNvSpPr/>
          <p:nvPr/>
        </p:nvSpPr>
        <p:spPr>
          <a:xfrm>
            <a:off x="8449056" y="5385816"/>
            <a:ext cx="3145536" cy="59436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Responsibilities and first steps</a:t>
            </a:r>
            <a:endParaRPr lang="en-US" sz="1150" dirty="0"/>
          </a:p>
        </p:txBody>
      </p:sp>
      <p:sp>
        <p:nvSpPr>
          <p:cNvPr id="41" name="Text 39"/>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42" name="Text 40"/>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1 · WHY ORBIT EXISTS</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Built by us, for the way we work</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4937760" cy="4297680"/>
          </a:xfrm>
          <a:prstGeom prst="roundRect">
            <a:avLst>
              <a:gd name="adj" fmla="val 2128"/>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932688" y="2167128"/>
            <a:ext cx="237744" cy="237744"/>
          </a:xfrm>
          <a:prstGeom prst="diamond">
            <a:avLst/>
          </a:prstGeom>
          <a:solidFill>
            <a:srgbClr val="4F46E5"/>
          </a:solidFill>
          <a:ln/>
        </p:spPr>
      </p:sp>
      <p:sp>
        <p:nvSpPr>
          <p:cNvPr id="7" name="Text 5"/>
          <p:cNvSpPr/>
          <p:nvPr/>
        </p:nvSpPr>
        <p:spPr>
          <a:xfrm>
            <a:off x="914400" y="2606040"/>
            <a:ext cx="4206240" cy="2194560"/>
          </a:xfrm>
          <a:prstGeom prst="rect">
            <a:avLst/>
          </a:prstGeom>
          <a:noFill/>
          <a:ln/>
        </p:spPr>
        <p:txBody>
          <a:bodyPr wrap="square" lIns="0" tIns="0" rIns="0" bIns="0" rtlCol="0" anchor="t"/>
          <a:lstStyle/>
          <a:p>
            <a:pPr indent="0" marL="0">
              <a:lnSpc>
                <a:spcPct val="125000"/>
              </a:lnSpc>
              <a:buNone/>
            </a:pPr>
            <a:r>
              <a:rPr lang="en-US" sz="1700" i="1" dirty="0">
                <a:solidFill>
                  <a:srgbClr val="0F172A"/>
                </a:solidFill>
                <a:latin typeface="Cambria" pitchFamily="34" charset="0"/>
                <a:ea typeface="Cambria" pitchFamily="34" charset="-122"/>
                <a:cs typeface="Cambria" pitchFamily="34" charset="-120"/>
              </a:rPr>
              <a:t>“The essentials of a workday — time, leave, approvals, records — were living in five different places. None of them talked to each other, and none of them matched how we actually work.”</a:t>
            </a:r>
            <a:endParaRPr lang="en-US" sz="1700" dirty="0"/>
          </a:p>
        </p:txBody>
      </p:sp>
      <p:sp>
        <p:nvSpPr>
          <p:cNvPr id="8" name="Text 6"/>
          <p:cNvSpPr/>
          <p:nvPr/>
        </p:nvSpPr>
        <p:spPr>
          <a:xfrm>
            <a:off x="914400" y="5029200"/>
            <a:ext cx="4206240" cy="731520"/>
          </a:xfrm>
          <a:prstGeom prst="rect">
            <a:avLst/>
          </a:prstGeom>
          <a:noFill/>
          <a:ln/>
        </p:spPr>
        <p:txBody>
          <a:bodyPr wrap="square" lIns="0" tIns="0" rIns="0" bIns="0" rtlCol="0" anchor="t"/>
          <a:lstStyle/>
          <a:p>
            <a:pPr indent="0" marL="0">
              <a:buNone/>
            </a:pPr>
            <a:r>
              <a:rPr lang="en-US" sz="1300" b="1" dirty="0">
                <a:solidFill>
                  <a:srgbClr val="4F46E5"/>
                </a:solidFill>
                <a:latin typeface="Calibri" pitchFamily="34" charset="0"/>
                <a:ea typeface="Calibri" pitchFamily="34" charset="-122"/>
                <a:cs typeface="Calibri" pitchFamily="34" charset="-120"/>
              </a:rPr>
              <a:t>So we stopped adapting to tools — and built the tool that adapts to us.</a:t>
            </a:r>
            <a:endParaRPr lang="en-US" sz="1300" dirty="0"/>
          </a:p>
        </p:txBody>
      </p:sp>
      <p:sp>
        <p:nvSpPr>
          <p:cNvPr id="9" name="Shape 7"/>
          <p:cNvSpPr/>
          <p:nvPr/>
        </p:nvSpPr>
        <p:spPr>
          <a:xfrm>
            <a:off x="5806440" y="1783080"/>
            <a:ext cx="5806440" cy="1298448"/>
          </a:xfrm>
          <a:prstGeom prst="roundRect">
            <a:avLst>
              <a:gd name="adj" fmla="val 704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0" name="Shape 8"/>
          <p:cNvSpPr/>
          <p:nvPr/>
        </p:nvSpPr>
        <p:spPr>
          <a:xfrm>
            <a:off x="6053328" y="2002536"/>
            <a:ext cx="420624" cy="420624"/>
          </a:xfrm>
          <a:prstGeom prst="roundRect">
            <a:avLst>
              <a:gd name="adj" fmla="val 19565"/>
            </a:avLst>
          </a:prstGeom>
          <a:solidFill>
            <a:srgbClr val="EEF2FF"/>
          </a:solidFill>
          <a:ln/>
        </p:spPr>
      </p:sp>
      <p:pic>
        <p:nvPicPr>
          <p:cNvPr id="11" name="Image 0" descr="preencoded.png">    </p:cNvPr>
          <p:cNvPicPr>
            <a:picLocks noChangeAspect="1"/>
          </p:cNvPicPr>
          <p:nvPr/>
        </p:nvPicPr>
        <p:blipFill>
          <a:blip r:embed="rId1"/>
          <a:stretch>
            <a:fillRect/>
          </a:stretch>
        </p:blipFill>
        <p:spPr>
          <a:xfrm>
            <a:off x="6145865" y="2095073"/>
            <a:ext cx="235549" cy="235549"/>
          </a:xfrm>
          <a:prstGeom prst="rect">
            <a:avLst/>
          </a:prstGeom>
        </p:spPr>
      </p:pic>
      <p:sp>
        <p:nvSpPr>
          <p:cNvPr id="12" name="Text 9"/>
          <p:cNvSpPr/>
          <p:nvPr/>
        </p:nvSpPr>
        <p:spPr>
          <a:xfrm>
            <a:off x="6601968" y="1965960"/>
            <a:ext cx="4846320" cy="32918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Off-the-shelf didn't fit</a:t>
            </a:r>
            <a:endParaRPr lang="en-US" sz="1350" dirty="0"/>
          </a:p>
        </p:txBody>
      </p:sp>
      <p:sp>
        <p:nvSpPr>
          <p:cNvPr id="13" name="Text 10"/>
          <p:cNvSpPr/>
          <p:nvPr/>
        </p:nvSpPr>
        <p:spPr>
          <a:xfrm>
            <a:off x="6601968" y="2304288"/>
            <a:ext cx="4846320" cy="713232"/>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Generic HR suites don't speak our policy — custom leave types per employment type, the 8-hour day rule, approvals that sit only with the direct manager.</a:t>
            </a:r>
            <a:endParaRPr lang="en-US" sz="1120" dirty="0"/>
          </a:p>
        </p:txBody>
      </p:sp>
      <p:sp>
        <p:nvSpPr>
          <p:cNvPr id="14" name="Shape 11"/>
          <p:cNvSpPr/>
          <p:nvPr/>
        </p:nvSpPr>
        <p:spPr>
          <a:xfrm>
            <a:off x="5806440" y="3264408"/>
            <a:ext cx="5806440" cy="1298448"/>
          </a:xfrm>
          <a:prstGeom prst="roundRect">
            <a:avLst>
              <a:gd name="adj" fmla="val 704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5" name="Shape 12"/>
          <p:cNvSpPr/>
          <p:nvPr/>
        </p:nvSpPr>
        <p:spPr>
          <a:xfrm>
            <a:off x="6053328" y="3483864"/>
            <a:ext cx="420624" cy="420624"/>
          </a:xfrm>
          <a:prstGeom prst="roundRect">
            <a:avLst>
              <a:gd name="adj" fmla="val 19565"/>
            </a:avLst>
          </a:prstGeom>
          <a:solidFill>
            <a:srgbClr val="EEF2FF"/>
          </a:solidFill>
          <a:ln/>
        </p:spPr>
      </p:sp>
      <p:pic>
        <p:nvPicPr>
          <p:cNvPr id="16" name="Image 1" descr="preencoded.png">    </p:cNvPr>
          <p:cNvPicPr>
            <a:picLocks noChangeAspect="1"/>
          </p:cNvPicPr>
          <p:nvPr/>
        </p:nvPicPr>
        <p:blipFill>
          <a:blip r:embed="rId2"/>
          <a:stretch>
            <a:fillRect/>
          </a:stretch>
        </p:blipFill>
        <p:spPr>
          <a:xfrm>
            <a:off x="6145865" y="3576401"/>
            <a:ext cx="235549" cy="235549"/>
          </a:xfrm>
          <a:prstGeom prst="rect">
            <a:avLst/>
          </a:prstGeom>
        </p:spPr>
      </p:pic>
      <p:sp>
        <p:nvSpPr>
          <p:cNvPr id="17" name="Text 13"/>
          <p:cNvSpPr/>
          <p:nvPr/>
        </p:nvSpPr>
        <p:spPr>
          <a:xfrm>
            <a:off x="6601968" y="3447288"/>
            <a:ext cx="4846320" cy="32918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Simple enough to use every day</a:t>
            </a:r>
            <a:endParaRPr lang="en-US" sz="1350" dirty="0"/>
          </a:p>
        </p:txBody>
      </p:sp>
      <p:sp>
        <p:nvSpPr>
          <p:cNvPr id="18" name="Text 14"/>
          <p:cNvSpPr/>
          <p:nvPr/>
        </p:nvSpPr>
        <p:spPr>
          <a:xfrm>
            <a:off x="6601968" y="3785616"/>
            <a:ext cx="4846320" cy="713232"/>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A system only works if people actually open it. Orbit is deliberately fast and clutter-free: one timer button, a few clicks for leave, nothing more.</a:t>
            </a:r>
            <a:endParaRPr lang="en-US" sz="1120" dirty="0"/>
          </a:p>
        </p:txBody>
      </p:sp>
      <p:sp>
        <p:nvSpPr>
          <p:cNvPr id="19" name="Shape 15"/>
          <p:cNvSpPr/>
          <p:nvPr/>
        </p:nvSpPr>
        <p:spPr>
          <a:xfrm>
            <a:off x="5806440" y="4745736"/>
            <a:ext cx="5806440" cy="1298448"/>
          </a:xfrm>
          <a:prstGeom prst="roundRect">
            <a:avLst>
              <a:gd name="adj" fmla="val 704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0" name="Shape 16"/>
          <p:cNvSpPr/>
          <p:nvPr/>
        </p:nvSpPr>
        <p:spPr>
          <a:xfrm>
            <a:off x="6053328" y="4965192"/>
            <a:ext cx="420624" cy="420624"/>
          </a:xfrm>
          <a:prstGeom prst="roundRect">
            <a:avLst>
              <a:gd name="adj" fmla="val 19565"/>
            </a:avLst>
          </a:prstGeom>
          <a:solidFill>
            <a:srgbClr val="EEF2FF"/>
          </a:solidFill>
          <a:ln/>
        </p:spPr>
      </p:sp>
      <p:pic>
        <p:nvPicPr>
          <p:cNvPr id="21" name="Image 2" descr="preencoded.png">    </p:cNvPr>
          <p:cNvPicPr>
            <a:picLocks noChangeAspect="1"/>
          </p:cNvPicPr>
          <p:nvPr/>
        </p:nvPicPr>
        <p:blipFill>
          <a:blip r:embed="rId3"/>
          <a:stretch>
            <a:fillRect/>
          </a:stretch>
        </p:blipFill>
        <p:spPr>
          <a:xfrm>
            <a:off x="6145865" y="5057729"/>
            <a:ext cx="235549" cy="235549"/>
          </a:xfrm>
          <a:prstGeom prst="rect">
            <a:avLst/>
          </a:prstGeom>
        </p:spPr>
      </p:pic>
      <p:sp>
        <p:nvSpPr>
          <p:cNvPr id="22" name="Text 17"/>
          <p:cNvSpPr/>
          <p:nvPr/>
        </p:nvSpPr>
        <p:spPr>
          <a:xfrm>
            <a:off x="6601968" y="4928616"/>
            <a:ext cx="4846320" cy="32918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Owned, not rented</a:t>
            </a:r>
            <a:endParaRPr lang="en-US" sz="1350" dirty="0"/>
          </a:p>
        </p:txBody>
      </p:sp>
      <p:sp>
        <p:nvSpPr>
          <p:cNvPr id="23" name="Text 18"/>
          <p:cNvSpPr/>
          <p:nvPr/>
        </p:nvSpPr>
        <p:spPr>
          <a:xfrm>
            <a:off x="6601968" y="5266944"/>
            <a:ext cx="4846320" cy="713232"/>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Built in-house on our own stack. No per-seat licences, our data stays ours, and it evolves exactly as fast as we need it to.</a:t>
            </a:r>
            <a:endParaRPr lang="en-US" sz="1120" dirty="0"/>
          </a:p>
        </p:txBody>
      </p:sp>
      <p:sp>
        <p:nvSpPr>
          <p:cNvPr id="24" name="Text 19"/>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5" name="Text 20"/>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2 · THE PROBLEMS IT SOLVES</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From scattered to one system</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5349240" cy="4297680"/>
          </a:xfrm>
          <a:prstGeom prst="roundRect">
            <a:avLst>
              <a:gd name="adj" fmla="val 2128"/>
            </a:avLst>
          </a:prstGeom>
          <a:solidFill>
            <a:srgbClr val="FDF2F2"/>
          </a:solidFill>
          <a:ln w="12700">
            <a:solidFill>
              <a:srgbClr val="FECACA"/>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868680" y="1965960"/>
            <a:ext cx="475488" cy="475488"/>
          </a:xfrm>
          <a:prstGeom prst="roundRect">
            <a:avLst>
              <a:gd name="adj" fmla="val 17308"/>
            </a:avLst>
          </a:prstGeom>
          <a:solidFill>
            <a:srgbClr val="FEE2E2"/>
          </a:solidFill>
          <a:ln/>
        </p:spPr>
      </p:sp>
      <p:pic>
        <p:nvPicPr>
          <p:cNvPr id="7" name="Image 0" descr="preencoded.png">    </p:cNvPr>
          <p:cNvPicPr>
            <a:picLocks noChangeAspect="1"/>
          </p:cNvPicPr>
          <p:nvPr/>
        </p:nvPicPr>
        <p:blipFill>
          <a:blip r:embed="rId1"/>
          <a:stretch>
            <a:fillRect/>
          </a:stretch>
        </p:blipFill>
        <p:spPr>
          <a:xfrm>
            <a:off x="973287" y="2070567"/>
            <a:ext cx="266273" cy="266273"/>
          </a:xfrm>
          <a:prstGeom prst="rect">
            <a:avLst/>
          </a:prstGeom>
        </p:spPr>
      </p:pic>
      <p:sp>
        <p:nvSpPr>
          <p:cNvPr id="8" name="Text 5"/>
          <p:cNvSpPr/>
          <p:nvPr/>
        </p:nvSpPr>
        <p:spPr>
          <a:xfrm>
            <a:off x="1481328" y="2002536"/>
            <a:ext cx="3657600" cy="411480"/>
          </a:xfrm>
          <a:prstGeom prst="rect">
            <a:avLst/>
          </a:prstGeom>
          <a:noFill/>
          <a:ln/>
        </p:spPr>
        <p:txBody>
          <a:bodyPr wrap="square" lIns="0" tIns="0" rIns="0" bIns="0" rtlCol="0" anchor="ctr"/>
          <a:lstStyle/>
          <a:p>
            <a:pPr indent="0" marL="0">
              <a:buNone/>
            </a:pPr>
            <a:r>
              <a:rPr lang="en-US" sz="2000" b="1" dirty="0">
                <a:solidFill>
                  <a:srgbClr val="0F172A"/>
                </a:solidFill>
                <a:latin typeface="Cambria" pitchFamily="34" charset="0"/>
                <a:ea typeface="Cambria" pitchFamily="34" charset="-122"/>
                <a:cs typeface="Cambria" pitchFamily="34" charset="-120"/>
              </a:rPr>
              <a:t>Before Orbit</a:t>
            </a:r>
            <a:endParaRPr lang="en-US" sz="2000" dirty="0"/>
          </a:p>
        </p:txBody>
      </p:sp>
      <p:sp>
        <p:nvSpPr>
          <p:cNvPr id="9" name="Text 6"/>
          <p:cNvSpPr/>
          <p:nvPr/>
        </p:nvSpPr>
        <p:spPr>
          <a:xfrm>
            <a:off x="914400" y="2651760"/>
            <a:ext cx="4617720" cy="3108960"/>
          </a:xfrm>
          <a:prstGeom prst="rect">
            <a:avLst/>
          </a:prstGeom>
          <a:noFill/>
          <a:ln/>
        </p:spPr>
        <p:txBody>
          <a:bodyPr wrap="square" lIns="0" tIns="0" rIns="0" bIns="0" rtlCol="0" anchor="t"/>
          <a:lstStyle/>
          <a:p>
            <a:pPr marL="127000" indent="-127000">
              <a:spcAft>
                <a:spcPts val="1000"/>
              </a:spcAft>
              <a:buSzPct val="100000"/>
              <a:buChar char="•"/>
            </a:pPr>
            <a:r>
              <a:rPr lang="en-US" sz="1400" dirty="0">
                <a:solidFill>
                  <a:srgbClr val="0F172A"/>
                </a:solidFill>
                <a:latin typeface="Calibri" pitchFamily="34" charset="0"/>
                <a:ea typeface="Calibri" pitchFamily="34" charset="-122"/>
                <a:cs typeface="Calibri" pitchFamily="34" charset="-120"/>
              </a:rPr>
              <a:t>Attendance kept in manual timesheets — easy to miss, hard to trust</a:t>
            </a:r>
            <a:endParaRPr lang="en-US" sz="1400" dirty="0"/>
          </a:p>
          <a:p>
            <a:pPr marL="127000" indent="-127000">
              <a:spcAft>
                <a:spcPts val="1000"/>
              </a:spcAft>
              <a:buSzPct val="100000"/>
              <a:buChar char="•"/>
            </a:pPr>
            <a:r>
              <a:rPr lang="en-US" sz="1400" dirty="0">
                <a:solidFill>
                  <a:srgbClr val="0F172A"/>
                </a:solidFill>
                <a:latin typeface="Calibri" pitchFamily="34" charset="0"/>
                <a:ea typeface="Calibri" pitchFamily="34" charset="-122"/>
                <a:cs typeface="Calibri" pitchFamily="34" charset="-120"/>
              </a:rPr>
              <a:t>Leave requested over email and chat, with no clear status</a:t>
            </a:r>
            <a:endParaRPr lang="en-US" sz="1400" dirty="0"/>
          </a:p>
          <a:p>
            <a:pPr marL="127000" indent="-127000">
              <a:spcAft>
                <a:spcPts val="1000"/>
              </a:spcAft>
              <a:buSzPct val="100000"/>
              <a:buChar char="•"/>
            </a:pPr>
            <a:r>
              <a:rPr lang="en-US" sz="1400" dirty="0">
                <a:solidFill>
                  <a:srgbClr val="0F172A"/>
                </a:solidFill>
                <a:latin typeface="Calibri" pitchFamily="34" charset="0"/>
                <a:ea typeface="Calibri" pitchFamily="34" charset="-122"/>
                <a:cs typeface="Calibri" pitchFamily="34" charset="-120"/>
              </a:rPr>
              <a:t>Balances tracked by hand; disputes at year-end</a:t>
            </a:r>
            <a:endParaRPr lang="en-US" sz="1400" dirty="0"/>
          </a:p>
          <a:p>
            <a:pPr marL="127000" indent="-127000">
              <a:spcAft>
                <a:spcPts val="1000"/>
              </a:spcAft>
              <a:buSzPct val="100000"/>
              <a:buChar char="•"/>
            </a:pPr>
            <a:r>
              <a:rPr lang="en-US" sz="1400" dirty="0">
                <a:solidFill>
                  <a:srgbClr val="0F172A"/>
                </a:solidFill>
                <a:latin typeface="Calibri" pitchFamily="34" charset="0"/>
                <a:ea typeface="Calibri" pitchFamily="34" charset="-122"/>
                <a:cs typeface="Calibri" pitchFamily="34" charset="-120"/>
              </a:rPr>
              <a:t>HR documents scattered across drives and inboxes</a:t>
            </a:r>
            <a:endParaRPr lang="en-US" sz="1400" dirty="0"/>
          </a:p>
          <a:p>
            <a:pPr marL="127000" indent="-127000">
              <a:spcAft>
                <a:spcPts val="1000"/>
              </a:spcAft>
              <a:buSzPct val="100000"/>
              <a:buChar char="•"/>
            </a:pPr>
            <a:r>
              <a:rPr lang="en-US" sz="1400" dirty="0">
                <a:solidFill>
                  <a:srgbClr val="0F172A"/>
                </a:solidFill>
                <a:latin typeface="Calibri" pitchFamily="34" charset="0"/>
                <a:ea typeface="Calibri" pitchFamily="34" charset="-122"/>
                <a:cs typeface="Calibri" pitchFamily="34" charset="-120"/>
              </a:rPr>
              <a:t>No single view of who is in, out, or working from home</a:t>
            </a:r>
            <a:endParaRPr lang="en-US" sz="1400" dirty="0"/>
          </a:p>
        </p:txBody>
      </p:sp>
      <p:sp>
        <p:nvSpPr>
          <p:cNvPr id="10" name="Shape 7"/>
          <p:cNvSpPr/>
          <p:nvPr/>
        </p:nvSpPr>
        <p:spPr>
          <a:xfrm>
            <a:off x="6263640" y="1691640"/>
            <a:ext cx="5349240" cy="4297680"/>
          </a:xfrm>
          <a:prstGeom prst="roundRect">
            <a:avLst>
              <a:gd name="adj" fmla="val 2128"/>
            </a:avLst>
          </a:prstGeom>
          <a:solidFill>
            <a:srgbClr val="ECFDF5"/>
          </a:solidFill>
          <a:ln w="12700">
            <a:solidFill>
              <a:srgbClr val="A7F3D0"/>
            </a:solidFill>
            <a:prstDash val="solid"/>
          </a:ln>
          <a:effectLst>
            <a:outerShdw sx="100000" sy="100000" kx="0" ky="0" algn="bl" rotWithShape="0" blurRad="76200" dist="12700" dir="5400000">
              <a:srgbClr val="94A3B8">
                <a:alpha val="18000"/>
              </a:srgbClr>
            </a:outerShdw>
          </a:effectLst>
        </p:spPr>
      </p:sp>
      <p:sp>
        <p:nvSpPr>
          <p:cNvPr id="11" name="Shape 8"/>
          <p:cNvSpPr/>
          <p:nvPr/>
        </p:nvSpPr>
        <p:spPr>
          <a:xfrm>
            <a:off x="6583680" y="1965960"/>
            <a:ext cx="475488" cy="475488"/>
          </a:xfrm>
          <a:prstGeom prst="roundRect">
            <a:avLst>
              <a:gd name="adj" fmla="val 17308"/>
            </a:avLst>
          </a:prstGeom>
          <a:solidFill>
            <a:srgbClr val="D1FAE5"/>
          </a:solidFill>
          <a:ln/>
        </p:spPr>
      </p:sp>
      <p:pic>
        <p:nvPicPr>
          <p:cNvPr id="12" name="Image 1" descr="preencoded.png">    </p:cNvPr>
          <p:cNvPicPr>
            <a:picLocks noChangeAspect="1"/>
          </p:cNvPicPr>
          <p:nvPr/>
        </p:nvPicPr>
        <p:blipFill>
          <a:blip r:embed="rId2"/>
          <a:stretch>
            <a:fillRect/>
          </a:stretch>
        </p:blipFill>
        <p:spPr>
          <a:xfrm>
            <a:off x="6688287" y="2070567"/>
            <a:ext cx="266273" cy="266273"/>
          </a:xfrm>
          <a:prstGeom prst="rect">
            <a:avLst/>
          </a:prstGeom>
        </p:spPr>
      </p:pic>
      <p:sp>
        <p:nvSpPr>
          <p:cNvPr id="13" name="Text 9"/>
          <p:cNvSpPr/>
          <p:nvPr/>
        </p:nvSpPr>
        <p:spPr>
          <a:xfrm>
            <a:off x="7196328" y="2002536"/>
            <a:ext cx="3657600" cy="411480"/>
          </a:xfrm>
          <a:prstGeom prst="rect">
            <a:avLst/>
          </a:prstGeom>
          <a:noFill/>
          <a:ln/>
        </p:spPr>
        <p:txBody>
          <a:bodyPr wrap="square" lIns="0" tIns="0" rIns="0" bIns="0" rtlCol="0" anchor="ctr"/>
          <a:lstStyle/>
          <a:p>
            <a:pPr indent="0" marL="0">
              <a:buNone/>
            </a:pPr>
            <a:r>
              <a:rPr lang="en-US" sz="2000" b="1" dirty="0">
                <a:solidFill>
                  <a:srgbClr val="0F172A"/>
                </a:solidFill>
                <a:latin typeface="Cambria" pitchFamily="34" charset="0"/>
                <a:ea typeface="Cambria" pitchFamily="34" charset="-122"/>
                <a:cs typeface="Cambria" pitchFamily="34" charset="-120"/>
              </a:rPr>
              <a:t>With Orbit</a:t>
            </a:r>
            <a:endParaRPr lang="en-US" sz="2000" dirty="0"/>
          </a:p>
        </p:txBody>
      </p:sp>
      <p:sp>
        <p:nvSpPr>
          <p:cNvPr id="14" name="Text 10"/>
          <p:cNvSpPr/>
          <p:nvPr/>
        </p:nvSpPr>
        <p:spPr>
          <a:xfrm>
            <a:off x="6629400" y="2651760"/>
            <a:ext cx="4617720" cy="3108960"/>
          </a:xfrm>
          <a:prstGeom prst="rect">
            <a:avLst/>
          </a:prstGeom>
          <a:noFill/>
          <a:ln/>
        </p:spPr>
        <p:txBody>
          <a:bodyPr wrap="square" lIns="0" tIns="0" rIns="0" bIns="0" rtlCol="0" anchor="t"/>
          <a:lstStyle/>
          <a:p>
            <a:pPr marL="127000" indent="-127000">
              <a:spcAft>
                <a:spcPts val="1000"/>
              </a:spcAft>
              <a:buSzPct val="100000"/>
              <a:buChar char="•"/>
            </a:pPr>
            <a:r>
              <a:rPr lang="en-US" sz="1400" dirty="0">
                <a:solidFill>
                  <a:srgbClr val="0F172A"/>
                </a:solidFill>
                <a:latin typeface="Calibri" pitchFamily="34" charset="0"/>
                <a:ea typeface="Calibri" pitchFamily="34" charset="-122"/>
                <a:cs typeface="Calibri" pitchFamily="34" charset="-120"/>
              </a:rPr>
              <a:t>One-button daily timer — the system keeps the record automatically</a:t>
            </a:r>
            <a:endParaRPr lang="en-US" sz="1400" dirty="0"/>
          </a:p>
          <a:p>
            <a:pPr marL="127000" indent="-127000">
              <a:spcAft>
                <a:spcPts val="1000"/>
              </a:spcAft>
              <a:buSzPct val="100000"/>
              <a:buChar char="•"/>
            </a:pPr>
            <a:r>
              <a:rPr lang="en-US" sz="1400" dirty="0">
                <a:solidFill>
                  <a:srgbClr val="0F172A"/>
                </a:solidFill>
                <a:latin typeface="Calibri" pitchFamily="34" charset="0"/>
                <a:ea typeface="Calibri" pitchFamily="34" charset="-122"/>
                <a:cs typeface="Calibri" pitchFamily="34" charset="-120"/>
              </a:rPr>
              <a:t>Leave and WFH applied in a few clicks, status visible at every step</a:t>
            </a:r>
            <a:endParaRPr lang="en-US" sz="1400" dirty="0"/>
          </a:p>
          <a:p>
            <a:pPr marL="127000" indent="-127000">
              <a:spcAft>
                <a:spcPts val="1000"/>
              </a:spcAft>
              <a:buSzPct val="100000"/>
              <a:buChar char="•"/>
            </a:pPr>
            <a:r>
              <a:rPr lang="en-US" sz="1400" dirty="0">
                <a:solidFill>
                  <a:srgbClr val="0F172A"/>
                </a:solidFill>
                <a:latin typeface="Calibri" pitchFamily="34" charset="0"/>
                <a:ea typeface="Calibri" pitchFamily="34" charset="-122"/>
                <a:cs typeface="Calibri" pitchFamily="34" charset="-120"/>
              </a:rPr>
              <a:t>Balances update themselves, only when a request is approved</a:t>
            </a:r>
            <a:endParaRPr lang="en-US" sz="1400" dirty="0"/>
          </a:p>
          <a:p>
            <a:pPr marL="127000" indent="-127000">
              <a:spcAft>
                <a:spcPts val="1000"/>
              </a:spcAft>
              <a:buSzPct val="100000"/>
              <a:buChar char="•"/>
            </a:pPr>
            <a:r>
              <a:rPr lang="en-US" sz="1400" dirty="0">
                <a:solidFill>
                  <a:srgbClr val="0F172A"/>
                </a:solidFill>
                <a:latin typeface="Calibri" pitchFamily="34" charset="0"/>
                <a:ea typeface="Calibri" pitchFamily="34" charset="-122"/>
                <a:cs typeface="Calibri" pitchFamily="34" charset="-120"/>
              </a:rPr>
              <a:t>Every employee has one secure personal document file</a:t>
            </a:r>
            <a:endParaRPr lang="en-US" sz="1400" dirty="0"/>
          </a:p>
          <a:p>
            <a:pPr marL="127000" indent="-127000">
              <a:spcAft>
                <a:spcPts val="1000"/>
              </a:spcAft>
              <a:buSzPct val="100000"/>
              <a:buChar char="•"/>
            </a:pPr>
            <a:r>
              <a:rPr lang="en-US" sz="1400" dirty="0">
                <a:solidFill>
                  <a:srgbClr val="0F172A"/>
                </a:solidFill>
                <a:latin typeface="Calibri" pitchFamily="34" charset="0"/>
                <a:ea typeface="Calibri" pitchFamily="34" charset="-122"/>
                <a:cs typeface="Calibri" pitchFamily="34" charset="-120"/>
              </a:rPr>
              <a:t>Dashboards, calendar and analytics give everyone clarity</a:t>
            </a:r>
            <a:endParaRPr lang="en-US" sz="1400" dirty="0"/>
          </a:p>
        </p:txBody>
      </p:sp>
      <p:sp>
        <p:nvSpPr>
          <p:cNvPr id="15" name="Text 11"/>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16"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2 · THE PROBLEMS IT SOLVES</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Six answers, one application</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804672" y="1929384"/>
            <a:ext cx="457200" cy="457200"/>
          </a:xfrm>
          <a:prstGeom prst="roundRect">
            <a:avLst>
              <a:gd name="adj" fmla="val 18000"/>
            </a:avLst>
          </a:prstGeom>
          <a:solidFill>
            <a:srgbClr val="EEF2FF"/>
          </a:solidFill>
          <a:ln/>
        </p:spPr>
      </p:sp>
      <p:pic>
        <p:nvPicPr>
          <p:cNvPr id="7" name="Image 0" descr="preencoded.png">    </p:cNvPr>
          <p:cNvPicPr>
            <a:picLocks noChangeAspect="1"/>
          </p:cNvPicPr>
          <p:nvPr/>
        </p:nvPicPr>
        <p:blipFill>
          <a:blip r:embed="rId1"/>
          <a:stretch>
            <a:fillRect/>
          </a:stretch>
        </p:blipFill>
        <p:spPr>
          <a:xfrm>
            <a:off x="905256" y="2029968"/>
            <a:ext cx="256032" cy="256032"/>
          </a:xfrm>
          <a:prstGeom prst="rect">
            <a:avLst/>
          </a:prstGeom>
        </p:spPr>
      </p:pic>
      <p:sp>
        <p:nvSpPr>
          <p:cNvPr id="8" name="Text 5"/>
          <p:cNvSpPr/>
          <p:nvPr/>
        </p:nvSpPr>
        <p:spPr>
          <a:xfrm>
            <a:off x="1389888" y="1965960"/>
            <a:ext cx="2651760" cy="640080"/>
          </a:xfrm>
          <a:prstGeom prst="rect">
            <a:avLst/>
          </a:prstGeom>
          <a:noFill/>
          <a:ln/>
        </p:spPr>
        <p:txBody>
          <a:bodyPr wrap="square" lIns="0" tIns="0" rIns="0" bIns="0" rtlCol="0" anchor="t"/>
          <a:lstStyle/>
          <a:p>
            <a:pPr indent="0" marL="0">
              <a:buNone/>
            </a:pPr>
            <a:r>
              <a:rPr lang="en-US" sz="1550" b="1" dirty="0">
                <a:solidFill>
                  <a:srgbClr val="0F172A"/>
                </a:solidFill>
                <a:latin typeface="Cambria" pitchFamily="34" charset="0"/>
                <a:ea typeface="Cambria" pitchFamily="34" charset="-122"/>
                <a:cs typeface="Cambria" pitchFamily="34" charset="-120"/>
              </a:rPr>
              <a:t>Attendance</a:t>
            </a:r>
            <a:endParaRPr lang="en-US" sz="1550" dirty="0"/>
          </a:p>
        </p:txBody>
      </p:sp>
      <p:sp>
        <p:nvSpPr>
          <p:cNvPr id="9" name="Text 6"/>
          <p:cNvSpPr/>
          <p:nvPr/>
        </p:nvSpPr>
        <p:spPr>
          <a:xfrm>
            <a:off x="804672" y="2606040"/>
            <a:ext cx="3145536" cy="10515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A simple daily timer replaces timesheets — check in, pause for breaks, check out. Trends over time, automatically.</a:t>
            </a:r>
            <a:endParaRPr lang="en-US" sz="1200" dirty="0"/>
          </a:p>
        </p:txBody>
      </p:sp>
      <p:sp>
        <p:nvSpPr>
          <p:cNvPr id="10" name="Shape 7"/>
          <p:cNvSpPr/>
          <p:nvPr/>
        </p:nvSpPr>
        <p:spPr>
          <a:xfrm>
            <a:off x="4370832" y="1691640"/>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1" name="Shape 8"/>
          <p:cNvSpPr/>
          <p:nvPr/>
        </p:nvSpPr>
        <p:spPr>
          <a:xfrm>
            <a:off x="4626864" y="1929384"/>
            <a:ext cx="457200" cy="457200"/>
          </a:xfrm>
          <a:prstGeom prst="roundRect">
            <a:avLst>
              <a:gd name="adj" fmla="val 18000"/>
            </a:avLst>
          </a:prstGeom>
          <a:solidFill>
            <a:srgbClr val="EEF2FF"/>
          </a:solidFill>
          <a:ln/>
        </p:spPr>
      </p:sp>
      <p:pic>
        <p:nvPicPr>
          <p:cNvPr id="12" name="Image 1" descr="preencoded.png">    </p:cNvPr>
          <p:cNvPicPr>
            <a:picLocks noChangeAspect="1"/>
          </p:cNvPicPr>
          <p:nvPr/>
        </p:nvPicPr>
        <p:blipFill>
          <a:blip r:embed="rId2"/>
          <a:stretch>
            <a:fillRect/>
          </a:stretch>
        </p:blipFill>
        <p:spPr>
          <a:xfrm>
            <a:off x="4727448" y="2029968"/>
            <a:ext cx="256032" cy="256032"/>
          </a:xfrm>
          <a:prstGeom prst="rect">
            <a:avLst/>
          </a:prstGeom>
        </p:spPr>
      </p:pic>
      <p:sp>
        <p:nvSpPr>
          <p:cNvPr id="13" name="Text 9"/>
          <p:cNvSpPr/>
          <p:nvPr/>
        </p:nvSpPr>
        <p:spPr>
          <a:xfrm>
            <a:off x="5212080" y="1965960"/>
            <a:ext cx="2651760" cy="640080"/>
          </a:xfrm>
          <a:prstGeom prst="rect">
            <a:avLst/>
          </a:prstGeom>
          <a:noFill/>
          <a:ln/>
        </p:spPr>
        <p:txBody>
          <a:bodyPr wrap="square" lIns="0" tIns="0" rIns="0" bIns="0" rtlCol="0" anchor="t"/>
          <a:lstStyle/>
          <a:p>
            <a:pPr indent="0" marL="0">
              <a:buNone/>
            </a:pPr>
            <a:r>
              <a:rPr lang="en-US" sz="1550" b="1" dirty="0">
                <a:solidFill>
                  <a:srgbClr val="0F172A"/>
                </a:solidFill>
                <a:latin typeface="Cambria" pitchFamily="34" charset="0"/>
                <a:ea typeface="Cambria" pitchFamily="34" charset="-122"/>
                <a:cs typeface="Cambria" pitchFamily="34" charset="-120"/>
              </a:rPr>
              <a:t>Leave &amp; Work-from-home</a:t>
            </a:r>
            <a:endParaRPr lang="en-US" sz="1550" dirty="0"/>
          </a:p>
        </p:txBody>
      </p:sp>
      <p:sp>
        <p:nvSpPr>
          <p:cNvPr id="14" name="Text 10"/>
          <p:cNvSpPr/>
          <p:nvPr/>
        </p:nvSpPr>
        <p:spPr>
          <a:xfrm>
            <a:off x="4626864" y="2606040"/>
            <a:ext cx="3145536" cy="10515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Full days, half days, ranges or hand-picked dates — applied in a few clicks, with live status.</a:t>
            </a:r>
            <a:endParaRPr lang="en-US" sz="1200" dirty="0"/>
          </a:p>
        </p:txBody>
      </p:sp>
      <p:sp>
        <p:nvSpPr>
          <p:cNvPr id="15" name="Shape 11"/>
          <p:cNvSpPr/>
          <p:nvPr/>
        </p:nvSpPr>
        <p:spPr>
          <a:xfrm>
            <a:off x="8193024" y="1691640"/>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6" name="Shape 12"/>
          <p:cNvSpPr/>
          <p:nvPr/>
        </p:nvSpPr>
        <p:spPr>
          <a:xfrm>
            <a:off x="8449056" y="1929384"/>
            <a:ext cx="457200" cy="457200"/>
          </a:xfrm>
          <a:prstGeom prst="roundRect">
            <a:avLst>
              <a:gd name="adj" fmla="val 18000"/>
            </a:avLst>
          </a:prstGeom>
          <a:solidFill>
            <a:srgbClr val="EEF2FF"/>
          </a:solidFill>
          <a:ln/>
        </p:spPr>
      </p:sp>
      <p:pic>
        <p:nvPicPr>
          <p:cNvPr id="17" name="Image 2" descr="preencoded.png">    </p:cNvPr>
          <p:cNvPicPr>
            <a:picLocks noChangeAspect="1"/>
          </p:cNvPicPr>
          <p:nvPr/>
        </p:nvPicPr>
        <p:blipFill>
          <a:blip r:embed="rId3"/>
          <a:stretch>
            <a:fillRect/>
          </a:stretch>
        </p:blipFill>
        <p:spPr>
          <a:xfrm>
            <a:off x="8549640" y="2029968"/>
            <a:ext cx="256032" cy="256032"/>
          </a:xfrm>
          <a:prstGeom prst="rect">
            <a:avLst/>
          </a:prstGeom>
        </p:spPr>
      </p:pic>
      <p:sp>
        <p:nvSpPr>
          <p:cNvPr id="18" name="Text 13"/>
          <p:cNvSpPr/>
          <p:nvPr/>
        </p:nvSpPr>
        <p:spPr>
          <a:xfrm>
            <a:off x="9034272" y="1965960"/>
            <a:ext cx="2651760" cy="640080"/>
          </a:xfrm>
          <a:prstGeom prst="rect">
            <a:avLst/>
          </a:prstGeom>
          <a:noFill/>
          <a:ln/>
        </p:spPr>
        <p:txBody>
          <a:bodyPr wrap="square" lIns="0" tIns="0" rIns="0" bIns="0" rtlCol="0" anchor="t"/>
          <a:lstStyle/>
          <a:p>
            <a:pPr indent="0" marL="0">
              <a:buNone/>
            </a:pPr>
            <a:r>
              <a:rPr lang="en-US" sz="1550" b="1" dirty="0">
                <a:solidFill>
                  <a:srgbClr val="0F172A"/>
                </a:solidFill>
                <a:latin typeface="Cambria" pitchFamily="34" charset="0"/>
                <a:ea typeface="Cambria" pitchFamily="34" charset="-122"/>
                <a:cs typeface="Cambria" pitchFamily="34" charset="-120"/>
              </a:rPr>
              <a:t>Approvals</a:t>
            </a:r>
            <a:endParaRPr lang="en-US" sz="1550" dirty="0"/>
          </a:p>
        </p:txBody>
      </p:sp>
      <p:sp>
        <p:nvSpPr>
          <p:cNvPr id="19" name="Text 14"/>
          <p:cNvSpPr/>
          <p:nvPr/>
        </p:nvSpPr>
        <p:spPr>
          <a:xfrm>
            <a:off x="8449056" y="2606040"/>
            <a:ext cx="3145536" cy="10515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Managers decide on their own team's requests from a dedicated queue — no one else's.</a:t>
            </a:r>
            <a:endParaRPr lang="en-US" sz="1200" dirty="0"/>
          </a:p>
        </p:txBody>
      </p:sp>
      <p:sp>
        <p:nvSpPr>
          <p:cNvPr id="20" name="Shape 15"/>
          <p:cNvSpPr/>
          <p:nvPr/>
        </p:nvSpPr>
        <p:spPr>
          <a:xfrm>
            <a:off x="548640" y="4032504"/>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1" name="Shape 16"/>
          <p:cNvSpPr/>
          <p:nvPr/>
        </p:nvSpPr>
        <p:spPr>
          <a:xfrm>
            <a:off x="804672" y="4270248"/>
            <a:ext cx="457200" cy="457200"/>
          </a:xfrm>
          <a:prstGeom prst="roundRect">
            <a:avLst>
              <a:gd name="adj" fmla="val 18000"/>
            </a:avLst>
          </a:prstGeom>
          <a:solidFill>
            <a:srgbClr val="EEF2FF"/>
          </a:solidFill>
          <a:ln/>
        </p:spPr>
      </p:sp>
      <p:pic>
        <p:nvPicPr>
          <p:cNvPr id="22" name="Image 3" descr="preencoded.png">    </p:cNvPr>
          <p:cNvPicPr>
            <a:picLocks noChangeAspect="1"/>
          </p:cNvPicPr>
          <p:nvPr/>
        </p:nvPicPr>
        <p:blipFill>
          <a:blip r:embed="rId4"/>
          <a:stretch>
            <a:fillRect/>
          </a:stretch>
        </p:blipFill>
        <p:spPr>
          <a:xfrm>
            <a:off x="905256" y="4370832"/>
            <a:ext cx="256032" cy="256032"/>
          </a:xfrm>
          <a:prstGeom prst="rect">
            <a:avLst/>
          </a:prstGeom>
        </p:spPr>
      </p:pic>
      <p:sp>
        <p:nvSpPr>
          <p:cNvPr id="23" name="Text 17"/>
          <p:cNvSpPr/>
          <p:nvPr/>
        </p:nvSpPr>
        <p:spPr>
          <a:xfrm>
            <a:off x="1389888" y="4306824"/>
            <a:ext cx="2651760" cy="640080"/>
          </a:xfrm>
          <a:prstGeom prst="rect">
            <a:avLst/>
          </a:prstGeom>
          <a:noFill/>
          <a:ln/>
        </p:spPr>
        <p:txBody>
          <a:bodyPr wrap="square" lIns="0" tIns="0" rIns="0" bIns="0" rtlCol="0" anchor="t"/>
          <a:lstStyle/>
          <a:p>
            <a:pPr indent="0" marL="0">
              <a:buNone/>
            </a:pPr>
            <a:r>
              <a:rPr lang="en-US" sz="1550" b="1" dirty="0">
                <a:solidFill>
                  <a:srgbClr val="0F172A"/>
                </a:solidFill>
                <a:latin typeface="Cambria" pitchFamily="34" charset="0"/>
                <a:ea typeface="Cambria" pitchFamily="34" charset="-122"/>
                <a:cs typeface="Cambria" pitchFamily="34" charset="-120"/>
              </a:rPr>
              <a:t>Notifications &amp; Announcements</a:t>
            </a:r>
            <a:endParaRPr lang="en-US" sz="1550" dirty="0"/>
          </a:p>
        </p:txBody>
      </p:sp>
      <p:sp>
        <p:nvSpPr>
          <p:cNvPr id="24" name="Text 18"/>
          <p:cNvSpPr/>
          <p:nvPr/>
        </p:nvSpPr>
        <p:spPr>
          <a:xfrm>
            <a:off x="804672" y="4946904"/>
            <a:ext cx="3145536" cy="10515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A bell drawer and a dedicated page for everything that needs your attention — plus targeted broadcasts.</a:t>
            </a:r>
            <a:endParaRPr lang="en-US" sz="1200" dirty="0"/>
          </a:p>
        </p:txBody>
      </p:sp>
      <p:sp>
        <p:nvSpPr>
          <p:cNvPr id="25" name="Shape 19"/>
          <p:cNvSpPr/>
          <p:nvPr/>
        </p:nvSpPr>
        <p:spPr>
          <a:xfrm>
            <a:off x="4370832" y="4032504"/>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6" name="Shape 20"/>
          <p:cNvSpPr/>
          <p:nvPr/>
        </p:nvSpPr>
        <p:spPr>
          <a:xfrm>
            <a:off x="4626864" y="4270248"/>
            <a:ext cx="457200" cy="457200"/>
          </a:xfrm>
          <a:prstGeom prst="roundRect">
            <a:avLst>
              <a:gd name="adj" fmla="val 18000"/>
            </a:avLst>
          </a:prstGeom>
          <a:solidFill>
            <a:srgbClr val="EEF2FF"/>
          </a:solidFill>
          <a:ln/>
        </p:spPr>
      </p:sp>
      <p:pic>
        <p:nvPicPr>
          <p:cNvPr id="27" name="Image 4" descr="preencoded.png">    </p:cNvPr>
          <p:cNvPicPr>
            <a:picLocks noChangeAspect="1"/>
          </p:cNvPicPr>
          <p:nvPr/>
        </p:nvPicPr>
        <p:blipFill>
          <a:blip r:embed="rId5"/>
          <a:stretch>
            <a:fillRect/>
          </a:stretch>
        </p:blipFill>
        <p:spPr>
          <a:xfrm>
            <a:off x="4727448" y="4370832"/>
            <a:ext cx="256032" cy="256032"/>
          </a:xfrm>
          <a:prstGeom prst="rect">
            <a:avLst/>
          </a:prstGeom>
        </p:spPr>
      </p:pic>
      <p:sp>
        <p:nvSpPr>
          <p:cNvPr id="28" name="Text 21"/>
          <p:cNvSpPr/>
          <p:nvPr/>
        </p:nvSpPr>
        <p:spPr>
          <a:xfrm>
            <a:off x="5212080" y="4306824"/>
            <a:ext cx="2651760" cy="640080"/>
          </a:xfrm>
          <a:prstGeom prst="rect">
            <a:avLst/>
          </a:prstGeom>
          <a:noFill/>
          <a:ln/>
        </p:spPr>
        <p:txBody>
          <a:bodyPr wrap="square" lIns="0" tIns="0" rIns="0" bIns="0" rtlCol="0" anchor="t"/>
          <a:lstStyle/>
          <a:p>
            <a:pPr indent="0" marL="0">
              <a:buNone/>
            </a:pPr>
            <a:r>
              <a:rPr lang="en-US" sz="1550" b="1" dirty="0">
                <a:solidFill>
                  <a:srgbClr val="0F172A"/>
                </a:solidFill>
                <a:latin typeface="Cambria" pitchFamily="34" charset="0"/>
                <a:ea typeface="Cambria" pitchFamily="34" charset="-122"/>
                <a:cs typeface="Cambria" pitchFamily="34" charset="-120"/>
              </a:rPr>
              <a:t>Documents</a:t>
            </a:r>
            <a:endParaRPr lang="en-US" sz="1550" dirty="0"/>
          </a:p>
        </p:txBody>
      </p:sp>
      <p:sp>
        <p:nvSpPr>
          <p:cNvPr id="29" name="Text 22"/>
          <p:cNvSpPr/>
          <p:nvPr/>
        </p:nvSpPr>
        <p:spPr>
          <a:xfrm>
            <a:off x="4626864" y="4946904"/>
            <a:ext cx="3145536" cy="10515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A personal HR file per employee — ID proofs, certificates, contracts — with strict access control.</a:t>
            </a:r>
            <a:endParaRPr lang="en-US" sz="1200" dirty="0"/>
          </a:p>
        </p:txBody>
      </p:sp>
      <p:sp>
        <p:nvSpPr>
          <p:cNvPr id="30" name="Shape 23"/>
          <p:cNvSpPr/>
          <p:nvPr/>
        </p:nvSpPr>
        <p:spPr>
          <a:xfrm>
            <a:off x="8193024" y="4032504"/>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31" name="Shape 24"/>
          <p:cNvSpPr/>
          <p:nvPr/>
        </p:nvSpPr>
        <p:spPr>
          <a:xfrm>
            <a:off x="8449056" y="4270248"/>
            <a:ext cx="457200" cy="457200"/>
          </a:xfrm>
          <a:prstGeom prst="roundRect">
            <a:avLst>
              <a:gd name="adj" fmla="val 18000"/>
            </a:avLst>
          </a:prstGeom>
          <a:solidFill>
            <a:srgbClr val="EEF2FF"/>
          </a:solidFill>
          <a:ln/>
        </p:spPr>
      </p:sp>
      <p:pic>
        <p:nvPicPr>
          <p:cNvPr id="32" name="Image 5" descr="preencoded.png">    </p:cNvPr>
          <p:cNvPicPr>
            <a:picLocks noChangeAspect="1"/>
          </p:cNvPicPr>
          <p:nvPr/>
        </p:nvPicPr>
        <p:blipFill>
          <a:blip r:embed="rId6"/>
          <a:stretch>
            <a:fillRect/>
          </a:stretch>
        </p:blipFill>
        <p:spPr>
          <a:xfrm>
            <a:off x="8549640" y="4370832"/>
            <a:ext cx="256032" cy="256032"/>
          </a:xfrm>
          <a:prstGeom prst="rect">
            <a:avLst/>
          </a:prstGeom>
        </p:spPr>
      </p:pic>
      <p:sp>
        <p:nvSpPr>
          <p:cNvPr id="33" name="Text 25"/>
          <p:cNvSpPr/>
          <p:nvPr/>
        </p:nvSpPr>
        <p:spPr>
          <a:xfrm>
            <a:off x="9034272" y="4306824"/>
            <a:ext cx="2651760" cy="640080"/>
          </a:xfrm>
          <a:prstGeom prst="rect">
            <a:avLst/>
          </a:prstGeom>
          <a:noFill/>
          <a:ln/>
        </p:spPr>
        <p:txBody>
          <a:bodyPr wrap="square" lIns="0" tIns="0" rIns="0" bIns="0" rtlCol="0" anchor="t"/>
          <a:lstStyle/>
          <a:p>
            <a:pPr indent="0" marL="0">
              <a:buNone/>
            </a:pPr>
            <a:r>
              <a:rPr lang="en-US" sz="1550" b="1" dirty="0">
                <a:solidFill>
                  <a:srgbClr val="0F172A"/>
                </a:solidFill>
                <a:latin typeface="Cambria" pitchFamily="34" charset="0"/>
                <a:ea typeface="Cambria" pitchFamily="34" charset="-122"/>
                <a:cs typeface="Cambria" pitchFamily="34" charset="-120"/>
              </a:rPr>
              <a:t>Policies &amp; Administration</a:t>
            </a:r>
            <a:endParaRPr lang="en-US" sz="1550" dirty="0"/>
          </a:p>
        </p:txBody>
      </p:sp>
      <p:sp>
        <p:nvSpPr>
          <p:cNvPr id="34" name="Text 26"/>
          <p:cNvSpPr/>
          <p:nvPr/>
        </p:nvSpPr>
        <p:spPr>
          <a:xfrm>
            <a:off x="8449056" y="4946904"/>
            <a:ext cx="3145536" cy="10515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Custom leave types and employment types, each with its own annual allowance. Your policy, your rules.</a:t>
            </a:r>
            <a:endParaRPr lang="en-US" sz="1200" dirty="0"/>
          </a:p>
        </p:txBody>
      </p:sp>
      <p:sp>
        <p:nvSpPr>
          <p:cNvPr id="35" name="Text 27"/>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6" name="Text 28"/>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3 · HOW THE BETA WORKS</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Three roles, one system</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3611880" cy="4297680"/>
          </a:xfrm>
          <a:prstGeom prst="roundRect">
            <a:avLst>
              <a:gd name="adj" fmla="val 253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822960" y="1965960"/>
            <a:ext cx="512064" cy="512064"/>
          </a:xfrm>
          <a:prstGeom prst="roundRect">
            <a:avLst>
              <a:gd name="adj" fmla="val 16071"/>
            </a:avLst>
          </a:prstGeom>
          <a:solidFill>
            <a:srgbClr val="EEF2FF"/>
          </a:solidFill>
          <a:ln/>
        </p:spPr>
      </p:sp>
      <p:pic>
        <p:nvPicPr>
          <p:cNvPr id="7" name="Image 0" descr="preencoded.png">    </p:cNvPr>
          <p:cNvPicPr>
            <a:picLocks noChangeAspect="1"/>
          </p:cNvPicPr>
          <p:nvPr/>
        </p:nvPicPr>
        <p:blipFill>
          <a:blip r:embed="rId1"/>
          <a:stretch>
            <a:fillRect/>
          </a:stretch>
        </p:blipFill>
        <p:spPr>
          <a:xfrm>
            <a:off x="935614" y="2078614"/>
            <a:ext cx="286756" cy="286756"/>
          </a:xfrm>
          <a:prstGeom prst="rect">
            <a:avLst/>
          </a:prstGeom>
        </p:spPr>
      </p:pic>
      <p:sp>
        <p:nvSpPr>
          <p:cNvPr id="8" name="Text 5"/>
          <p:cNvSpPr/>
          <p:nvPr/>
        </p:nvSpPr>
        <p:spPr>
          <a:xfrm>
            <a:off x="1463040" y="1965960"/>
            <a:ext cx="2514600" cy="365760"/>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Employee</a:t>
            </a:r>
            <a:endParaRPr lang="en-US" sz="1900" dirty="0"/>
          </a:p>
        </p:txBody>
      </p:sp>
      <p:sp>
        <p:nvSpPr>
          <p:cNvPr id="9" name="Text 6"/>
          <p:cNvSpPr/>
          <p:nvPr/>
        </p:nvSpPr>
        <p:spPr>
          <a:xfrm>
            <a:off x="1463040" y="2350008"/>
            <a:ext cx="2514600" cy="32004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Everyone starts here</a:t>
            </a:r>
            <a:endParaRPr lang="en-US" sz="1050" dirty="0"/>
          </a:p>
        </p:txBody>
      </p:sp>
      <p:sp>
        <p:nvSpPr>
          <p:cNvPr id="10" name="Text 7"/>
          <p:cNvSpPr/>
          <p:nvPr/>
        </p:nvSpPr>
        <p:spPr>
          <a:xfrm>
            <a:off x="841248" y="2880360"/>
            <a:ext cx="3044952" cy="2926080"/>
          </a:xfrm>
          <a:prstGeom prst="rect">
            <a:avLst/>
          </a:prstGeom>
          <a:noFill/>
          <a:ln/>
        </p:spPr>
        <p:txBody>
          <a:bodyPr wrap="square" lIns="0" tIns="0" rIns="0" bIns="0" rtlCol="0" anchor="t"/>
          <a:lstStyle/>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Track attendance, see personal analytics</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Apply for leave &amp; WFH, watch balances live</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Notifications, announcements &amp; calendar</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Own profile and secure document file</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Feedback &amp; HR Request buttons</a:t>
            </a:r>
            <a:endParaRPr lang="en-US" sz="1250" dirty="0"/>
          </a:p>
        </p:txBody>
      </p:sp>
      <p:sp>
        <p:nvSpPr>
          <p:cNvPr id="11" name="Shape 8"/>
          <p:cNvSpPr/>
          <p:nvPr/>
        </p:nvSpPr>
        <p:spPr>
          <a:xfrm>
            <a:off x="4352544" y="1691640"/>
            <a:ext cx="3611880" cy="4297680"/>
          </a:xfrm>
          <a:prstGeom prst="roundRect">
            <a:avLst>
              <a:gd name="adj" fmla="val 2532"/>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12" name="Shape 9"/>
          <p:cNvSpPr/>
          <p:nvPr/>
        </p:nvSpPr>
        <p:spPr>
          <a:xfrm>
            <a:off x="4626864" y="1965960"/>
            <a:ext cx="512064" cy="512064"/>
          </a:xfrm>
          <a:prstGeom prst="roundRect">
            <a:avLst>
              <a:gd name="adj" fmla="val 16071"/>
            </a:avLst>
          </a:prstGeom>
          <a:solidFill>
            <a:srgbClr val="E0E7FF"/>
          </a:solidFill>
          <a:ln/>
        </p:spPr>
      </p:sp>
      <p:pic>
        <p:nvPicPr>
          <p:cNvPr id="13" name="Image 1" descr="preencoded.png">    </p:cNvPr>
          <p:cNvPicPr>
            <a:picLocks noChangeAspect="1"/>
          </p:cNvPicPr>
          <p:nvPr/>
        </p:nvPicPr>
        <p:blipFill>
          <a:blip r:embed="rId2"/>
          <a:stretch>
            <a:fillRect/>
          </a:stretch>
        </p:blipFill>
        <p:spPr>
          <a:xfrm>
            <a:off x="4739518" y="2078614"/>
            <a:ext cx="286756" cy="286756"/>
          </a:xfrm>
          <a:prstGeom prst="rect">
            <a:avLst/>
          </a:prstGeom>
        </p:spPr>
      </p:pic>
      <p:sp>
        <p:nvSpPr>
          <p:cNvPr id="14" name="Text 10"/>
          <p:cNvSpPr/>
          <p:nvPr/>
        </p:nvSpPr>
        <p:spPr>
          <a:xfrm>
            <a:off x="5266944" y="1965960"/>
            <a:ext cx="2514600" cy="365760"/>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Manager</a:t>
            </a:r>
            <a:endParaRPr lang="en-US" sz="1900" dirty="0"/>
          </a:p>
        </p:txBody>
      </p:sp>
      <p:sp>
        <p:nvSpPr>
          <p:cNvPr id="15" name="Text 11"/>
          <p:cNvSpPr/>
          <p:nvPr/>
        </p:nvSpPr>
        <p:spPr>
          <a:xfrm>
            <a:off x="5266944" y="2350008"/>
            <a:ext cx="2514600" cy="32004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A layer on top — not a separate account</a:t>
            </a:r>
            <a:endParaRPr lang="en-US" sz="1050" dirty="0"/>
          </a:p>
        </p:txBody>
      </p:sp>
      <p:sp>
        <p:nvSpPr>
          <p:cNvPr id="16" name="Text 12"/>
          <p:cNvSpPr/>
          <p:nvPr/>
        </p:nvSpPr>
        <p:spPr>
          <a:xfrm>
            <a:off x="4645152" y="2880360"/>
            <a:ext cx="3044952" cy="2926080"/>
          </a:xfrm>
          <a:prstGeom prst="rect">
            <a:avLst/>
          </a:prstGeom>
          <a:noFill/>
          <a:ln/>
        </p:spPr>
        <p:txBody>
          <a:bodyPr wrap="square" lIns="0" tIns="0" rIns="0" bIns="0" rtlCol="0" anchor="t"/>
          <a:lstStyle/>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Everything an employee can do</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Approve / reject direct reports' requests</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Announce to their team or custom groups</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View direct reports' documents</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Approvals queue right on the dashboard</a:t>
            </a:r>
            <a:endParaRPr lang="en-US" sz="1250" dirty="0"/>
          </a:p>
        </p:txBody>
      </p:sp>
      <p:sp>
        <p:nvSpPr>
          <p:cNvPr id="17" name="Shape 13"/>
          <p:cNvSpPr/>
          <p:nvPr/>
        </p:nvSpPr>
        <p:spPr>
          <a:xfrm>
            <a:off x="8156448" y="1691640"/>
            <a:ext cx="3611880" cy="4297680"/>
          </a:xfrm>
          <a:prstGeom prst="roundRect">
            <a:avLst>
              <a:gd name="adj" fmla="val 253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8" name="Shape 14"/>
          <p:cNvSpPr/>
          <p:nvPr/>
        </p:nvSpPr>
        <p:spPr>
          <a:xfrm>
            <a:off x="8430768" y="1965960"/>
            <a:ext cx="512064" cy="512064"/>
          </a:xfrm>
          <a:prstGeom prst="roundRect">
            <a:avLst>
              <a:gd name="adj" fmla="val 16071"/>
            </a:avLst>
          </a:prstGeom>
          <a:solidFill>
            <a:srgbClr val="EEF2FF"/>
          </a:solidFill>
          <a:ln/>
        </p:spPr>
      </p:sp>
      <p:pic>
        <p:nvPicPr>
          <p:cNvPr id="19" name="Image 2" descr="preencoded.png">    </p:cNvPr>
          <p:cNvPicPr>
            <a:picLocks noChangeAspect="1"/>
          </p:cNvPicPr>
          <p:nvPr/>
        </p:nvPicPr>
        <p:blipFill>
          <a:blip r:embed="rId3"/>
          <a:stretch>
            <a:fillRect/>
          </a:stretch>
        </p:blipFill>
        <p:spPr>
          <a:xfrm>
            <a:off x="8543422" y="2078614"/>
            <a:ext cx="286756" cy="286756"/>
          </a:xfrm>
          <a:prstGeom prst="rect">
            <a:avLst/>
          </a:prstGeom>
        </p:spPr>
      </p:pic>
      <p:sp>
        <p:nvSpPr>
          <p:cNvPr id="20" name="Text 15"/>
          <p:cNvSpPr/>
          <p:nvPr/>
        </p:nvSpPr>
        <p:spPr>
          <a:xfrm>
            <a:off x="9070848" y="1965960"/>
            <a:ext cx="2514600" cy="365760"/>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Administrator</a:t>
            </a:r>
            <a:endParaRPr lang="en-US" sz="1900" dirty="0"/>
          </a:p>
        </p:txBody>
      </p:sp>
      <p:sp>
        <p:nvSpPr>
          <p:cNvPr id="21" name="Text 16"/>
          <p:cNvSpPr/>
          <p:nvPr/>
        </p:nvSpPr>
        <p:spPr>
          <a:xfrm>
            <a:off x="9070848" y="2350008"/>
            <a:ext cx="2514600" cy="32004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Company-wide oversight</a:t>
            </a:r>
            <a:endParaRPr lang="en-US" sz="1050" dirty="0"/>
          </a:p>
        </p:txBody>
      </p:sp>
      <p:sp>
        <p:nvSpPr>
          <p:cNvPr id="22" name="Text 17"/>
          <p:cNvSpPr/>
          <p:nvPr/>
        </p:nvSpPr>
        <p:spPr>
          <a:xfrm>
            <a:off x="8449056" y="2880360"/>
            <a:ext cx="3044952" cy="2926080"/>
          </a:xfrm>
          <a:prstGeom prst="rect">
            <a:avLst/>
          </a:prstGeom>
          <a:noFill/>
          <a:ln/>
        </p:spPr>
        <p:txBody>
          <a:bodyPr wrap="square" lIns="0" tIns="0" rIns="0" bIns="0" rtlCol="0" anchor="t"/>
          <a:lstStyle/>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Everything a manager can do</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Add employees, change roles &amp; reporting lines</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Define leave types &amp; employment policies</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Company-wide attendance, leave &amp; org chart</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Configure forms, settings &amp; all documents</a:t>
            </a:r>
            <a:endParaRPr lang="en-US" sz="1250" dirty="0"/>
          </a:p>
        </p:txBody>
      </p:sp>
      <p:sp>
        <p:nvSpPr>
          <p:cNvPr id="23" name="Text 18"/>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4" name="Text 1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3 · HOW THE BETA WORKS</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Attendance: your whole day, one button</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828800"/>
            <a:ext cx="493776" cy="493776"/>
          </a:xfrm>
          <a:prstGeom prst="roundRect">
            <a:avLst>
              <a:gd name="adj" fmla="val 16667"/>
            </a:avLst>
          </a:prstGeom>
          <a:solidFill>
            <a:srgbClr val="EEF2FF"/>
          </a:solidFill>
          <a:ln/>
        </p:spPr>
      </p:sp>
      <p:pic>
        <p:nvPicPr>
          <p:cNvPr id="6" name="Image 0" descr="preencoded.png">    </p:cNvPr>
          <p:cNvPicPr>
            <a:picLocks noChangeAspect="1"/>
          </p:cNvPicPr>
          <p:nvPr/>
        </p:nvPicPr>
        <p:blipFill>
          <a:blip r:embed="rId1"/>
          <a:stretch>
            <a:fillRect/>
          </a:stretch>
        </p:blipFill>
        <p:spPr>
          <a:xfrm>
            <a:off x="657271" y="1937431"/>
            <a:ext cx="276515" cy="276515"/>
          </a:xfrm>
          <a:prstGeom prst="rect">
            <a:avLst/>
          </a:prstGeom>
        </p:spPr>
      </p:pic>
      <p:sp>
        <p:nvSpPr>
          <p:cNvPr id="7" name="Text 4"/>
          <p:cNvSpPr/>
          <p:nvPr/>
        </p:nvSpPr>
        <p:spPr>
          <a:xfrm>
            <a:off x="1188720" y="1810512"/>
            <a:ext cx="4389120" cy="365760"/>
          </a:xfrm>
          <a:prstGeom prst="rect">
            <a:avLst/>
          </a:prstGeom>
          <a:noFill/>
          <a:ln/>
        </p:spPr>
        <p:txBody>
          <a:bodyPr wrap="square" lIns="0" tIns="0" rIns="0" bIns="0" rtlCol="0" anchor="ctr"/>
          <a:lstStyle/>
          <a:p>
            <a:pPr indent="0" marL="0">
              <a:buNone/>
            </a:pPr>
            <a:r>
              <a:rPr lang="en-US" sz="1700" b="1" dirty="0">
                <a:solidFill>
                  <a:srgbClr val="0F172A"/>
                </a:solidFill>
                <a:latin typeface="Cambria" pitchFamily="34" charset="0"/>
                <a:ea typeface="Cambria" pitchFamily="34" charset="-122"/>
                <a:cs typeface="Cambria" pitchFamily="34" charset="-120"/>
              </a:rPr>
              <a:t>1.  Check in</a:t>
            </a:r>
            <a:endParaRPr lang="en-US" sz="1700" dirty="0"/>
          </a:p>
        </p:txBody>
      </p:sp>
      <p:sp>
        <p:nvSpPr>
          <p:cNvPr id="8" name="Text 5"/>
          <p:cNvSpPr/>
          <p:nvPr/>
        </p:nvSpPr>
        <p:spPr>
          <a:xfrm>
            <a:off x="1188720" y="2194560"/>
            <a:ext cx="4572000" cy="68580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Press when you start work — the timer begins.</a:t>
            </a:r>
            <a:endParaRPr lang="en-US" sz="1250" dirty="0"/>
          </a:p>
        </p:txBody>
      </p:sp>
      <p:sp>
        <p:nvSpPr>
          <p:cNvPr id="9" name="Shape 6"/>
          <p:cNvSpPr/>
          <p:nvPr/>
        </p:nvSpPr>
        <p:spPr>
          <a:xfrm>
            <a:off x="786384" y="2395728"/>
            <a:ext cx="0" cy="777240"/>
          </a:xfrm>
          <a:prstGeom prst="line">
            <a:avLst/>
          </a:prstGeom>
          <a:noFill/>
          <a:ln w="19050">
            <a:solidFill>
              <a:srgbClr val="C7D2FE"/>
            </a:solidFill>
            <a:prstDash val="dash"/>
          </a:ln>
        </p:spPr>
      </p:sp>
      <p:sp>
        <p:nvSpPr>
          <p:cNvPr id="10" name="Shape 7"/>
          <p:cNvSpPr/>
          <p:nvPr/>
        </p:nvSpPr>
        <p:spPr>
          <a:xfrm>
            <a:off x="548640" y="3182112"/>
            <a:ext cx="493776" cy="493776"/>
          </a:xfrm>
          <a:prstGeom prst="roundRect">
            <a:avLst>
              <a:gd name="adj" fmla="val 16667"/>
            </a:avLst>
          </a:prstGeom>
          <a:solidFill>
            <a:srgbClr val="FFFBEB"/>
          </a:solidFill>
          <a:ln/>
        </p:spPr>
      </p:sp>
      <p:pic>
        <p:nvPicPr>
          <p:cNvPr id="11" name="Image 1" descr="preencoded.png">    </p:cNvPr>
          <p:cNvPicPr>
            <a:picLocks noChangeAspect="1"/>
          </p:cNvPicPr>
          <p:nvPr/>
        </p:nvPicPr>
        <p:blipFill>
          <a:blip r:embed="rId2"/>
          <a:stretch>
            <a:fillRect/>
          </a:stretch>
        </p:blipFill>
        <p:spPr>
          <a:xfrm>
            <a:off x="657271" y="3290743"/>
            <a:ext cx="276515" cy="276515"/>
          </a:xfrm>
          <a:prstGeom prst="rect">
            <a:avLst/>
          </a:prstGeom>
        </p:spPr>
      </p:pic>
      <p:sp>
        <p:nvSpPr>
          <p:cNvPr id="12" name="Text 8"/>
          <p:cNvSpPr/>
          <p:nvPr/>
        </p:nvSpPr>
        <p:spPr>
          <a:xfrm>
            <a:off x="1188720" y="3163824"/>
            <a:ext cx="4389120" cy="365760"/>
          </a:xfrm>
          <a:prstGeom prst="rect">
            <a:avLst/>
          </a:prstGeom>
          <a:noFill/>
          <a:ln/>
        </p:spPr>
        <p:txBody>
          <a:bodyPr wrap="square" lIns="0" tIns="0" rIns="0" bIns="0" rtlCol="0" anchor="ctr"/>
          <a:lstStyle/>
          <a:p>
            <a:pPr indent="0" marL="0">
              <a:buNone/>
            </a:pPr>
            <a:r>
              <a:rPr lang="en-US" sz="1700" b="1" dirty="0">
                <a:solidFill>
                  <a:srgbClr val="0F172A"/>
                </a:solidFill>
                <a:latin typeface="Cambria" pitchFamily="34" charset="0"/>
                <a:ea typeface="Cambria" pitchFamily="34" charset="-122"/>
                <a:cs typeface="Cambria" pitchFamily="34" charset="-120"/>
              </a:rPr>
              <a:t>2.  Pause / Resume</a:t>
            </a:r>
            <a:endParaRPr lang="en-US" sz="1700" dirty="0"/>
          </a:p>
        </p:txBody>
      </p:sp>
      <p:sp>
        <p:nvSpPr>
          <p:cNvPr id="13" name="Text 9"/>
          <p:cNvSpPr/>
          <p:nvPr/>
        </p:nvSpPr>
        <p:spPr>
          <a:xfrm>
            <a:off x="1188720" y="3547872"/>
            <a:ext cx="4572000" cy="68580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Lunch or a break? Pause as often as you like — paused time never counts as work.</a:t>
            </a:r>
            <a:endParaRPr lang="en-US" sz="1250" dirty="0"/>
          </a:p>
        </p:txBody>
      </p:sp>
      <p:sp>
        <p:nvSpPr>
          <p:cNvPr id="14" name="Shape 10"/>
          <p:cNvSpPr/>
          <p:nvPr/>
        </p:nvSpPr>
        <p:spPr>
          <a:xfrm>
            <a:off x="786384" y="3749040"/>
            <a:ext cx="0" cy="777240"/>
          </a:xfrm>
          <a:prstGeom prst="line">
            <a:avLst/>
          </a:prstGeom>
          <a:noFill/>
          <a:ln w="19050">
            <a:solidFill>
              <a:srgbClr val="C7D2FE"/>
            </a:solidFill>
            <a:prstDash val="dash"/>
          </a:ln>
        </p:spPr>
      </p:sp>
      <p:sp>
        <p:nvSpPr>
          <p:cNvPr id="15" name="Shape 11"/>
          <p:cNvSpPr/>
          <p:nvPr/>
        </p:nvSpPr>
        <p:spPr>
          <a:xfrm>
            <a:off x="548640" y="4535424"/>
            <a:ext cx="493776" cy="493776"/>
          </a:xfrm>
          <a:prstGeom prst="roundRect">
            <a:avLst>
              <a:gd name="adj" fmla="val 16667"/>
            </a:avLst>
          </a:prstGeom>
          <a:solidFill>
            <a:srgbClr val="EEF2FF"/>
          </a:solidFill>
          <a:ln/>
        </p:spPr>
      </p:sp>
      <p:pic>
        <p:nvPicPr>
          <p:cNvPr id="16" name="Image 2" descr="preencoded.png">    </p:cNvPr>
          <p:cNvPicPr>
            <a:picLocks noChangeAspect="1"/>
          </p:cNvPicPr>
          <p:nvPr/>
        </p:nvPicPr>
        <p:blipFill>
          <a:blip r:embed="rId3"/>
          <a:stretch>
            <a:fillRect/>
          </a:stretch>
        </p:blipFill>
        <p:spPr>
          <a:xfrm>
            <a:off x="657271" y="4644055"/>
            <a:ext cx="276515" cy="276515"/>
          </a:xfrm>
          <a:prstGeom prst="rect">
            <a:avLst/>
          </a:prstGeom>
        </p:spPr>
      </p:pic>
      <p:sp>
        <p:nvSpPr>
          <p:cNvPr id="17" name="Text 12"/>
          <p:cNvSpPr/>
          <p:nvPr/>
        </p:nvSpPr>
        <p:spPr>
          <a:xfrm>
            <a:off x="1188720" y="4517136"/>
            <a:ext cx="4389120" cy="365760"/>
          </a:xfrm>
          <a:prstGeom prst="rect">
            <a:avLst/>
          </a:prstGeom>
          <a:noFill/>
          <a:ln/>
        </p:spPr>
        <p:txBody>
          <a:bodyPr wrap="square" lIns="0" tIns="0" rIns="0" bIns="0" rtlCol="0" anchor="ctr"/>
          <a:lstStyle/>
          <a:p>
            <a:pPr indent="0" marL="0">
              <a:buNone/>
            </a:pPr>
            <a:r>
              <a:rPr lang="en-US" sz="1700" b="1" dirty="0">
                <a:solidFill>
                  <a:srgbClr val="0F172A"/>
                </a:solidFill>
                <a:latin typeface="Cambria" pitchFamily="34" charset="0"/>
                <a:ea typeface="Cambria" pitchFamily="34" charset="-122"/>
                <a:cs typeface="Cambria" pitchFamily="34" charset="-120"/>
              </a:rPr>
              <a:t>3.  Check out</a:t>
            </a:r>
            <a:endParaRPr lang="en-US" sz="1700" dirty="0"/>
          </a:p>
        </p:txBody>
      </p:sp>
      <p:sp>
        <p:nvSpPr>
          <p:cNvPr id="18" name="Text 13"/>
          <p:cNvSpPr/>
          <p:nvPr/>
        </p:nvSpPr>
        <p:spPr>
          <a:xfrm>
            <a:off x="1188720" y="4901184"/>
            <a:ext cx="4572000" cy="68580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Done for the day — Orbit totals your time, breaks excluded, and locks in the result.</a:t>
            </a:r>
            <a:endParaRPr lang="en-US" sz="1250" dirty="0"/>
          </a:p>
        </p:txBody>
      </p:sp>
      <p:sp>
        <p:nvSpPr>
          <p:cNvPr id="19" name="Shape 14"/>
          <p:cNvSpPr/>
          <p:nvPr/>
        </p:nvSpPr>
        <p:spPr>
          <a:xfrm>
            <a:off x="6263640" y="1783080"/>
            <a:ext cx="5349240" cy="1298448"/>
          </a:xfrm>
          <a:prstGeom prst="roundRect">
            <a:avLst>
              <a:gd name="adj" fmla="val 704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0" name="Shape 15"/>
          <p:cNvSpPr/>
          <p:nvPr/>
        </p:nvSpPr>
        <p:spPr>
          <a:xfrm>
            <a:off x="6510528" y="2002536"/>
            <a:ext cx="420624" cy="420624"/>
          </a:xfrm>
          <a:prstGeom prst="roundRect">
            <a:avLst>
              <a:gd name="adj" fmla="val 19565"/>
            </a:avLst>
          </a:prstGeom>
          <a:solidFill>
            <a:srgbClr val="EEF2FF"/>
          </a:solidFill>
          <a:ln/>
        </p:spPr>
      </p:sp>
      <p:pic>
        <p:nvPicPr>
          <p:cNvPr id="21" name="Image 3" descr="preencoded.png">    </p:cNvPr>
          <p:cNvPicPr>
            <a:picLocks noChangeAspect="1"/>
          </p:cNvPicPr>
          <p:nvPr/>
        </p:nvPicPr>
        <p:blipFill>
          <a:blip r:embed="rId4"/>
          <a:stretch>
            <a:fillRect/>
          </a:stretch>
        </p:blipFill>
        <p:spPr>
          <a:xfrm>
            <a:off x="6603065" y="2095073"/>
            <a:ext cx="235549" cy="235549"/>
          </a:xfrm>
          <a:prstGeom prst="rect">
            <a:avLst/>
          </a:prstGeom>
        </p:spPr>
      </p:pic>
      <p:sp>
        <p:nvSpPr>
          <p:cNvPr id="22" name="Text 16"/>
          <p:cNvSpPr/>
          <p:nvPr/>
        </p:nvSpPr>
        <p:spPr>
          <a:xfrm>
            <a:off x="7059168" y="1965960"/>
            <a:ext cx="4389120" cy="32918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Tracked on the server, not your browser</a:t>
            </a:r>
            <a:endParaRPr lang="en-US" sz="1350" dirty="0"/>
          </a:p>
        </p:txBody>
      </p:sp>
      <p:sp>
        <p:nvSpPr>
          <p:cNvPr id="23" name="Text 17"/>
          <p:cNvSpPr/>
          <p:nvPr/>
        </p:nvSpPr>
        <p:spPr>
          <a:xfrm>
            <a:off x="7059168" y="2304288"/>
            <a:ext cx="4343400" cy="68580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Refresh the page, close your laptop, sign in elsewhere — your elapsed time is always accurate.</a:t>
            </a:r>
            <a:endParaRPr lang="en-US" sz="1150" dirty="0"/>
          </a:p>
        </p:txBody>
      </p:sp>
      <p:sp>
        <p:nvSpPr>
          <p:cNvPr id="24" name="Shape 18"/>
          <p:cNvSpPr/>
          <p:nvPr/>
        </p:nvSpPr>
        <p:spPr>
          <a:xfrm>
            <a:off x="6263640" y="3264408"/>
            <a:ext cx="5349240" cy="1298448"/>
          </a:xfrm>
          <a:prstGeom prst="roundRect">
            <a:avLst>
              <a:gd name="adj" fmla="val 704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5" name="Shape 19"/>
          <p:cNvSpPr/>
          <p:nvPr/>
        </p:nvSpPr>
        <p:spPr>
          <a:xfrm>
            <a:off x="6510528" y="3483864"/>
            <a:ext cx="420624" cy="420624"/>
          </a:xfrm>
          <a:prstGeom prst="roundRect">
            <a:avLst>
              <a:gd name="adj" fmla="val 19565"/>
            </a:avLst>
          </a:prstGeom>
          <a:solidFill>
            <a:srgbClr val="EEF2FF"/>
          </a:solidFill>
          <a:ln/>
        </p:spPr>
      </p:sp>
      <p:pic>
        <p:nvPicPr>
          <p:cNvPr id="26" name="Image 4" descr="preencoded.png">    </p:cNvPr>
          <p:cNvPicPr>
            <a:picLocks noChangeAspect="1"/>
          </p:cNvPicPr>
          <p:nvPr/>
        </p:nvPicPr>
        <p:blipFill>
          <a:blip r:embed="rId5"/>
          <a:stretch>
            <a:fillRect/>
          </a:stretch>
        </p:blipFill>
        <p:spPr>
          <a:xfrm>
            <a:off x="6603065" y="3576401"/>
            <a:ext cx="235549" cy="235549"/>
          </a:xfrm>
          <a:prstGeom prst="rect">
            <a:avLst/>
          </a:prstGeom>
        </p:spPr>
      </p:pic>
      <p:sp>
        <p:nvSpPr>
          <p:cNvPr id="27" name="Text 20"/>
          <p:cNvSpPr/>
          <p:nvPr/>
        </p:nvSpPr>
        <p:spPr>
          <a:xfrm>
            <a:off x="7059168" y="3447288"/>
            <a:ext cx="4389120" cy="32918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The 8-hour rule</a:t>
            </a:r>
            <a:endParaRPr lang="en-US" sz="1350" dirty="0"/>
          </a:p>
        </p:txBody>
      </p:sp>
      <p:sp>
        <p:nvSpPr>
          <p:cNvPr id="28" name="Text 21"/>
          <p:cNvSpPr/>
          <p:nvPr/>
        </p:nvSpPr>
        <p:spPr>
          <a:xfrm>
            <a:off x="7059168" y="3785616"/>
            <a:ext cx="4343400" cy="68580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8+ hours → the day is marked Present.  Under 8 hours → automatically marked as Leave, visible on your calendar.</a:t>
            </a:r>
            <a:endParaRPr lang="en-US" sz="1150" dirty="0"/>
          </a:p>
        </p:txBody>
      </p:sp>
      <p:sp>
        <p:nvSpPr>
          <p:cNvPr id="29" name="Shape 22"/>
          <p:cNvSpPr/>
          <p:nvPr/>
        </p:nvSpPr>
        <p:spPr>
          <a:xfrm>
            <a:off x="6263640" y="4745736"/>
            <a:ext cx="5349240" cy="1298448"/>
          </a:xfrm>
          <a:prstGeom prst="roundRect">
            <a:avLst>
              <a:gd name="adj" fmla="val 704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30" name="Shape 23"/>
          <p:cNvSpPr/>
          <p:nvPr/>
        </p:nvSpPr>
        <p:spPr>
          <a:xfrm>
            <a:off x="6510528" y="4965192"/>
            <a:ext cx="420624" cy="420624"/>
          </a:xfrm>
          <a:prstGeom prst="roundRect">
            <a:avLst>
              <a:gd name="adj" fmla="val 19565"/>
            </a:avLst>
          </a:prstGeom>
          <a:solidFill>
            <a:srgbClr val="EEF2FF"/>
          </a:solidFill>
          <a:ln/>
        </p:spPr>
      </p:sp>
      <p:pic>
        <p:nvPicPr>
          <p:cNvPr id="31" name="Image 5" descr="preencoded.png">    </p:cNvPr>
          <p:cNvPicPr>
            <a:picLocks noChangeAspect="1"/>
          </p:cNvPicPr>
          <p:nvPr/>
        </p:nvPicPr>
        <p:blipFill>
          <a:blip r:embed="rId6"/>
          <a:stretch>
            <a:fillRect/>
          </a:stretch>
        </p:blipFill>
        <p:spPr>
          <a:xfrm>
            <a:off x="6603065" y="5057729"/>
            <a:ext cx="235549" cy="235549"/>
          </a:xfrm>
          <a:prstGeom prst="rect">
            <a:avLst/>
          </a:prstGeom>
        </p:spPr>
      </p:pic>
      <p:sp>
        <p:nvSpPr>
          <p:cNvPr id="32" name="Text 24"/>
          <p:cNvSpPr/>
          <p:nvPr/>
        </p:nvSpPr>
        <p:spPr>
          <a:xfrm>
            <a:off x="7059168" y="4928616"/>
            <a:ext cx="4389120" cy="32918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Forgot to check out?</a:t>
            </a:r>
            <a:endParaRPr lang="en-US" sz="1350" dirty="0"/>
          </a:p>
        </p:txBody>
      </p:sp>
      <p:sp>
        <p:nvSpPr>
          <p:cNvPr id="33" name="Text 25"/>
          <p:cNvSpPr/>
          <p:nvPr/>
        </p:nvSpPr>
        <p:spPr>
          <a:xfrm>
            <a:off x="7059168" y="5266944"/>
            <a:ext cx="4343400" cy="68580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Orbit closes your day at midnight with the time already accumulated. No timer runs forever.</a:t>
            </a:r>
            <a:endParaRPr lang="en-US" sz="1150" dirty="0"/>
          </a:p>
        </p:txBody>
      </p:sp>
      <p:sp>
        <p:nvSpPr>
          <p:cNvPr id="34" name="Text 26"/>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5" name="Text 2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3 · HOW THE BETA WORKS</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See your patterns, not just your hours</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783080"/>
            <a:ext cx="5120640" cy="1920240"/>
          </a:xfrm>
          <a:prstGeom prst="roundRect">
            <a:avLst>
              <a:gd name="adj" fmla="val 476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6" name="Text 4"/>
          <p:cNvSpPr/>
          <p:nvPr/>
        </p:nvSpPr>
        <p:spPr>
          <a:xfrm>
            <a:off x="822960" y="1920240"/>
            <a:ext cx="1828800" cy="1005840"/>
          </a:xfrm>
          <a:prstGeom prst="rect">
            <a:avLst/>
          </a:prstGeom>
          <a:noFill/>
          <a:ln/>
        </p:spPr>
        <p:txBody>
          <a:bodyPr wrap="square" lIns="0" tIns="0" rIns="0" bIns="0" rtlCol="0" anchor="ctr"/>
          <a:lstStyle/>
          <a:p>
            <a:pPr indent="0" marL="0">
              <a:buNone/>
            </a:pPr>
            <a:r>
              <a:rPr lang="en-US" sz="6000" b="1" dirty="0">
                <a:solidFill>
                  <a:srgbClr val="4F46E5"/>
                </a:solidFill>
                <a:latin typeface="Cambria" pitchFamily="34" charset="0"/>
                <a:ea typeface="Cambria" pitchFamily="34" charset="-122"/>
                <a:cs typeface="Cambria" pitchFamily="34" charset="-120"/>
              </a:rPr>
              <a:t>90</a:t>
            </a:r>
            <a:endParaRPr lang="en-US" sz="6000" dirty="0"/>
          </a:p>
        </p:txBody>
      </p:sp>
      <p:sp>
        <p:nvSpPr>
          <p:cNvPr id="7" name="Text 5"/>
          <p:cNvSpPr/>
          <p:nvPr/>
        </p:nvSpPr>
        <p:spPr>
          <a:xfrm>
            <a:off x="868680" y="2926080"/>
            <a:ext cx="2194560" cy="36576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days of rolling insight</a:t>
            </a:r>
            <a:endParaRPr lang="en-US" sz="1200" dirty="0"/>
          </a:p>
        </p:txBody>
      </p:sp>
      <p:sp>
        <p:nvSpPr>
          <p:cNvPr id="8" name="Text 6"/>
          <p:cNvSpPr/>
          <p:nvPr/>
        </p:nvSpPr>
        <p:spPr>
          <a:xfrm>
            <a:off x="2880360" y="2057400"/>
            <a:ext cx="2743200" cy="1463040"/>
          </a:xfrm>
          <a:prstGeom prst="rect">
            <a:avLst/>
          </a:prstGeom>
          <a:noFill/>
          <a:ln/>
        </p:spPr>
        <p:txBody>
          <a:bodyPr wrap="square" lIns="0" tIns="0" rIns="0" bIns="0" rtlCol="0" anchor="t"/>
          <a:lstStyle/>
          <a:p>
            <a:pPr marL="127000" indent="-1270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Days present &amp; short days</a:t>
            </a:r>
            <a:endParaRPr lang="en-US" sz="1200" dirty="0"/>
          </a:p>
          <a:p>
            <a:pPr marL="127000" indent="-1270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Total and average hours</a:t>
            </a:r>
            <a:endParaRPr lang="en-US" sz="1200" dirty="0"/>
          </a:p>
          <a:p>
            <a:pPr marL="127000" indent="-1270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Best day, current &amp; longest streaks</a:t>
            </a:r>
            <a:endParaRPr lang="en-US" sz="1200" dirty="0"/>
          </a:p>
        </p:txBody>
      </p:sp>
      <p:sp>
        <p:nvSpPr>
          <p:cNvPr id="9" name="Shape 7"/>
          <p:cNvSpPr/>
          <p:nvPr/>
        </p:nvSpPr>
        <p:spPr>
          <a:xfrm>
            <a:off x="548640" y="3931920"/>
            <a:ext cx="5120640" cy="2057400"/>
          </a:xfrm>
          <a:prstGeom prst="roundRect">
            <a:avLst>
              <a:gd name="adj" fmla="val 4444"/>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0" name="Shape 8"/>
          <p:cNvSpPr/>
          <p:nvPr/>
        </p:nvSpPr>
        <p:spPr>
          <a:xfrm>
            <a:off x="822960" y="4160520"/>
            <a:ext cx="457200" cy="457200"/>
          </a:xfrm>
          <a:prstGeom prst="roundRect">
            <a:avLst>
              <a:gd name="adj" fmla="val 18000"/>
            </a:avLst>
          </a:prstGeom>
          <a:solidFill>
            <a:srgbClr val="EEF2FF"/>
          </a:solidFill>
          <a:ln/>
        </p:spPr>
      </p:sp>
      <p:pic>
        <p:nvPicPr>
          <p:cNvPr id="11" name="Image 0" descr="preencoded.png">    </p:cNvPr>
          <p:cNvPicPr>
            <a:picLocks noChangeAspect="1"/>
          </p:cNvPicPr>
          <p:nvPr/>
        </p:nvPicPr>
        <p:blipFill>
          <a:blip r:embed="rId1"/>
          <a:stretch>
            <a:fillRect/>
          </a:stretch>
        </p:blipFill>
        <p:spPr>
          <a:xfrm>
            <a:off x="923544" y="4261104"/>
            <a:ext cx="256032" cy="256032"/>
          </a:xfrm>
          <a:prstGeom prst="rect">
            <a:avLst/>
          </a:prstGeom>
        </p:spPr>
      </p:pic>
      <p:sp>
        <p:nvSpPr>
          <p:cNvPr id="12" name="Text 9"/>
          <p:cNvSpPr/>
          <p:nvPr/>
        </p:nvSpPr>
        <p:spPr>
          <a:xfrm>
            <a:off x="1417320" y="4178808"/>
            <a:ext cx="4023360" cy="41148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Week-by-week trend &amp; daily heatmap</a:t>
            </a:r>
            <a:endParaRPr lang="en-US" sz="1400" dirty="0"/>
          </a:p>
        </p:txBody>
      </p:sp>
      <p:sp>
        <p:nvSpPr>
          <p:cNvPr id="13" name="Text 10"/>
          <p:cNvSpPr/>
          <p:nvPr/>
        </p:nvSpPr>
        <p:spPr>
          <a:xfrm>
            <a:off x="841248" y="4709160"/>
            <a:ext cx="4572000" cy="100584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Spot patterns at a glance — busy weeks, quiet Fridays, your longest present streak — without digging through raw dates.</a:t>
            </a:r>
            <a:endParaRPr lang="en-US" sz="1200" dirty="0"/>
          </a:p>
        </p:txBody>
      </p:sp>
      <p:sp>
        <p:nvSpPr>
          <p:cNvPr id="14" name="Shape 11"/>
          <p:cNvSpPr/>
          <p:nvPr/>
        </p:nvSpPr>
        <p:spPr>
          <a:xfrm>
            <a:off x="6126480" y="1783080"/>
            <a:ext cx="5486400" cy="4206240"/>
          </a:xfrm>
          <a:prstGeom prst="roundRect">
            <a:avLst>
              <a:gd name="adj" fmla="val 2174"/>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graphicFrame>
        <p:nvGraphicFramePr>
          <p:cNvPr id="15" name="Chart 0" descr=""/>
          <p:cNvGraphicFramePr/>
          <p:nvPr/>
        </p:nvGraphicFramePr>
        <p:xfrm>
          <a:off x="6355080" y="2011680"/>
          <a:ext cx="5029200" cy="3383280"/>
        </p:xfrm>
        <a:graphic xmlns:a="http://schemas.openxmlformats.org/drawingml/2006/main">
          <a:graphicData uri="http://schemas.openxmlformats.org/drawingml/2006/chart">
            <c:chart xmlns:c="http://schemas.openxmlformats.org/drawingml/2006/chart" r:id="rId2"/>
          </a:graphicData>
        </a:graphic>
      </p:graphicFrame>
      <p:sp>
        <p:nvSpPr>
          <p:cNvPr id="16" name="Text 12"/>
          <p:cNvSpPr/>
          <p:nvPr/>
        </p:nvSpPr>
        <p:spPr>
          <a:xfrm>
            <a:off x="6355080" y="5486400"/>
            <a:ext cx="5029200" cy="32004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Illustrative data — every employee sees their own live analytics.</a:t>
            </a:r>
            <a:endParaRPr lang="en-US" sz="1000" dirty="0"/>
          </a:p>
        </p:txBody>
      </p:sp>
      <p:sp>
        <p:nvSpPr>
          <p:cNvPr id="17" name="Text 13"/>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18" name="Text 14"/>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3 · HOW THE BETA WORKS</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Time off, with real flexibility</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783080"/>
            <a:ext cx="438912" cy="438912"/>
          </a:xfrm>
          <a:prstGeom prst="roundRect">
            <a:avLst>
              <a:gd name="adj" fmla="val 18750"/>
            </a:avLst>
          </a:prstGeom>
          <a:solidFill>
            <a:srgbClr val="EEF2FF"/>
          </a:solidFill>
          <a:ln/>
        </p:spPr>
      </p:sp>
      <p:pic>
        <p:nvPicPr>
          <p:cNvPr id="6" name="Image 0" descr="preencoded.png">    </p:cNvPr>
          <p:cNvPicPr>
            <a:picLocks noChangeAspect="1"/>
          </p:cNvPicPr>
          <p:nvPr/>
        </p:nvPicPr>
        <p:blipFill>
          <a:blip r:embed="rId1"/>
          <a:stretch>
            <a:fillRect/>
          </a:stretch>
        </p:blipFill>
        <p:spPr>
          <a:xfrm>
            <a:off x="645201" y="1879641"/>
            <a:ext cx="245791" cy="245791"/>
          </a:xfrm>
          <a:prstGeom prst="rect">
            <a:avLst/>
          </a:prstGeom>
        </p:spPr>
      </p:pic>
      <p:sp>
        <p:nvSpPr>
          <p:cNvPr id="7" name="Text 4"/>
          <p:cNvSpPr/>
          <p:nvPr/>
        </p:nvSpPr>
        <p:spPr>
          <a:xfrm>
            <a:off x="1143000" y="1755648"/>
            <a:ext cx="4297680" cy="32004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Date range</a:t>
            </a:r>
            <a:endParaRPr lang="en-US" sz="1450" dirty="0"/>
          </a:p>
        </p:txBody>
      </p:sp>
      <p:sp>
        <p:nvSpPr>
          <p:cNvPr id="8" name="Text 5"/>
          <p:cNvSpPr/>
          <p:nvPr/>
        </p:nvSpPr>
        <p:spPr>
          <a:xfrm>
            <a:off x="1143000" y="2075688"/>
            <a:ext cx="4663440" cy="54864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A start and end date for consecutive days.</a:t>
            </a:r>
            <a:endParaRPr lang="en-US" sz="1150" dirty="0"/>
          </a:p>
        </p:txBody>
      </p:sp>
      <p:sp>
        <p:nvSpPr>
          <p:cNvPr id="9" name="Shape 6"/>
          <p:cNvSpPr/>
          <p:nvPr/>
        </p:nvSpPr>
        <p:spPr>
          <a:xfrm>
            <a:off x="548640" y="2825496"/>
            <a:ext cx="438912" cy="438912"/>
          </a:xfrm>
          <a:prstGeom prst="roundRect">
            <a:avLst>
              <a:gd name="adj" fmla="val 18750"/>
            </a:avLst>
          </a:prstGeom>
          <a:solidFill>
            <a:srgbClr val="EEF2FF"/>
          </a:solidFill>
          <a:ln/>
        </p:spPr>
      </p:sp>
      <p:pic>
        <p:nvPicPr>
          <p:cNvPr id="10" name="Image 1" descr="preencoded.png">    </p:cNvPr>
          <p:cNvPicPr>
            <a:picLocks noChangeAspect="1"/>
          </p:cNvPicPr>
          <p:nvPr/>
        </p:nvPicPr>
        <p:blipFill>
          <a:blip r:embed="rId2"/>
          <a:stretch>
            <a:fillRect/>
          </a:stretch>
        </p:blipFill>
        <p:spPr>
          <a:xfrm>
            <a:off x="645201" y="2922057"/>
            <a:ext cx="245791" cy="245791"/>
          </a:xfrm>
          <a:prstGeom prst="rect">
            <a:avLst/>
          </a:prstGeom>
        </p:spPr>
      </p:pic>
      <p:sp>
        <p:nvSpPr>
          <p:cNvPr id="11" name="Text 7"/>
          <p:cNvSpPr/>
          <p:nvPr/>
        </p:nvSpPr>
        <p:spPr>
          <a:xfrm>
            <a:off x="1143000" y="2798064"/>
            <a:ext cx="4297680" cy="32004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Custom dates</a:t>
            </a:r>
            <a:endParaRPr lang="en-US" sz="1450" dirty="0"/>
          </a:p>
        </p:txBody>
      </p:sp>
      <p:sp>
        <p:nvSpPr>
          <p:cNvPr id="12" name="Text 8"/>
          <p:cNvSpPr/>
          <p:nvPr/>
        </p:nvSpPr>
        <p:spPr>
          <a:xfrm>
            <a:off x="1143000" y="3118104"/>
            <a:ext cx="4663440" cy="54864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Hand-pick up to 31 scattered days — Orbit files one request per consecutive block.</a:t>
            </a:r>
            <a:endParaRPr lang="en-US" sz="1150" dirty="0"/>
          </a:p>
        </p:txBody>
      </p:sp>
      <p:sp>
        <p:nvSpPr>
          <p:cNvPr id="13" name="Shape 9"/>
          <p:cNvSpPr/>
          <p:nvPr/>
        </p:nvSpPr>
        <p:spPr>
          <a:xfrm>
            <a:off x="548640" y="3867912"/>
            <a:ext cx="438912" cy="438912"/>
          </a:xfrm>
          <a:prstGeom prst="roundRect">
            <a:avLst>
              <a:gd name="adj" fmla="val 18750"/>
            </a:avLst>
          </a:prstGeom>
          <a:solidFill>
            <a:srgbClr val="EEF2FF"/>
          </a:solidFill>
          <a:ln/>
        </p:spPr>
      </p:sp>
      <p:pic>
        <p:nvPicPr>
          <p:cNvPr id="14" name="Image 2" descr="preencoded.png">    </p:cNvPr>
          <p:cNvPicPr>
            <a:picLocks noChangeAspect="1"/>
          </p:cNvPicPr>
          <p:nvPr/>
        </p:nvPicPr>
        <p:blipFill>
          <a:blip r:embed="rId3"/>
          <a:stretch>
            <a:fillRect/>
          </a:stretch>
        </p:blipFill>
        <p:spPr>
          <a:xfrm>
            <a:off x="645201" y="3964473"/>
            <a:ext cx="245791" cy="245791"/>
          </a:xfrm>
          <a:prstGeom prst="rect">
            <a:avLst/>
          </a:prstGeom>
        </p:spPr>
      </p:pic>
      <p:sp>
        <p:nvSpPr>
          <p:cNvPr id="15" name="Text 10"/>
          <p:cNvSpPr/>
          <p:nvPr/>
        </p:nvSpPr>
        <p:spPr>
          <a:xfrm>
            <a:off x="1143000" y="3840480"/>
            <a:ext cx="4297680" cy="32004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Half days</a:t>
            </a:r>
            <a:endParaRPr lang="en-US" sz="1450" dirty="0"/>
          </a:p>
        </p:txBody>
      </p:sp>
      <p:sp>
        <p:nvSpPr>
          <p:cNvPr id="16" name="Text 11"/>
          <p:cNvSpPr/>
          <p:nvPr/>
        </p:nvSpPr>
        <p:spPr>
          <a:xfrm>
            <a:off x="1143000" y="4160520"/>
            <a:ext cx="4663440" cy="54864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First or second half of a day — costs only 0.5 days of balance.</a:t>
            </a:r>
            <a:endParaRPr lang="en-US" sz="1150" dirty="0"/>
          </a:p>
        </p:txBody>
      </p:sp>
      <p:sp>
        <p:nvSpPr>
          <p:cNvPr id="17" name="Shape 12"/>
          <p:cNvSpPr/>
          <p:nvPr/>
        </p:nvSpPr>
        <p:spPr>
          <a:xfrm>
            <a:off x="548640" y="4910328"/>
            <a:ext cx="438912" cy="438912"/>
          </a:xfrm>
          <a:prstGeom prst="roundRect">
            <a:avLst>
              <a:gd name="adj" fmla="val 18750"/>
            </a:avLst>
          </a:prstGeom>
          <a:solidFill>
            <a:srgbClr val="EEF2FF"/>
          </a:solidFill>
          <a:ln/>
        </p:spPr>
      </p:sp>
      <p:pic>
        <p:nvPicPr>
          <p:cNvPr id="18" name="Image 3" descr="preencoded.png">    </p:cNvPr>
          <p:cNvPicPr>
            <a:picLocks noChangeAspect="1"/>
          </p:cNvPicPr>
          <p:nvPr/>
        </p:nvPicPr>
        <p:blipFill>
          <a:blip r:embed="rId4"/>
          <a:stretch>
            <a:fillRect/>
          </a:stretch>
        </p:blipFill>
        <p:spPr>
          <a:xfrm>
            <a:off x="645201" y="5006889"/>
            <a:ext cx="245791" cy="245791"/>
          </a:xfrm>
          <a:prstGeom prst="rect">
            <a:avLst/>
          </a:prstGeom>
        </p:spPr>
      </p:pic>
      <p:sp>
        <p:nvSpPr>
          <p:cNvPr id="19" name="Text 13"/>
          <p:cNvSpPr/>
          <p:nvPr/>
        </p:nvSpPr>
        <p:spPr>
          <a:xfrm>
            <a:off x="1143000" y="4882896"/>
            <a:ext cx="4297680" cy="32004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Working hours</a:t>
            </a:r>
            <a:endParaRPr lang="en-US" sz="1450" dirty="0"/>
          </a:p>
        </p:txBody>
      </p:sp>
      <p:sp>
        <p:nvSpPr>
          <p:cNvPr id="20" name="Text 14"/>
          <p:cNvSpPr/>
          <p:nvPr/>
        </p:nvSpPr>
        <p:spPr>
          <a:xfrm>
            <a:off x="1143000" y="5202936"/>
            <a:ext cx="4663440" cy="54864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Every request carries its working-hours window, with sensible defaults pre-filled.</a:t>
            </a:r>
            <a:endParaRPr lang="en-US" sz="1150" dirty="0"/>
          </a:p>
        </p:txBody>
      </p:sp>
      <p:sp>
        <p:nvSpPr>
          <p:cNvPr id="21" name="Shape 15"/>
          <p:cNvSpPr/>
          <p:nvPr/>
        </p:nvSpPr>
        <p:spPr>
          <a:xfrm>
            <a:off x="6263640" y="1783080"/>
            <a:ext cx="5349240" cy="1298448"/>
          </a:xfrm>
          <a:prstGeom prst="roundRect">
            <a:avLst>
              <a:gd name="adj" fmla="val 7042"/>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22" name="Text 16"/>
          <p:cNvSpPr/>
          <p:nvPr/>
        </p:nvSpPr>
        <p:spPr>
          <a:xfrm>
            <a:off x="6492240" y="2057400"/>
            <a:ext cx="1417320" cy="731520"/>
          </a:xfrm>
          <a:prstGeom prst="rect">
            <a:avLst/>
          </a:prstGeom>
          <a:noFill/>
          <a:ln/>
        </p:spPr>
        <p:txBody>
          <a:bodyPr wrap="square" lIns="0" tIns="0" rIns="0" bIns="0" rtlCol="0" anchor="ctr"/>
          <a:lstStyle/>
          <a:p>
            <a:pPr indent="0" marL="0">
              <a:buNone/>
            </a:pPr>
            <a:r>
              <a:rPr lang="en-US" sz="2800" b="1" dirty="0">
                <a:solidFill>
                  <a:srgbClr val="4F46E5"/>
                </a:solidFill>
                <a:latin typeface="Cambria" pitchFamily="34" charset="0"/>
                <a:ea typeface="Cambria" pitchFamily="34" charset="-122"/>
                <a:cs typeface="Cambria" pitchFamily="34" charset="-120"/>
              </a:rPr>
              <a:t>0</a:t>
            </a:r>
            <a:endParaRPr lang="en-US" sz="2800" dirty="0"/>
          </a:p>
        </p:txBody>
      </p:sp>
      <p:sp>
        <p:nvSpPr>
          <p:cNvPr id="23" name="Text 17"/>
          <p:cNvSpPr/>
          <p:nvPr/>
        </p:nvSpPr>
        <p:spPr>
          <a:xfrm>
            <a:off x="6492240" y="2697480"/>
            <a:ext cx="1600200" cy="27432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cost until approved</a:t>
            </a:r>
            <a:endParaRPr lang="en-US" sz="950" dirty="0"/>
          </a:p>
        </p:txBody>
      </p:sp>
      <p:sp>
        <p:nvSpPr>
          <p:cNvPr id="24" name="Text 18"/>
          <p:cNvSpPr/>
          <p:nvPr/>
        </p:nvSpPr>
        <p:spPr>
          <a:xfrm>
            <a:off x="8092440" y="1984248"/>
            <a:ext cx="3337560" cy="960120"/>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Balance is deducted only when your manager approves. Pending or rejected requests never cost a day.</a:t>
            </a:r>
            <a:endParaRPr lang="en-US" sz="1150" dirty="0"/>
          </a:p>
        </p:txBody>
      </p:sp>
      <p:sp>
        <p:nvSpPr>
          <p:cNvPr id="25" name="Shape 19"/>
          <p:cNvSpPr/>
          <p:nvPr/>
        </p:nvSpPr>
        <p:spPr>
          <a:xfrm>
            <a:off x="6263640" y="3264408"/>
            <a:ext cx="5349240" cy="1298448"/>
          </a:xfrm>
          <a:prstGeom prst="roundRect">
            <a:avLst>
              <a:gd name="adj" fmla="val 7042"/>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26" name="Text 20"/>
          <p:cNvSpPr/>
          <p:nvPr/>
        </p:nvSpPr>
        <p:spPr>
          <a:xfrm>
            <a:off x="6492240" y="3538728"/>
            <a:ext cx="1417320" cy="731520"/>
          </a:xfrm>
          <a:prstGeom prst="rect">
            <a:avLst/>
          </a:prstGeom>
          <a:noFill/>
          <a:ln/>
        </p:spPr>
        <p:txBody>
          <a:bodyPr wrap="square" lIns="0" tIns="0" rIns="0" bIns="0" rtlCol="0" anchor="ctr"/>
          <a:lstStyle/>
          <a:p>
            <a:pPr indent="0" marL="0">
              <a:buNone/>
            </a:pPr>
            <a:r>
              <a:rPr lang="en-US" sz="2800" b="1" dirty="0">
                <a:solidFill>
                  <a:srgbClr val="4F46E5"/>
                </a:solidFill>
                <a:latin typeface="Cambria" pitchFamily="34" charset="0"/>
                <a:ea typeface="Cambria" pitchFamily="34" charset="-122"/>
                <a:cs typeface="Cambria" pitchFamily="34" charset="-120"/>
              </a:rPr>
              <a:t>100%</a:t>
            </a:r>
            <a:endParaRPr lang="en-US" sz="2800" dirty="0"/>
          </a:p>
        </p:txBody>
      </p:sp>
      <p:sp>
        <p:nvSpPr>
          <p:cNvPr id="27" name="Text 21"/>
          <p:cNvSpPr/>
          <p:nvPr/>
        </p:nvSpPr>
        <p:spPr>
          <a:xfrm>
            <a:off x="6492240" y="4178808"/>
            <a:ext cx="1600200" cy="27432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policy-driven</a:t>
            </a:r>
            <a:endParaRPr lang="en-US" sz="950" dirty="0"/>
          </a:p>
        </p:txBody>
      </p:sp>
      <p:sp>
        <p:nvSpPr>
          <p:cNvPr id="28" name="Text 22"/>
          <p:cNvSpPr/>
          <p:nvPr/>
        </p:nvSpPr>
        <p:spPr>
          <a:xfrm>
            <a:off x="8092440" y="3465576"/>
            <a:ext cx="3337560" cy="960120"/>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Leave types and allowances are defined by your admins per employment type — Full-time, Intern, Part-time or custom.</a:t>
            </a:r>
            <a:endParaRPr lang="en-US" sz="1150" dirty="0"/>
          </a:p>
        </p:txBody>
      </p:sp>
      <p:sp>
        <p:nvSpPr>
          <p:cNvPr id="29" name="Shape 23"/>
          <p:cNvSpPr/>
          <p:nvPr/>
        </p:nvSpPr>
        <p:spPr>
          <a:xfrm>
            <a:off x="6263640" y="4745736"/>
            <a:ext cx="5349240" cy="1298448"/>
          </a:xfrm>
          <a:prstGeom prst="roundRect">
            <a:avLst>
              <a:gd name="adj" fmla="val 7042"/>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30" name="Text 24"/>
          <p:cNvSpPr/>
          <p:nvPr/>
        </p:nvSpPr>
        <p:spPr>
          <a:xfrm>
            <a:off x="6492240" y="5020056"/>
            <a:ext cx="1417320" cy="731520"/>
          </a:xfrm>
          <a:prstGeom prst="rect">
            <a:avLst/>
          </a:prstGeom>
          <a:noFill/>
          <a:ln/>
        </p:spPr>
        <p:txBody>
          <a:bodyPr wrap="square" lIns="0" tIns="0" rIns="0" bIns="0" rtlCol="0" anchor="ctr"/>
          <a:lstStyle/>
          <a:p>
            <a:pPr indent="0" marL="0">
              <a:buNone/>
            </a:pPr>
            <a:r>
              <a:rPr lang="en-US" sz="2800" b="1" dirty="0">
                <a:solidFill>
                  <a:srgbClr val="4F46E5"/>
                </a:solidFill>
                <a:latin typeface="Cambria" pitchFamily="34" charset="0"/>
                <a:ea typeface="Cambria" pitchFamily="34" charset="-122"/>
                <a:cs typeface="Cambria" pitchFamily="34" charset="-120"/>
              </a:rPr>
              <a:t>1 click</a:t>
            </a:r>
            <a:endParaRPr lang="en-US" sz="2800" dirty="0"/>
          </a:p>
        </p:txBody>
      </p:sp>
      <p:sp>
        <p:nvSpPr>
          <p:cNvPr id="31" name="Text 25"/>
          <p:cNvSpPr/>
          <p:nvPr/>
        </p:nvSpPr>
        <p:spPr>
          <a:xfrm>
            <a:off x="6492240" y="5660136"/>
            <a:ext cx="1600200" cy="27432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to cancel</a:t>
            </a:r>
            <a:endParaRPr lang="en-US" sz="950" dirty="0"/>
          </a:p>
        </p:txBody>
      </p:sp>
      <p:sp>
        <p:nvSpPr>
          <p:cNvPr id="32" name="Text 26"/>
          <p:cNvSpPr/>
          <p:nvPr/>
        </p:nvSpPr>
        <p:spPr>
          <a:xfrm>
            <a:off x="8092440" y="4946904"/>
            <a:ext cx="3337560" cy="960120"/>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Changed your mind? Cancel any request while it is still pending.</a:t>
            </a:r>
            <a:endParaRPr lang="en-US" sz="1150" dirty="0"/>
          </a:p>
        </p:txBody>
      </p:sp>
      <p:sp>
        <p:nvSpPr>
          <p:cNvPr id="33" name="Text 27"/>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4" name="Text 28"/>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3 · HOW THE BETA WORKS</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Decisions where they belong</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5349240" cy="4297680"/>
          </a:xfrm>
          <a:prstGeom prst="roundRect">
            <a:avLst>
              <a:gd name="adj" fmla="val 212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868680" y="1965960"/>
            <a:ext cx="475488" cy="475488"/>
          </a:xfrm>
          <a:prstGeom prst="roundRect">
            <a:avLst>
              <a:gd name="adj" fmla="val 17308"/>
            </a:avLst>
          </a:prstGeom>
          <a:solidFill>
            <a:srgbClr val="EEF2FF"/>
          </a:solidFill>
          <a:ln/>
        </p:spPr>
      </p:sp>
      <p:pic>
        <p:nvPicPr>
          <p:cNvPr id="7" name="Image 0" descr="preencoded.png">    </p:cNvPr>
          <p:cNvPicPr>
            <a:picLocks noChangeAspect="1"/>
          </p:cNvPicPr>
          <p:nvPr/>
        </p:nvPicPr>
        <p:blipFill>
          <a:blip r:embed="rId1"/>
          <a:stretch>
            <a:fillRect/>
          </a:stretch>
        </p:blipFill>
        <p:spPr>
          <a:xfrm>
            <a:off x="973287" y="2070567"/>
            <a:ext cx="266273" cy="266273"/>
          </a:xfrm>
          <a:prstGeom prst="rect">
            <a:avLst/>
          </a:prstGeom>
        </p:spPr>
      </p:pic>
      <p:sp>
        <p:nvSpPr>
          <p:cNvPr id="8" name="Text 5"/>
          <p:cNvSpPr/>
          <p:nvPr/>
        </p:nvSpPr>
        <p:spPr>
          <a:xfrm>
            <a:off x="1481328" y="2002536"/>
            <a:ext cx="4023360" cy="411480"/>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Approvals — for managers</a:t>
            </a:r>
            <a:endParaRPr lang="en-US" sz="1900" dirty="0"/>
          </a:p>
        </p:txBody>
      </p:sp>
      <p:sp>
        <p:nvSpPr>
          <p:cNvPr id="9" name="Text 6"/>
          <p:cNvSpPr/>
          <p:nvPr/>
        </p:nvSpPr>
        <p:spPr>
          <a:xfrm>
            <a:off x="914400" y="2651760"/>
            <a:ext cx="4617720" cy="3108960"/>
          </a:xfrm>
          <a:prstGeom prst="rect">
            <a:avLst/>
          </a:prstGeom>
          <a:noFill/>
          <a:ln/>
        </p:spPr>
        <p:txBody>
          <a:bodyPr wrap="square" lIns="0" tIns="0" rIns="0" bIns="0" rtlCol="0" anchor="t"/>
          <a:lstStyle/>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Only your direct manager can decide your request — nobody else in the company</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Queue shows who, staff code, dates, day-part, type and reason</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One-click approve or reject; rejections can carry a short note</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Balance is re-checked at the moment of approval — it can never go below zero</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Decisions instantly update the employee's dashboard and notifications</a:t>
            </a:r>
            <a:endParaRPr lang="en-US" sz="1300" dirty="0"/>
          </a:p>
        </p:txBody>
      </p:sp>
      <p:sp>
        <p:nvSpPr>
          <p:cNvPr id="10" name="Shape 7"/>
          <p:cNvSpPr/>
          <p:nvPr/>
        </p:nvSpPr>
        <p:spPr>
          <a:xfrm>
            <a:off x="6263640" y="1691640"/>
            <a:ext cx="5349240" cy="4297680"/>
          </a:xfrm>
          <a:prstGeom prst="roundRect">
            <a:avLst>
              <a:gd name="adj" fmla="val 212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1" name="Shape 8"/>
          <p:cNvSpPr/>
          <p:nvPr/>
        </p:nvSpPr>
        <p:spPr>
          <a:xfrm>
            <a:off x="6583680" y="1965960"/>
            <a:ext cx="475488" cy="475488"/>
          </a:xfrm>
          <a:prstGeom prst="roundRect">
            <a:avLst>
              <a:gd name="adj" fmla="val 17308"/>
            </a:avLst>
          </a:prstGeom>
          <a:solidFill>
            <a:srgbClr val="EEF2FF"/>
          </a:solidFill>
          <a:ln/>
        </p:spPr>
      </p:sp>
      <p:pic>
        <p:nvPicPr>
          <p:cNvPr id="12" name="Image 1" descr="preencoded.png">    </p:cNvPr>
          <p:cNvPicPr>
            <a:picLocks noChangeAspect="1"/>
          </p:cNvPicPr>
          <p:nvPr/>
        </p:nvPicPr>
        <p:blipFill>
          <a:blip r:embed="rId2"/>
          <a:stretch>
            <a:fillRect/>
          </a:stretch>
        </p:blipFill>
        <p:spPr>
          <a:xfrm>
            <a:off x="6688287" y="2070567"/>
            <a:ext cx="266273" cy="266273"/>
          </a:xfrm>
          <a:prstGeom prst="rect">
            <a:avLst/>
          </a:prstGeom>
        </p:spPr>
      </p:pic>
      <p:sp>
        <p:nvSpPr>
          <p:cNvPr id="13" name="Text 9"/>
          <p:cNvSpPr/>
          <p:nvPr/>
        </p:nvSpPr>
        <p:spPr>
          <a:xfrm>
            <a:off x="7196328" y="2002536"/>
            <a:ext cx="4023360" cy="411480"/>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Work-from-home</a:t>
            </a:r>
            <a:endParaRPr lang="en-US" sz="1900" dirty="0"/>
          </a:p>
        </p:txBody>
      </p:sp>
      <p:sp>
        <p:nvSpPr>
          <p:cNvPr id="14" name="Text 10"/>
          <p:cNvSpPr/>
          <p:nvPr/>
        </p:nvSpPr>
        <p:spPr>
          <a:xfrm>
            <a:off x="6629400" y="2651760"/>
            <a:ext cx="4617720" cy="3108960"/>
          </a:xfrm>
          <a:prstGeom prst="rect">
            <a:avLst/>
          </a:prstGeom>
          <a:noFill/>
          <a:ln/>
        </p:spPr>
        <p:txBody>
          <a:bodyPr wrap="square" lIns="0" tIns="0" rIns="0" bIns="0" rtlCol="0" anchor="t"/>
          <a:lstStyle/>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Same easy flow as leave — ranges, custom dates, half days</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Never draws down your leave balance — tracked completely separately</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Doesn't appear on the “who's out” calendar — WFH is not an absence</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A short reason is required, so the approving manager has context</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Approved by your direct manager, exactly like leave</a:t>
            </a:r>
            <a:endParaRPr lang="en-US" sz="1300" dirty="0"/>
          </a:p>
        </p:txBody>
      </p:sp>
      <p:sp>
        <p:nvSpPr>
          <p:cNvPr id="15" name="Text 11"/>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16"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3 · HOW THE BETA WORKS</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Everyone in the loop, no noise</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3611880" cy="4297680"/>
          </a:xfrm>
          <a:prstGeom prst="roundRect">
            <a:avLst>
              <a:gd name="adj" fmla="val 253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822960" y="1984248"/>
            <a:ext cx="493776" cy="493776"/>
          </a:xfrm>
          <a:prstGeom prst="roundRect">
            <a:avLst>
              <a:gd name="adj" fmla="val 16667"/>
            </a:avLst>
          </a:prstGeom>
          <a:solidFill>
            <a:srgbClr val="EEF2FF"/>
          </a:solidFill>
          <a:ln/>
        </p:spPr>
      </p:sp>
      <p:pic>
        <p:nvPicPr>
          <p:cNvPr id="7" name="Image 0" descr="preencoded.png">    </p:cNvPr>
          <p:cNvPicPr>
            <a:picLocks noChangeAspect="1"/>
          </p:cNvPicPr>
          <p:nvPr/>
        </p:nvPicPr>
        <p:blipFill>
          <a:blip r:embed="rId1"/>
          <a:stretch>
            <a:fillRect/>
          </a:stretch>
        </p:blipFill>
        <p:spPr>
          <a:xfrm>
            <a:off x="931591" y="2092879"/>
            <a:ext cx="276515" cy="276515"/>
          </a:xfrm>
          <a:prstGeom prst="rect">
            <a:avLst/>
          </a:prstGeom>
        </p:spPr>
      </p:pic>
      <p:sp>
        <p:nvSpPr>
          <p:cNvPr id="8" name="Text 5"/>
          <p:cNvSpPr/>
          <p:nvPr/>
        </p:nvSpPr>
        <p:spPr>
          <a:xfrm>
            <a:off x="1463040" y="2057400"/>
            <a:ext cx="2514600" cy="365760"/>
          </a:xfrm>
          <a:prstGeom prst="rect">
            <a:avLst/>
          </a:prstGeom>
          <a:noFill/>
          <a:ln/>
        </p:spPr>
        <p:txBody>
          <a:bodyPr wrap="square" lIns="0" tIns="0" rIns="0" bIns="0" rtlCol="0" anchor="ctr"/>
          <a:lstStyle/>
          <a:p>
            <a:pPr indent="0" marL="0">
              <a:buNone/>
            </a:pPr>
            <a:r>
              <a:rPr lang="en-US" sz="1800" b="1" dirty="0">
                <a:solidFill>
                  <a:srgbClr val="0F172A"/>
                </a:solidFill>
                <a:latin typeface="Cambria" pitchFamily="34" charset="0"/>
                <a:ea typeface="Cambria" pitchFamily="34" charset="-122"/>
                <a:cs typeface="Cambria" pitchFamily="34" charset="-120"/>
              </a:rPr>
              <a:t>Notifications</a:t>
            </a:r>
            <a:endParaRPr lang="en-US" sz="1800" dirty="0"/>
          </a:p>
        </p:txBody>
      </p:sp>
      <p:sp>
        <p:nvSpPr>
          <p:cNvPr id="9" name="Text 6"/>
          <p:cNvSpPr/>
          <p:nvPr/>
        </p:nvSpPr>
        <p:spPr>
          <a:xfrm>
            <a:off x="841248" y="2743200"/>
            <a:ext cx="3044952" cy="3017520"/>
          </a:xfrm>
          <a:prstGeom prst="rect">
            <a:avLst/>
          </a:prstGeom>
          <a:noFill/>
          <a:ln/>
        </p:spPr>
        <p:txBody>
          <a:bodyPr wrap="square" lIns="0" tIns="0" rIns="0" bIns="0" rtlCol="0" anchor="t"/>
          <a:lstStyle/>
          <a:p>
            <a:pPr marL="127000" indent="-127000">
              <a:spcAft>
                <a:spcPts val="900"/>
              </a:spcAft>
              <a:buSzPct val="100000"/>
              <a:buChar char="•"/>
            </a:pPr>
            <a:r>
              <a:rPr lang="en-US" sz="1200" dirty="0">
                <a:solidFill>
                  <a:srgbClr val="0F172A"/>
                </a:solidFill>
                <a:latin typeface="Calibri" pitchFamily="34" charset="0"/>
                <a:ea typeface="Calibri" pitchFamily="34" charset="-122"/>
                <a:cs typeface="Calibri" pitchFamily="34" charset="-120"/>
              </a:rPr>
              <a:t>Bell drawer + dedicated page, with unread badge</a:t>
            </a:r>
            <a:endParaRPr lang="en-US" sz="1200" dirty="0"/>
          </a:p>
          <a:p>
            <a:pPr marL="127000" indent="-127000">
              <a:spcAft>
                <a:spcPts val="900"/>
              </a:spcAft>
              <a:buSzPct val="100000"/>
              <a:buChar char="•"/>
            </a:pPr>
            <a:r>
              <a:rPr lang="en-US" sz="1200" dirty="0">
                <a:solidFill>
                  <a:srgbClr val="0F172A"/>
                </a:solidFill>
                <a:latin typeface="Calibri" pitchFamily="34" charset="0"/>
                <a:ea typeface="Calibri" pitchFamily="34" charset="-122"/>
                <a:cs typeface="Calibri" pitchFamily="34" charset="-120"/>
              </a:rPr>
              <a:t>Requests waiting on you, decisions on yours</a:t>
            </a:r>
            <a:endParaRPr lang="en-US" sz="1200" dirty="0"/>
          </a:p>
          <a:p>
            <a:pPr marL="127000" indent="-127000">
              <a:spcAft>
                <a:spcPts val="900"/>
              </a:spcAft>
              <a:buSzPct val="100000"/>
              <a:buChar char="•"/>
            </a:pPr>
            <a:r>
              <a:rPr lang="en-US" sz="1200" dirty="0">
                <a:solidFill>
                  <a:srgbClr val="0F172A"/>
                </a:solidFill>
                <a:latin typeface="Calibri" pitchFamily="34" charset="0"/>
                <a:ea typeface="Calibri" pitchFamily="34" charset="-122"/>
                <a:cs typeface="Calibri" pitchFamily="34" charset="-120"/>
              </a:rPr>
              <a:t>Upcoming approved time off (next 7 days)</a:t>
            </a:r>
            <a:endParaRPr lang="en-US" sz="1200" dirty="0"/>
          </a:p>
          <a:p>
            <a:pPr marL="127000" indent="-127000">
              <a:spcAft>
                <a:spcPts val="900"/>
              </a:spcAft>
              <a:buSzPct val="100000"/>
              <a:buChar char="•"/>
            </a:pPr>
            <a:r>
              <a:rPr lang="en-US" sz="1200" dirty="0">
                <a:solidFill>
                  <a:srgbClr val="0F172A"/>
                </a:solidFill>
                <a:latin typeface="Calibri" pitchFamily="34" charset="0"/>
                <a:ea typeface="Calibri" pitchFamily="34" charset="-122"/>
                <a:cs typeface="Calibri" pitchFamily="34" charset="-120"/>
              </a:rPr>
              <a:t>Urgent messages, clearly flagged</a:t>
            </a:r>
            <a:endParaRPr lang="en-US" sz="1200" dirty="0"/>
          </a:p>
        </p:txBody>
      </p:sp>
      <p:sp>
        <p:nvSpPr>
          <p:cNvPr id="10" name="Shape 7"/>
          <p:cNvSpPr/>
          <p:nvPr/>
        </p:nvSpPr>
        <p:spPr>
          <a:xfrm>
            <a:off x="4352544" y="1691640"/>
            <a:ext cx="3611880" cy="4297680"/>
          </a:xfrm>
          <a:prstGeom prst="roundRect">
            <a:avLst>
              <a:gd name="adj" fmla="val 253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1" name="Shape 8"/>
          <p:cNvSpPr/>
          <p:nvPr/>
        </p:nvSpPr>
        <p:spPr>
          <a:xfrm>
            <a:off x="4626864" y="1984248"/>
            <a:ext cx="493776" cy="493776"/>
          </a:xfrm>
          <a:prstGeom prst="roundRect">
            <a:avLst>
              <a:gd name="adj" fmla="val 16667"/>
            </a:avLst>
          </a:prstGeom>
          <a:solidFill>
            <a:srgbClr val="EEF2FF"/>
          </a:solidFill>
          <a:ln/>
        </p:spPr>
      </p:sp>
      <p:pic>
        <p:nvPicPr>
          <p:cNvPr id="12" name="Image 1" descr="preencoded.png">    </p:cNvPr>
          <p:cNvPicPr>
            <a:picLocks noChangeAspect="1"/>
          </p:cNvPicPr>
          <p:nvPr/>
        </p:nvPicPr>
        <p:blipFill>
          <a:blip r:embed="rId2"/>
          <a:stretch>
            <a:fillRect/>
          </a:stretch>
        </p:blipFill>
        <p:spPr>
          <a:xfrm>
            <a:off x="4735495" y="2092879"/>
            <a:ext cx="276515" cy="276515"/>
          </a:xfrm>
          <a:prstGeom prst="rect">
            <a:avLst/>
          </a:prstGeom>
        </p:spPr>
      </p:pic>
      <p:sp>
        <p:nvSpPr>
          <p:cNvPr id="13" name="Text 9"/>
          <p:cNvSpPr/>
          <p:nvPr/>
        </p:nvSpPr>
        <p:spPr>
          <a:xfrm>
            <a:off x="5266944" y="2057400"/>
            <a:ext cx="2514600" cy="365760"/>
          </a:xfrm>
          <a:prstGeom prst="rect">
            <a:avLst/>
          </a:prstGeom>
          <a:noFill/>
          <a:ln/>
        </p:spPr>
        <p:txBody>
          <a:bodyPr wrap="square" lIns="0" tIns="0" rIns="0" bIns="0" rtlCol="0" anchor="ctr"/>
          <a:lstStyle/>
          <a:p>
            <a:pPr indent="0" marL="0">
              <a:buNone/>
            </a:pPr>
            <a:r>
              <a:rPr lang="en-US" sz="1800" b="1" dirty="0">
                <a:solidFill>
                  <a:srgbClr val="0F172A"/>
                </a:solidFill>
                <a:latin typeface="Cambria" pitchFamily="34" charset="0"/>
                <a:ea typeface="Cambria" pitchFamily="34" charset="-122"/>
                <a:cs typeface="Cambria" pitchFamily="34" charset="-120"/>
              </a:rPr>
              <a:t>Announcements</a:t>
            </a:r>
            <a:endParaRPr lang="en-US" sz="1800" dirty="0"/>
          </a:p>
        </p:txBody>
      </p:sp>
      <p:sp>
        <p:nvSpPr>
          <p:cNvPr id="14" name="Text 10"/>
          <p:cNvSpPr/>
          <p:nvPr/>
        </p:nvSpPr>
        <p:spPr>
          <a:xfrm>
            <a:off x="4645152" y="2743200"/>
            <a:ext cx="3044952" cy="3017520"/>
          </a:xfrm>
          <a:prstGeom prst="rect">
            <a:avLst/>
          </a:prstGeom>
          <a:noFill/>
          <a:ln/>
        </p:spPr>
        <p:txBody>
          <a:bodyPr wrap="square" lIns="0" tIns="0" rIns="0" bIns="0" rtlCol="0" anchor="t"/>
          <a:lstStyle/>
          <a:p>
            <a:pPr marL="127000" indent="-127000">
              <a:spcAft>
                <a:spcPts val="900"/>
              </a:spcAft>
              <a:buSzPct val="100000"/>
              <a:buChar char="•"/>
            </a:pPr>
            <a:r>
              <a:rPr lang="en-US" sz="1200" dirty="0">
                <a:solidFill>
                  <a:srgbClr val="0F172A"/>
                </a:solidFill>
                <a:latin typeface="Calibri" pitchFamily="34" charset="0"/>
                <a:ea typeface="Calibri" pitchFamily="34" charset="-122"/>
                <a:cs typeface="Calibri" pitchFamily="34" charset="-120"/>
              </a:rPr>
              <a:t>Admins: broadcast to everyone or by role</a:t>
            </a:r>
            <a:endParaRPr lang="en-US" sz="1200" dirty="0"/>
          </a:p>
          <a:p>
            <a:pPr marL="127000" indent="-127000">
              <a:spcAft>
                <a:spcPts val="900"/>
              </a:spcAft>
              <a:buSzPct val="100000"/>
              <a:buChar char="•"/>
            </a:pPr>
            <a:r>
              <a:rPr lang="en-US" sz="1200" dirty="0">
                <a:solidFill>
                  <a:srgbClr val="0F172A"/>
                </a:solidFill>
                <a:latin typeface="Calibri" pitchFamily="34" charset="0"/>
                <a:ea typeface="Calibri" pitchFamily="34" charset="-122"/>
                <a:cs typeface="Calibri" pitchFamily="34" charset="-120"/>
              </a:rPr>
              <a:t>Managers: their team, or hand-picked groups (“Project Alpha”)</a:t>
            </a:r>
            <a:endParaRPr lang="en-US" sz="1200" dirty="0"/>
          </a:p>
          <a:p>
            <a:pPr marL="127000" indent="-127000">
              <a:spcAft>
                <a:spcPts val="900"/>
              </a:spcAft>
              <a:buSzPct val="100000"/>
              <a:buChar char="•"/>
            </a:pPr>
            <a:r>
              <a:rPr lang="en-US" sz="1200" dirty="0">
                <a:solidFill>
                  <a:srgbClr val="0F172A"/>
                </a:solidFill>
                <a:latin typeface="Calibri" pitchFamily="34" charset="0"/>
                <a:ea typeface="Calibri" pitchFamily="34" charset="-122"/>
                <a:cs typeface="Calibri" pitchFamily="34" charset="-120"/>
              </a:rPr>
              <a:t>Urgent posts surface in everyone's notifications</a:t>
            </a:r>
            <a:endParaRPr lang="en-US" sz="1200" dirty="0"/>
          </a:p>
          <a:p>
            <a:pPr marL="127000" indent="-127000">
              <a:spcAft>
                <a:spcPts val="900"/>
              </a:spcAft>
              <a:buSzPct val="100000"/>
              <a:buChar char="•"/>
            </a:pPr>
            <a:r>
              <a:rPr lang="en-US" sz="1200" dirty="0">
                <a:solidFill>
                  <a:srgbClr val="0F172A"/>
                </a:solidFill>
                <a:latin typeface="Calibri" pitchFamily="34" charset="0"/>
                <a:ea typeface="Calibri" pitchFamily="34" charset="-122"/>
                <a:cs typeface="Calibri" pitchFamily="34" charset="-120"/>
              </a:rPr>
              <a:t>Authors manage their own posts; admins can remove any</a:t>
            </a:r>
            <a:endParaRPr lang="en-US" sz="1200" dirty="0"/>
          </a:p>
        </p:txBody>
      </p:sp>
      <p:sp>
        <p:nvSpPr>
          <p:cNvPr id="15" name="Shape 11"/>
          <p:cNvSpPr/>
          <p:nvPr/>
        </p:nvSpPr>
        <p:spPr>
          <a:xfrm>
            <a:off x="8156448" y="1691640"/>
            <a:ext cx="3611880" cy="4297680"/>
          </a:xfrm>
          <a:prstGeom prst="roundRect">
            <a:avLst>
              <a:gd name="adj" fmla="val 253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6" name="Shape 12"/>
          <p:cNvSpPr/>
          <p:nvPr/>
        </p:nvSpPr>
        <p:spPr>
          <a:xfrm>
            <a:off x="8430768" y="1984248"/>
            <a:ext cx="493776" cy="493776"/>
          </a:xfrm>
          <a:prstGeom prst="roundRect">
            <a:avLst>
              <a:gd name="adj" fmla="val 16667"/>
            </a:avLst>
          </a:prstGeom>
          <a:solidFill>
            <a:srgbClr val="EEF2FF"/>
          </a:solidFill>
          <a:ln/>
        </p:spPr>
      </p:sp>
      <p:pic>
        <p:nvPicPr>
          <p:cNvPr id="17" name="Image 2" descr="preencoded.png">    </p:cNvPr>
          <p:cNvPicPr>
            <a:picLocks noChangeAspect="1"/>
          </p:cNvPicPr>
          <p:nvPr/>
        </p:nvPicPr>
        <p:blipFill>
          <a:blip r:embed="rId3"/>
          <a:stretch>
            <a:fillRect/>
          </a:stretch>
        </p:blipFill>
        <p:spPr>
          <a:xfrm>
            <a:off x="8539399" y="2092879"/>
            <a:ext cx="276515" cy="276515"/>
          </a:xfrm>
          <a:prstGeom prst="rect">
            <a:avLst/>
          </a:prstGeom>
        </p:spPr>
      </p:pic>
      <p:sp>
        <p:nvSpPr>
          <p:cNvPr id="18" name="Text 13"/>
          <p:cNvSpPr/>
          <p:nvPr/>
        </p:nvSpPr>
        <p:spPr>
          <a:xfrm>
            <a:off x="9070848" y="2057400"/>
            <a:ext cx="2514600" cy="365760"/>
          </a:xfrm>
          <a:prstGeom prst="rect">
            <a:avLst/>
          </a:prstGeom>
          <a:noFill/>
          <a:ln/>
        </p:spPr>
        <p:txBody>
          <a:bodyPr wrap="square" lIns="0" tIns="0" rIns="0" bIns="0" rtlCol="0" anchor="ctr"/>
          <a:lstStyle/>
          <a:p>
            <a:pPr indent="0" marL="0">
              <a:buNone/>
            </a:pPr>
            <a:r>
              <a:rPr lang="en-US" sz="1800" b="1" dirty="0">
                <a:solidFill>
                  <a:srgbClr val="0F172A"/>
                </a:solidFill>
                <a:latin typeface="Cambria" pitchFamily="34" charset="0"/>
                <a:ea typeface="Cambria" pitchFamily="34" charset="-122"/>
                <a:cs typeface="Cambria" pitchFamily="34" charset="-120"/>
              </a:rPr>
              <a:t>Team calendar</a:t>
            </a:r>
            <a:endParaRPr lang="en-US" sz="1800" dirty="0"/>
          </a:p>
        </p:txBody>
      </p:sp>
      <p:sp>
        <p:nvSpPr>
          <p:cNvPr id="19" name="Text 14"/>
          <p:cNvSpPr/>
          <p:nvPr/>
        </p:nvSpPr>
        <p:spPr>
          <a:xfrm>
            <a:off x="8449056" y="2743200"/>
            <a:ext cx="3044952" cy="3017520"/>
          </a:xfrm>
          <a:prstGeom prst="rect">
            <a:avLst/>
          </a:prstGeom>
          <a:noFill/>
          <a:ln/>
        </p:spPr>
        <p:txBody>
          <a:bodyPr wrap="square" lIns="0" tIns="0" rIns="0" bIns="0" rtlCol="0" anchor="t"/>
          <a:lstStyle/>
          <a:p>
            <a:pPr marL="127000" indent="-127000">
              <a:spcAft>
                <a:spcPts val="900"/>
              </a:spcAft>
              <a:buSzPct val="100000"/>
              <a:buChar char="•"/>
            </a:pPr>
            <a:r>
              <a:rPr lang="en-US" sz="1200" dirty="0">
                <a:solidFill>
                  <a:srgbClr val="0F172A"/>
                </a:solidFill>
                <a:latin typeface="Calibri" pitchFamily="34" charset="0"/>
                <a:ea typeface="Calibri" pitchFamily="34" charset="-122"/>
                <a:cs typeface="Calibri" pitchFamily="34" charset="-120"/>
              </a:rPr>
              <a:t>Monthly view for every employee</a:t>
            </a:r>
            <a:endParaRPr lang="en-US" sz="1200" dirty="0"/>
          </a:p>
          <a:p>
            <a:pPr marL="127000" indent="-127000">
              <a:spcAft>
                <a:spcPts val="900"/>
              </a:spcAft>
              <a:buSzPct val="100000"/>
              <a:buChar char="•"/>
            </a:pPr>
            <a:r>
              <a:rPr lang="en-US" sz="1200" dirty="0">
                <a:solidFill>
                  <a:srgbClr val="0F172A"/>
                </a:solidFill>
                <a:latin typeface="Calibri" pitchFamily="34" charset="0"/>
                <a:ea typeface="Calibri" pitchFamily="34" charset="-122"/>
                <a:cs typeface="Calibri" pitchFamily="34" charset="-120"/>
              </a:rPr>
              <a:t>Your own requests, marked by date and status</a:t>
            </a:r>
            <a:endParaRPr lang="en-US" sz="1200" dirty="0"/>
          </a:p>
          <a:p>
            <a:pPr marL="127000" indent="-127000">
              <a:spcAft>
                <a:spcPts val="900"/>
              </a:spcAft>
              <a:buSzPct val="100000"/>
              <a:buChar char="•"/>
            </a:pPr>
            <a:r>
              <a:rPr lang="en-US" sz="1200" dirty="0">
                <a:solidFill>
                  <a:srgbClr val="0F172A"/>
                </a:solidFill>
                <a:latin typeface="Calibri" pitchFamily="34" charset="0"/>
                <a:ea typeface="Calibri" pitchFamily="34" charset="-122"/>
                <a:cs typeface="Calibri" pitchFamily="34" charset="-120"/>
              </a:rPr>
              <a:t>Company-wide view of who is on approved leave</a:t>
            </a:r>
            <a:endParaRPr lang="en-US" sz="1200" dirty="0"/>
          </a:p>
          <a:p>
            <a:pPr marL="127000" indent="-127000">
              <a:spcAft>
                <a:spcPts val="900"/>
              </a:spcAft>
              <a:buSzPct val="100000"/>
              <a:buChar char="•"/>
            </a:pPr>
            <a:r>
              <a:rPr lang="en-US" sz="1200" dirty="0">
                <a:solidFill>
                  <a:srgbClr val="0F172A"/>
                </a:solidFill>
                <a:latin typeface="Calibri" pitchFamily="34" charset="0"/>
                <a:ea typeface="Calibri" pitchFamily="34" charset="-122"/>
                <a:cs typeface="Calibri" pitchFamily="34" charset="-120"/>
              </a:rPr>
              <a:t>Reasons stay private between employee &amp; manager</a:t>
            </a:r>
            <a:endParaRPr lang="en-US" sz="1200" dirty="0"/>
          </a:p>
        </p:txBody>
      </p:sp>
      <p:sp>
        <p:nvSpPr>
          <p:cNvPr id="20" name="Text 15"/>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1" name="Text 16"/>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3 · HOW THE BETA WORKS</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One secure file per person</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5349240" cy="4297680"/>
          </a:xfrm>
          <a:prstGeom prst="roundRect">
            <a:avLst>
              <a:gd name="adj" fmla="val 212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868680" y="1965960"/>
            <a:ext cx="475488" cy="475488"/>
          </a:xfrm>
          <a:prstGeom prst="roundRect">
            <a:avLst>
              <a:gd name="adj" fmla="val 17308"/>
            </a:avLst>
          </a:prstGeom>
          <a:solidFill>
            <a:srgbClr val="EEF2FF"/>
          </a:solidFill>
          <a:ln/>
        </p:spPr>
      </p:sp>
      <p:pic>
        <p:nvPicPr>
          <p:cNvPr id="7" name="Image 0" descr="preencoded.png">    </p:cNvPr>
          <p:cNvPicPr>
            <a:picLocks noChangeAspect="1"/>
          </p:cNvPicPr>
          <p:nvPr/>
        </p:nvPicPr>
        <p:blipFill>
          <a:blip r:embed="rId1"/>
          <a:stretch>
            <a:fillRect/>
          </a:stretch>
        </p:blipFill>
        <p:spPr>
          <a:xfrm>
            <a:off x="973287" y="2070567"/>
            <a:ext cx="266273" cy="266273"/>
          </a:xfrm>
          <a:prstGeom prst="rect">
            <a:avLst/>
          </a:prstGeom>
        </p:spPr>
      </p:pic>
      <p:sp>
        <p:nvSpPr>
          <p:cNvPr id="8" name="Text 5"/>
          <p:cNvSpPr/>
          <p:nvPr/>
        </p:nvSpPr>
        <p:spPr>
          <a:xfrm>
            <a:off x="1481328" y="2002536"/>
            <a:ext cx="4206240" cy="411480"/>
          </a:xfrm>
          <a:prstGeom prst="rect">
            <a:avLst/>
          </a:prstGeom>
          <a:noFill/>
          <a:ln/>
        </p:spPr>
        <p:txBody>
          <a:bodyPr wrap="square" lIns="0" tIns="0" rIns="0" bIns="0" rtlCol="0" anchor="ctr"/>
          <a:lstStyle/>
          <a:p>
            <a:pPr indent="0" marL="0">
              <a:buNone/>
            </a:pPr>
            <a:r>
              <a:rPr lang="en-US" sz="1800" b="1" dirty="0">
                <a:solidFill>
                  <a:srgbClr val="0F172A"/>
                </a:solidFill>
                <a:latin typeface="Cambria" pitchFamily="34" charset="0"/>
                <a:ea typeface="Cambria" pitchFamily="34" charset="-122"/>
                <a:cs typeface="Cambria" pitchFamily="34" charset="-120"/>
              </a:rPr>
              <a:t>Profiles, with privacy built in</a:t>
            </a:r>
            <a:endParaRPr lang="en-US" sz="1800" dirty="0"/>
          </a:p>
        </p:txBody>
      </p:sp>
      <p:sp>
        <p:nvSpPr>
          <p:cNvPr id="9" name="Text 6"/>
          <p:cNvSpPr/>
          <p:nvPr/>
        </p:nvSpPr>
        <p:spPr>
          <a:xfrm>
            <a:off x="914400" y="2651760"/>
            <a:ext cx="4617720" cy="3108960"/>
          </a:xfrm>
          <a:prstGeom prst="rect">
            <a:avLst/>
          </a:prstGeom>
          <a:noFill/>
          <a:ln/>
        </p:spPr>
        <p:txBody>
          <a:bodyPr wrap="square" lIns="0" tIns="0" rIns="0" bIns="0" rtlCol="0" anchor="t"/>
          <a:lstStyle/>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Photo, staff code, department, title, employment type, joining date</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Personal details (DOB, address, phone, IDs) visible only to you and administrators</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Automatic staff codes (EMP001…) so similar names are never confused</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You update your own details; employment type is admin-only, since it drives leave allowance</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Ten workspace themes, remembered per person</a:t>
            </a:r>
            <a:endParaRPr lang="en-US" sz="1250" dirty="0"/>
          </a:p>
        </p:txBody>
      </p:sp>
      <p:sp>
        <p:nvSpPr>
          <p:cNvPr id="10" name="Shape 7"/>
          <p:cNvSpPr/>
          <p:nvPr/>
        </p:nvSpPr>
        <p:spPr>
          <a:xfrm>
            <a:off x="6263640" y="1691640"/>
            <a:ext cx="5349240" cy="4297680"/>
          </a:xfrm>
          <a:prstGeom prst="roundRect">
            <a:avLst>
              <a:gd name="adj" fmla="val 212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1" name="Shape 8"/>
          <p:cNvSpPr/>
          <p:nvPr/>
        </p:nvSpPr>
        <p:spPr>
          <a:xfrm>
            <a:off x="6583680" y="1965960"/>
            <a:ext cx="475488" cy="475488"/>
          </a:xfrm>
          <a:prstGeom prst="roundRect">
            <a:avLst>
              <a:gd name="adj" fmla="val 17308"/>
            </a:avLst>
          </a:prstGeom>
          <a:solidFill>
            <a:srgbClr val="EEF2FF"/>
          </a:solidFill>
          <a:ln/>
        </p:spPr>
      </p:sp>
      <p:pic>
        <p:nvPicPr>
          <p:cNvPr id="12" name="Image 1" descr="preencoded.png">    </p:cNvPr>
          <p:cNvPicPr>
            <a:picLocks noChangeAspect="1"/>
          </p:cNvPicPr>
          <p:nvPr/>
        </p:nvPicPr>
        <p:blipFill>
          <a:blip r:embed="rId2"/>
          <a:stretch>
            <a:fillRect/>
          </a:stretch>
        </p:blipFill>
        <p:spPr>
          <a:xfrm>
            <a:off x="6688287" y="2070567"/>
            <a:ext cx="266273" cy="266273"/>
          </a:xfrm>
          <a:prstGeom prst="rect">
            <a:avLst/>
          </a:prstGeom>
        </p:spPr>
      </p:pic>
      <p:sp>
        <p:nvSpPr>
          <p:cNvPr id="13" name="Text 9"/>
          <p:cNvSpPr/>
          <p:nvPr/>
        </p:nvSpPr>
        <p:spPr>
          <a:xfrm>
            <a:off x="7196328" y="2002536"/>
            <a:ext cx="4023360" cy="411480"/>
          </a:xfrm>
          <a:prstGeom prst="rect">
            <a:avLst/>
          </a:prstGeom>
          <a:noFill/>
          <a:ln/>
        </p:spPr>
        <p:txBody>
          <a:bodyPr wrap="square" lIns="0" tIns="0" rIns="0" bIns="0" rtlCol="0" anchor="ctr"/>
          <a:lstStyle/>
          <a:p>
            <a:pPr indent="0" marL="0">
              <a:buNone/>
            </a:pPr>
            <a:r>
              <a:rPr lang="en-US" sz="1800" b="1" dirty="0">
                <a:solidFill>
                  <a:srgbClr val="0F172A"/>
                </a:solidFill>
                <a:latin typeface="Cambria" pitchFamily="34" charset="0"/>
                <a:ea typeface="Cambria" pitchFamily="34" charset="-122"/>
                <a:cs typeface="Cambria" pitchFamily="34" charset="-120"/>
              </a:rPr>
              <a:t>My Documents</a:t>
            </a:r>
            <a:endParaRPr lang="en-US" sz="1800" dirty="0"/>
          </a:p>
        </p:txBody>
      </p:sp>
      <p:sp>
        <p:nvSpPr>
          <p:cNvPr id="14" name="Text 10"/>
          <p:cNvSpPr/>
          <p:nvPr/>
        </p:nvSpPr>
        <p:spPr>
          <a:xfrm>
            <a:off x="6629400" y="2651760"/>
            <a:ext cx="4617720" cy="3108960"/>
          </a:xfrm>
          <a:prstGeom prst="rect">
            <a:avLst/>
          </a:prstGeom>
          <a:noFill/>
          <a:ln/>
        </p:spPr>
        <p:txBody>
          <a:bodyPr wrap="square" lIns="0" tIns="0" rIns="0" bIns="0" rtlCol="0" anchor="t"/>
          <a:lstStyle/>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ID proofs, certificates, contracts — on record in one place</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PDF, image, Word or Excel, up to ~3 MB each</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Visible only to you, your direct manager, and administrators</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Only an administrator can delete — official records can't quietly disappear</a:t>
            </a:r>
            <a:endParaRPr lang="en-US" sz="1250" dirty="0"/>
          </a:p>
          <a:p>
            <a:pPr marL="127000" indent="-127000">
              <a:spcAft>
                <a:spcPts val="900"/>
              </a:spcAft>
              <a:buSzPct val="100000"/>
              <a:buChar char="•"/>
            </a:pPr>
            <a:r>
              <a:rPr lang="en-US" sz="1250" dirty="0">
                <a:solidFill>
                  <a:srgbClr val="0F172A"/>
                </a:solidFill>
                <a:latin typeface="Calibri" pitchFamily="34" charset="0"/>
                <a:ea typeface="Calibri" pitchFamily="34" charset="-122"/>
                <a:cs typeface="Calibri" pitchFamily="34" charset="-120"/>
              </a:rPr>
              <a:t>Feedback &amp; HR Request buttons in every sidebar, wired to your admin-configured forms</a:t>
            </a:r>
            <a:endParaRPr lang="en-US" sz="1250" dirty="0"/>
          </a:p>
        </p:txBody>
      </p:sp>
      <p:sp>
        <p:nvSpPr>
          <p:cNvPr id="15" name="Text 11"/>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16"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3 · HOW THE BETA WORKS</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Built-in guardrails, not just controls</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804672" y="1929384"/>
            <a:ext cx="438912" cy="438912"/>
          </a:xfrm>
          <a:prstGeom prst="roundRect">
            <a:avLst>
              <a:gd name="adj" fmla="val 18750"/>
            </a:avLst>
          </a:prstGeom>
          <a:solidFill>
            <a:srgbClr val="EEF2FF"/>
          </a:solidFill>
          <a:ln/>
        </p:spPr>
      </p:sp>
      <p:pic>
        <p:nvPicPr>
          <p:cNvPr id="7" name="Image 0" descr="preencoded.png">    </p:cNvPr>
          <p:cNvPicPr>
            <a:picLocks noChangeAspect="1"/>
          </p:cNvPicPr>
          <p:nvPr/>
        </p:nvPicPr>
        <p:blipFill>
          <a:blip r:embed="rId1"/>
          <a:stretch>
            <a:fillRect/>
          </a:stretch>
        </p:blipFill>
        <p:spPr>
          <a:xfrm>
            <a:off x="901233" y="2025945"/>
            <a:ext cx="245791" cy="245791"/>
          </a:xfrm>
          <a:prstGeom prst="rect">
            <a:avLst/>
          </a:prstGeom>
        </p:spPr>
      </p:pic>
      <p:sp>
        <p:nvSpPr>
          <p:cNvPr id="8" name="Text 5"/>
          <p:cNvSpPr/>
          <p:nvPr/>
        </p:nvSpPr>
        <p:spPr>
          <a:xfrm>
            <a:off x="1371600" y="1965960"/>
            <a:ext cx="2651760" cy="411480"/>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People management</a:t>
            </a:r>
            <a:endParaRPr lang="en-US" sz="1450" dirty="0"/>
          </a:p>
        </p:txBody>
      </p:sp>
      <p:sp>
        <p:nvSpPr>
          <p:cNvPr id="9" name="Text 6"/>
          <p:cNvSpPr/>
          <p:nvPr/>
        </p:nvSpPr>
        <p:spPr>
          <a:xfrm>
            <a:off x="804672" y="2441448"/>
            <a:ext cx="3145536" cy="1234440"/>
          </a:xfrm>
          <a:prstGeom prst="rect">
            <a:avLst/>
          </a:prstGeom>
          <a:noFill/>
          <a:ln/>
        </p:spPr>
        <p:txBody>
          <a:bodyPr wrap="square" lIns="0" tIns="0" rIns="0" bIns="0" rtlCol="0" anchor="t"/>
          <a:lstStyle/>
          <a:p>
            <a:pPr indent="0" marL="0">
              <a:buNone/>
            </a:pPr>
            <a:r>
              <a:rPr lang="en-US" sz="1080" dirty="0">
                <a:solidFill>
                  <a:srgbClr val="64748B"/>
                </a:solidFill>
                <a:latin typeface="Calibri" pitchFamily="34" charset="0"/>
                <a:ea typeface="Calibri" pitchFamily="34" charset="-122"/>
                <a:cs typeface="Calibri" pitchFamily="34" charset="-120"/>
              </a:rPr>
              <a:t>Add employees with role, manager, employment type &amp; joining date. Staff codes assigned automatically. Promote and demote from one list.</a:t>
            </a:r>
            <a:endParaRPr lang="en-US" sz="1080" dirty="0"/>
          </a:p>
        </p:txBody>
      </p:sp>
      <p:sp>
        <p:nvSpPr>
          <p:cNvPr id="10" name="Shape 7"/>
          <p:cNvSpPr/>
          <p:nvPr/>
        </p:nvSpPr>
        <p:spPr>
          <a:xfrm>
            <a:off x="4370832" y="1691640"/>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1" name="Shape 8"/>
          <p:cNvSpPr/>
          <p:nvPr/>
        </p:nvSpPr>
        <p:spPr>
          <a:xfrm>
            <a:off x="4626864" y="1929384"/>
            <a:ext cx="438912" cy="438912"/>
          </a:xfrm>
          <a:prstGeom prst="roundRect">
            <a:avLst>
              <a:gd name="adj" fmla="val 18750"/>
            </a:avLst>
          </a:prstGeom>
          <a:solidFill>
            <a:srgbClr val="EEF2FF"/>
          </a:solidFill>
          <a:ln/>
        </p:spPr>
      </p:sp>
      <p:pic>
        <p:nvPicPr>
          <p:cNvPr id="12" name="Image 1" descr="preencoded.png">    </p:cNvPr>
          <p:cNvPicPr>
            <a:picLocks noChangeAspect="1"/>
          </p:cNvPicPr>
          <p:nvPr/>
        </p:nvPicPr>
        <p:blipFill>
          <a:blip r:embed="rId2"/>
          <a:stretch>
            <a:fillRect/>
          </a:stretch>
        </p:blipFill>
        <p:spPr>
          <a:xfrm>
            <a:off x="4723425" y="2025945"/>
            <a:ext cx="245791" cy="245791"/>
          </a:xfrm>
          <a:prstGeom prst="rect">
            <a:avLst/>
          </a:prstGeom>
        </p:spPr>
      </p:pic>
      <p:sp>
        <p:nvSpPr>
          <p:cNvPr id="13" name="Text 9"/>
          <p:cNvSpPr/>
          <p:nvPr/>
        </p:nvSpPr>
        <p:spPr>
          <a:xfrm>
            <a:off x="5193792" y="1965960"/>
            <a:ext cx="2651760" cy="411480"/>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Safety rails</a:t>
            </a:r>
            <a:endParaRPr lang="en-US" sz="1450" dirty="0"/>
          </a:p>
        </p:txBody>
      </p:sp>
      <p:sp>
        <p:nvSpPr>
          <p:cNvPr id="14" name="Text 10"/>
          <p:cNvSpPr/>
          <p:nvPr/>
        </p:nvSpPr>
        <p:spPr>
          <a:xfrm>
            <a:off x="4626864" y="2441448"/>
            <a:ext cx="3145536" cy="1234440"/>
          </a:xfrm>
          <a:prstGeom prst="rect">
            <a:avLst/>
          </a:prstGeom>
          <a:noFill/>
          <a:ln/>
        </p:spPr>
        <p:txBody>
          <a:bodyPr wrap="square" lIns="0" tIns="0" rIns="0" bIns="0" rtlCol="0" anchor="t"/>
          <a:lstStyle/>
          <a:p>
            <a:pPr indent="0" marL="0">
              <a:buNone/>
            </a:pPr>
            <a:r>
              <a:rPr lang="en-US" sz="1080" dirty="0">
                <a:solidFill>
                  <a:srgbClr val="64748B"/>
                </a:solidFill>
                <a:latin typeface="Calibri" pitchFamily="34" charset="0"/>
                <a:ea typeface="Calibri" pitchFamily="34" charset="-122"/>
                <a:cs typeface="Calibri" pitchFamily="34" charset="-120"/>
              </a:rPr>
              <a:t>You can't change your own role — the last admin can never be locked out. A manager with reports can't be demoted until their team is reassigned. Reporting loops are blocked.</a:t>
            </a:r>
            <a:endParaRPr lang="en-US" sz="1080" dirty="0"/>
          </a:p>
        </p:txBody>
      </p:sp>
      <p:sp>
        <p:nvSpPr>
          <p:cNvPr id="15" name="Shape 11"/>
          <p:cNvSpPr/>
          <p:nvPr/>
        </p:nvSpPr>
        <p:spPr>
          <a:xfrm>
            <a:off x="8193024" y="1691640"/>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6" name="Shape 12"/>
          <p:cNvSpPr/>
          <p:nvPr/>
        </p:nvSpPr>
        <p:spPr>
          <a:xfrm>
            <a:off x="8449056" y="1929384"/>
            <a:ext cx="438912" cy="438912"/>
          </a:xfrm>
          <a:prstGeom prst="roundRect">
            <a:avLst>
              <a:gd name="adj" fmla="val 18750"/>
            </a:avLst>
          </a:prstGeom>
          <a:solidFill>
            <a:srgbClr val="EEF2FF"/>
          </a:solidFill>
          <a:ln/>
        </p:spPr>
      </p:sp>
      <p:pic>
        <p:nvPicPr>
          <p:cNvPr id="17" name="Image 2" descr="preencoded.png">    </p:cNvPr>
          <p:cNvPicPr>
            <a:picLocks noChangeAspect="1"/>
          </p:cNvPicPr>
          <p:nvPr/>
        </p:nvPicPr>
        <p:blipFill>
          <a:blip r:embed="rId3"/>
          <a:stretch>
            <a:fillRect/>
          </a:stretch>
        </p:blipFill>
        <p:spPr>
          <a:xfrm>
            <a:off x="8545617" y="2025945"/>
            <a:ext cx="245791" cy="245791"/>
          </a:xfrm>
          <a:prstGeom prst="rect">
            <a:avLst/>
          </a:prstGeom>
        </p:spPr>
      </p:pic>
      <p:sp>
        <p:nvSpPr>
          <p:cNvPr id="18" name="Text 13"/>
          <p:cNvSpPr/>
          <p:nvPr/>
        </p:nvSpPr>
        <p:spPr>
          <a:xfrm>
            <a:off x="9015984" y="1965960"/>
            <a:ext cx="2651760" cy="411480"/>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Organization view</a:t>
            </a:r>
            <a:endParaRPr lang="en-US" sz="1450" dirty="0"/>
          </a:p>
        </p:txBody>
      </p:sp>
      <p:sp>
        <p:nvSpPr>
          <p:cNvPr id="19" name="Text 14"/>
          <p:cNvSpPr/>
          <p:nvPr/>
        </p:nvSpPr>
        <p:spPr>
          <a:xfrm>
            <a:off x="8449056" y="2441448"/>
            <a:ext cx="3145536" cy="1234440"/>
          </a:xfrm>
          <a:prstGeom prst="rect">
            <a:avLst/>
          </a:prstGeom>
          <a:noFill/>
          <a:ln/>
        </p:spPr>
        <p:txBody>
          <a:bodyPr wrap="square" lIns="0" tIns="0" rIns="0" bIns="0" rtlCol="0" anchor="t"/>
          <a:lstStyle/>
          <a:p>
            <a:pPr indent="0" marL="0">
              <a:buNone/>
            </a:pPr>
            <a:r>
              <a:rPr lang="en-US" sz="1080" dirty="0">
                <a:solidFill>
                  <a:srgbClr val="64748B"/>
                </a:solidFill>
                <a:latin typeface="Calibri" pitchFamily="34" charset="0"/>
                <a:ea typeface="Calibri" pitchFamily="34" charset="-122"/>
                <a:cs typeface="Calibri" pitchFamily="34" charset="-120"/>
              </a:rPr>
              <a:t>The whole company as an expandable tree — who reports to whom, with a live presence dot per person (online, on break, offline).</a:t>
            </a:r>
            <a:endParaRPr lang="en-US" sz="1080" dirty="0"/>
          </a:p>
        </p:txBody>
      </p:sp>
      <p:sp>
        <p:nvSpPr>
          <p:cNvPr id="20" name="Shape 15"/>
          <p:cNvSpPr/>
          <p:nvPr/>
        </p:nvSpPr>
        <p:spPr>
          <a:xfrm>
            <a:off x="548640" y="4032504"/>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1" name="Shape 16"/>
          <p:cNvSpPr/>
          <p:nvPr/>
        </p:nvSpPr>
        <p:spPr>
          <a:xfrm>
            <a:off x="804672" y="4270248"/>
            <a:ext cx="438912" cy="438912"/>
          </a:xfrm>
          <a:prstGeom prst="roundRect">
            <a:avLst>
              <a:gd name="adj" fmla="val 18750"/>
            </a:avLst>
          </a:prstGeom>
          <a:solidFill>
            <a:srgbClr val="EEF2FF"/>
          </a:solidFill>
          <a:ln/>
        </p:spPr>
      </p:sp>
      <p:pic>
        <p:nvPicPr>
          <p:cNvPr id="22" name="Image 3" descr="preencoded.png">    </p:cNvPr>
          <p:cNvPicPr>
            <a:picLocks noChangeAspect="1"/>
          </p:cNvPicPr>
          <p:nvPr/>
        </p:nvPicPr>
        <p:blipFill>
          <a:blip r:embed="rId4"/>
          <a:stretch>
            <a:fillRect/>
          </a:stretch>
        </p:blipFill>
        <p:spPr>
          <a:xfrm>
            <a:off x="901233" y="4366809"/>
            <a:ext cx="245791" cy="245791"/>
          </a:xfrm>
          <a:prstGeom prst="rect">
            <a:avLst/>
          </a:prstGeom>
        </p:spPr>
      </p:pic>
      <p:sp>
        <p:nvSpPr>
          <p:cNvPr id="23" name="Text 17"/>
          <p:cNvSpPr/>
          <p:nvPr/>
        </p:nvSpPr>
        <p:spPr>
          <a:xfrm>
            <a:off x="1371600" y="4306824"/>
            <a:ext cx="2651760" cy="411480"/>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Leave policies</a:t>
            </a:r>
            <a:endParaRPr lang="en-US" sz="1450" dirty="0"/>
          </a:p>
        </p:txBody>
      </p:sp>
      <p:sp>
        <p:nvSpPr>
          <p:cNvPr id="24" name="Text 18"/>
          <p:cNvSpPr/>
          <p:nvPr/>
        </p:nvSpPr>
        <p:spPr>
          <a:xfrm>
            <a:off x="804672" y="4782312"/>
            <a:ext cx="3145536" cy="1234440"/>
          </a:xfrm>
          <a:prstGeom prst="rect">
            <a:avLst/>
          </a:prstGeom>
          <a:noFill/>
          <a:ln/>
        </p:spPr>
        <p:txBody>
          <a:bodyPr wrap="square" lIns="0" tIns="0" rIns="0" bIns="0" rtlCol="0" anchor="t"/>
          <a:lstStyle/>
          <a:p>
            <a:pPr indent="0" marL="0">
              <a:buNone/>
            </a:pPr>
            <a:r>
              <a:rPr lang="en-US" sz="1080" dirty="0">
                <a:solidFill>
                  <a:srgbClr val="64748B"/>
                </a:solidFill>
                <a:latin typeface="Calibri" pitchFamily="34" charset="0"/>
                <a:ea typeface="Calibri" pitchFamily="34" charset="-122"/>
                <a:cs typeface="Calibri" pitchFamily="34" charset="-120"/>
              </a:rPr>
              <a:t>Create, rename, retire and reactivate leave types — history is always preserved. Employment types each carry their own allowances.</a:t>
            </a:r>
            <a:endParaRPr lang="en-US" sz="1080" dirty="0"/>
          </a:p>
        </p:txBody>
      </p:sp>
      <p:sp>
        <p:nvSpPr>
          <p:cNvPr id="25" name="Shape 19"/>
          <p:cNvSpPr/>
          <p:nvPr/>
        </p:nvSpPr>
        <p:spPr>
          <a:xfrm>
            <a:off x="4370832" y="4032504"/>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6" name="Shape 20"/>
          <p:cNvSpPr/>
          <p:nvPr/>
        </p:nvSpPr>
        <p:spPr>
          <a:xfrm>
            <a:off x="4626864" y="4270248"/>
            <a:ext cx="438912" cy="438912"/>
          </a:xfrm>
          <a:prstGeom prst="roundRect">
            <a:avLst>
              <a:gd name="adj" fmla="val 18750"/>
            </a:avLst>
          </a:prstGeom>
          <a:solidFill>
            <a:srgbClr val="EEF2FF"/>
          </a:solidFill>
          <a:ln/>
        </p:spPr>
      </p:sp>
      <p:pic>
        <p:nvPicPr>
          <p:cNvPr id="27" name="Image 4" descr="preencoded.png">    </p:cNvPr>
          <p:cNvPicPr>
            <a:picLocks noChangeAspect="1"/>
          </p:cNvPicPr>
          <p:nvPr/>
        </p:nvPicPr>
        <p:blipFill>
          <a:blip r:embed="rId5"/>
          <a:stretch>
            <a:fillRect/>
          </a:stretch>
        </p:blipFill>
        <p:spPr>
          <a:xfrm>
            <a:off x="4723425" y="4366809"/>
            <a:ext cx="245791" cy="245791"/>
          </a:xfrm>
          <a:prstGeom prst="rect">
            <a:avLst/>
          </a:prstGeom>
        </p:spPr>
      </p:pic>
      <p:sp>
        <p:nvSpPr>
          <p:cNvPr id="28" name="Text 21"/>
          <p:cNvSpPr/>
          <p:nvPr/>
        </p:nvSpPr>
        <p:spPr>
          <a:xfrm>
            <a:off x="5193792" y="4306824"/>
            <a:ext cx="2651760" cy="411480"/>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Fair by design</a:t>
            </a:r>
            <a:endParaRPr lang="en-US" sz="1450" dirty="0"/>
          </a:p>
        </p:txBody>
      </p:sp>
      <p:sp>
        <p:nvSpPr>
          <p:cNvPr id="29" name="Text 22"/>
          <p:cNvSpPr/>
          <p:nvPr/>
        </p:nvSpPr>
        <p:spPr>
          <a:xfrm>
            <a:off x="4626864" y="4782312"/>
            <a:ext cx="3145536" cy="1234440"/>
          </a:xfrm>
          <a:prstGeom prst="rect">
            <a:avLst/>
          </a:prstGeom>
          <a:noFill/>
          <a:ln/>
        </p:spPr>
        <p:txBody>
          <a:bodyPr wrap="square" lIns="0" tIns="0" rIns="0" bIns="0" rtlCol="0" anchor="t"/>
          <a:lstStyle/>
          <a:p>
            <a:pPr indent="0" marL="0">
              <a:buNone/>
            </a:pPr>
            <a:r>
              <a:rPr lang="en-US" sz="1080" dirty="0">
                <a:solidFill>
                  <a:srgbClr val="64748B"/>
                </a:solidFill>
                <a:latin typeface="Calibri" pitchFamily="34" charset="0"/>
                <a:ea typeface="Calibri" pitchFamily="34" charset="-122"/>
                <a:cs typeface="Calibri" pitchFamily="34" charset="-120"/>
              </a:rPr>
              <a:t>Policy edits are never retroactive: people keep the allowance they were granted; only future assignments get new numbers.</a:t>
            </a:r>
            <a:endParaRPr lang="en-US" sz="1080" dirty="0"/>
          </a:p>
        </p:txBody>
      </p:sp>
      <p:sp>
        <p:nvSpPr>
          <p:cNvPr id="30" name="Shape 23"/>
          <p:cNvSpPr/>
          <p:nvPr/>
        </p:nvSpPr>
        <p:spPr>
          <a:xfrm>
            <a:off x="8193024" y="4032504"/>
            <a:ext cx="3657600" cy="2084832"/>
          </a:xfrm>
          <a:prstGeom prst="roundRect">
            <a:avLst>
              <a:gd name="adj" fmla="val 438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31" name="Shape 24"/>
          <p:cNvSpPr/>
          <p:nvPr/>
        </p:nvSpPr>
        <p:spPr>
          <a:xfrm>
            <a:off x="8449056" y="4270248"/>
            <a:ext cx="438912" cy="438912"/>
          </a:xfrm>
          <a:prstGeom prst="roundRect">
            <a:avLst>
              <a:gd name="adj" fmla="val 18750"/>
            </a:avLst>
          </a:prstGeom>
          <a:solidFill>
            <a:srgbClr val="EEF2FF"/>
          </a:solidFill>
          <a:ln/>
        </p:spPr>
      </p:sp>
      <p:pic>
        <p:nvPicPr>
          <p:cNvPr id="32" name="Image 5" descr="preencoded.png">    </p:cNvPr>
          <p:cNvPicPr>
            <a:picLocks noChangeAspect="1"/>
          </p:cNvPicPr>
          <p:nvPr/>
        </p:nvPicPr>
        <p:blipFill>
          <a:blip r:embed="rId6"/>
          <a:stretch>
            <a:fillRect/>
          </a:stretch>
        </p:blipFill>
        <p:spPr>
          <a:xfrm>
            <a:off x="8545617" y="4366809"/>
            <a:ext cx="245791" cy="245791"/>
          </a:xfrm>
          <a:prstGeom prst="rect">
            <a:avLst/>
          </a:prstGeom>
        </p:spPr>
      </p:pic>
      <p:sp>
        <p:nvSpPr>
          <p:cNvPr id="33" name="Text 25"/>
          <p:cNvSpPr/>
          <p:nvPr/>
        </p:nvSpPr>
        <p:spPr>
          <a:xfrm>
            <a:off x="9015984" y="4306824"/>
            <a:ext cx="2651760" cy="411480"/>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Other settings</a:t>
            </a:r>
            <a:endParaRPr lang="en-US" sz="1450" dirty="0"/>
          </a:p>
        </p:txBody>
      </p:sp>
      <p:sp>
        <p:nvSpPr>
          <p:cNvPr id="34" name="Text 26"/>
          <p:cNvSpPr/>
          <p:nvPr/>
        </p:nvSpPr>
        <p:spPr>
          <a:xfrm>
            <a:off x="8449056" y="4782312"/>
            <a:ext cx="3145536" cy="1234440"/>
          </a:xfrm>
          <a:prstGeom prst="rect">
            <a:avLst/>
          </a:prstGeom>
          <a:noFill/>
          <a:ln/>
        </p:spPr>
        <p:txBody>
          <a:bodyPr wrap="square" lIns="0" tIns="0" rIns="0" bIns="0" rtlCol="0" anchor="t"/>
          <a:lstStyle/>
          <a:p>
            <a:pPr indent="0" marL="0">
              <a:buNone/>
            </a:pPr>
            <a:r>
              <a:rPr lang="en-US" sz="1080" dirty="0">
                <a:solidFill>
                  <a:srgbClr val="64748B"/>
                </a:solidFill>
                <a:latin typeface="Calibri" pitchFamily="34" charset="0"/>
                <a:ea typeface="Calibri" pitchFamily="34" charset="-122"/>
                <a:cs typeface="Calibri" pitchFamily="34" charset="-120"/>
              </a:rPr>
              <a:t>Org-wide options like the Feedback and HR Request form links — paste a form URL and the buttons work instantly for everyone.</a:t>
            </a:r>
            <a:endParaRPr lang="en-US" sz="1080" dirty="0"/>
          </a:p>
        </p:txBody>
      </p:sp>
      <p:sp>
        <p:nvSpPr>
          <p:cNvPr id="35" name="Text 27"/>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6" name="Text 28"/>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3 · HOW THE BETA WORKS</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Secure and reliable by design</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5349240" cy="1554480"/>
          </a:xfrm>
          <a:prstGeom prst="roundRect">
            <a:avLst>
              <a:gd name="adj" fmla="val 588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804672" y="1929384"/>
            <a:ext cx="457200" cy="457200"/>
          </a:xfrm>
          <a:prstGeom prst="roundRect">
            <a:avLst>
              <a:gd name="adj" fmla="val 18000"/>
            </a:avLst>
          </a:prstGeom>
          <a:solidFill>
            <a:srgbClr val="EEF2FF"/>
          </a:solidFill>
          <a:ln/>
        </p:spPr>
      </p:sp>
      <p:pic>
        <p:nvPicPr>
          <p:cNvPr id="7" name="Image 0" descr="preencoded.png">    </p:cNvPr>
          <p:cNvPicPr>
            <a:picLocks noChangeAspect="1"/>
          </p:cNvPicPr>
          <p:nvPr/>
        </p:nvPicPr>
        <p:blipFill>
          <a:blip r:embed="rId1"/>
          <a:stretch>
            <a:fillRect/>
          </a:stretch>
        </p:blipFill>
        <p:spPr>
          <a:xfrm>
            <a:off x="905256" y="2029968"/>
            <a:ext cx="256032" cy="256032"/>
          </a:xfrm>
          <a:prstGeom prst="rect">
            <a:avLst/>
          </a:prstGeom>
        </p:spPr>
      </p:pic>
      <p:sp>
        <p:nvSpPr>
          <p:cNvPr id="8" name="Text 5"/>
          <p:cNvSpPr/>
          <p:nvPr/>
        </p:nvSpPr>
        <p:spPr>
          <a:xfrm>
            <a:off x="1408176" y="1929384"/>
            <a:ext cx="4251960" cy="32918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Hardened sign-in</a:t>
            </a:r>
            <a:endParaRPr lang="en-US" sz="1400" dirty="0"/>
          </a:p>
        </p:txBody>
      </p:sp>
      <p:sp>
        <p:nvSpPr>
          <p:cNvPr id="9" name="Text 6"/>
          <p:cNvSpPr/>
          <p:nvPr/>
        </p:nvSpPr>
        <p:spPr>
          <a:xfrm>
            <a:off x="1408176" y="2276856"/>
            <a:ext cx="4206240" cy="914400"/>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Passwords stored encrypted, never in plain text. Optional “I'm not a robot” check. 10 failed attempts pauses that connection for 15 minutes.</a:t>
            </a:r>
            <a:endParaRPr lang="en-US" sz="1120" dirty="0"/>
          </a:p>
        </p:txBody>
      </p:sp>
      <p:sp>
        <p:nvSpPr>
          <p:cNvPr id="10" name="Shape 7"/>
          <p:cNvSpPr/>
          <p:nvPr/>
        </p:nvSpPr>
        <p:spPr>
          <a:xfrm>
            <a:off x="6263640" y="1691640"/>
            <a:ext cx="5349240" cy="1554480"/>
          </a:xfrm>
          <a:prstGeom prst="roundRect">
            <a:avLst>
              <a:gd name="adj" fmla="val 588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1" name="Shape 8"/>
          <p:cNvSpPr/>
          <p:nvPr/>
        </p:nvSpPr>
        <p:spPr>
          <a:xfrm>
            <a:off x="6519672" y="1929384"/>
            <a:ext cx="457200" cy="457200"/>
          </a:xfrm>
          <a:prstGeom prst="roundRect">
            <a:avLst>
              <a:gd name="adj" fmla="val 18000"/>
            </a:avLst>
          </a:prstGeom>
          <a:solidFill>
            <a:srgbClr val="EEF2FF"/>
          </a:solidFill>
          <a:ln/>
        </p:spPr>
      </p:sp>
      <p:pic>
        <p:nvPicPr>
          <p:cNvPr id="12" name="Image 1" descr="preencoded.png">    </p:cNvPr>
          <p:cNvPicPr>
            <a:picLocks noChangeAspect="1"/>
          </p:cNvPicPr>
          <p:nvPr/>
        </p:nvPicPr>
        <p:blipFill>
          <a:blip r:embed="rId2"/>
          <a:stretch>
            <a:fillRect/>
          </a:stretch>
        </p:blipFill>
        <p:spPr>
          <a:xfrm>
            <a:off x="6620256" y="2029968"/>
            <a:ext cx="256032" cy="256032"/>
          </a:xfrm>
          <a:prstGeom prst="rect">
            <a:avLst/>
          </a:prstGeom>
        </p:spPr>
      </p:pic>
      <p:sp>
        <p:nvSpPr>
          <p:cNvPr id="13" name="Text 9"/>
          <p:cNvSpPr/>
          <p:nvPr/>
        </p:nvSpPr>
        <p:spPr>
          <a:xfrm>
            <a:off x="7123176" y="1929384"/>
            <a:ext cx="4251960" cy="32918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Server-side truth</a:t>
            </a:r>
            <a:endParaRPr lang="en-US" sz="1400" dirty="0"/>
          </a:p>
        </p:txBody>
      </p:sp>
      <p:sp>
        <p:nvSpPr>
          <p:cNvPr id="14" name="Text 10"/>
          <p:cNvSpPr/>
          <p:nvPr/>
        </p:nvSpPr>
        <p:spPr>
          <a:xfrm>
            <a:off x="7123176" y="2276856"/>
            <a:ext cx="4206240" cy="914400"/>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Timers, balances and requests live on the server — nothing important sits in the browser. Refreshing, switching devices or long inactivity never loses data.</a:t>
            </a:r>
            <a:endParaRPr lang="en-US" sz="1120" dirty="0"/>
          </a:p>
        </p:txBody>
      </p:sp>
      <p:sp>
        <p:nvSpPr>
          <p:cNvPr id="15" name="Shape 11"/>
          <p:cNvSpPr/>
          <p:nvPr/>
        </p:nvSpPr>
        <p:spPr>
          <a:xfrm>
            <a:off x="548640" y="3502152"/>
            <a:ext cx="5349240" cy="1554480"/>
          </a:xfrm>
          <a:prstGeom prst="roundRect">
            <a:avLst>
              <a:gd name="adj" fmla="val 588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6" name="Shape 12"/>
          <p:cNvSpPr/>
          <p:nvPr/>
        </p:nvSpPr>
        <p:spPr>
          <a:xfrm>
            <a:off x="804672" y="3739896"/>
            <a:ext cx="457200" cy="457200"/>
          </a:xfrm>
          <a:prstGeom prst="roundRect">
            <a:avLst>
              <a:gd name="adj" fmla="val 18000"/>
            </a:avLst>
          </a:prstGeom>
          <a:solidFill>
            <a:srgbClr val="EEF2FF"/>
          </a:solidFill>
          <a:ln/>
        </p:spPr>
      </p:sp>
      <p:pic>
        <p:nvPicPr>
          <p:cNvPr id="17" name="Image 2" descr="preencoded.png">    </p:cNvPr>
          <p:cNvPicPr>
            <a:picLocks noChangeAspect="1"/>
          </p:cNvPicPr>
          <p:nvPr/>
        </p:nvPicPr>
        <p:blipFill>
          <a:blip r:embed="rId3"/>
          <a:stretch>
            <a:fillRect/>
          </a:stretch>
        </p:blipFill>
        <p:spPr>
          <a:xfrm>
            <a:off x="905256" y="3840480"/>
            <a:ext cx="256032" cy="256032"/>
          </a:xfrm>
          <a:prstGeom prst="rect">
            <a:avLst/>
          </a:prstGeom>
        </p:spPr>
      </p:pic>
      <p:sp>
        <p:nvSpPr>
          <p:cNvPr id="18" name="Text 13"/>
          <p:cNvSpPr/>
          <p:nvPr/>
        </p:nvSpPr>
        <p:spPr>
          <a:xfrm>
            <a:off x="1408176" y="3739896"/>
            <a:ext cx="4251960" cy="32918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Role-based access</a:t>
            </a:r>
            <a:endParaRPr lang="en-US" sz="1400" dirty="0"/>
          </a:p>
        </p:txBody>
      </p:sp>
      <p:sp>
        <p:nvSpPr>
          <p:cNvPr id="19" name="Text 14"/>
          <p:cNvSpPr/>
          <p:nvPr/>
        </p:nvSpPr>
        <p:spPr>
          <a:xfrm>
            <a:off x="1408176" y="4087368"/>
            <a:ext cx="4206240" cy="914400"/>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Every screen and API enforces the role model — managers see only their reports; private profile fields and documents stay locked down.</a:t>
            </a:r>
            <a:endParaRPr lang="en-US" sz="1120" dirty="0"/>
          </a:p>
        </p:txBody>
      </p:sp>
      <p:sp>
        <p:nvSpPr>
          <p:cNvPr id="20" name="Shape 15"/>
          <p:cNvSpPr/>
          <p:nvPr/>
        </p:nvSpPr>
        <p:spPr>
          <a:xfrm>
            <a:off x="6263640" y="3502152"/>
            <a:ext cx="5349240" cy="1554480"/>
          </a:xfrm>
          <a:prstGeom prst="roundRect">
            <a:avLst>
              <a:gd name="adj" fmla="val 588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1" name="Shape 16"/>
          <p:cNvSpPr/>
          <p:nvPr/>
        </p:nvSpPr>
        <p:spPr>
          <a:xfrm>
            <a:off x="6519672" y="3739896"/>
            <a:ext cx="457200" cy="457200"/>
          </a:xfrm>
          <a:prstGeom prst="roundRect">
            <a:avLst>
              <a:gd name="adj" fmla="val 18000"/>
            </a:avLst>
          </a:prstGeom>
          <a:solidFill>
            <a:srgbClr val="EEF2FF"/>
          </a:solidFill>
          <a:ln/>
        </p:spPr>
      </p:sp>
      <p:pic>
        <p:nvPicPr>
          <p:cNvPr id="22" name="Image 3" descr="preencoded.png">    </p:cNvPr>
          <p:cNvPicPr>
            <a:picLocks noChangeAspect="1"/>
          </p:cNvPicPr>
          <p:nvPr/>
        </p:nvPicPr>
        <p:blipFill>
          <a:blip r:embed="rId4"/>
          <a:stretch>
            <a:fillRect/>
          </a:stretch>
        </p:blipFill>
        <p:spPr>
          <a:xfrm>
            <a:off x="6620256" y="3840480"/>
            <a:ext cx="256032" cy="256032"/>
          </a:xfrm>
          <a:prstGeom prst="rect">
            <a:avLst/>
          </a:prstGeom>
        </p:spPr>
      </p:pic>
      <p:sp>
        <p:nvSpPr>
          <p:cNvPr id="23" name="Text 17"/>
          <p:cNvSpPr/>
          <p:nvPr/>
        </p:nvSpPr>
        <p:spPr>
          <a:xfrm>
            <a:off x="7123176" y="3739896"/>
            <a:ext cx="4251960" cy="32918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Always consistent</a:t>
            </a:r>
            <a:endParaRPr lang="en-US" sz="1400" dirty="0"/>
          </a:p>
        </p:txBody>
      </p:sp>
      <p:sp>
        <p:nvSpPr>
          <p:cNvPr id="24" name="Text 18"/>
          <p:cNvSpPr/>
          <p:nvPr/>
        </p:nvSpPr>
        <p:spPr>
          <a:xfrm>
            <a:off x="7123176" y="4087368"/>
            <a:ext cx="4206240" cy="914400"/>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Nightly jobs close forgotten timers; balances are re-verified at approval time; retired policies keep their history.</a:t>
            </a:r>
            <a:endParaRPr lang="en-US" sz="1120" dirty="0"/>
          </a:p>
        </p:txBody>
      </p:sp>
      <p:sp>
        <p:nvSpPr>
          <p:cNvPr id="25" name="Shape 19"/>
          <p:cNvSpPr/>
          <p:nvPr/>
        </p:nvSpPr>
        <p:spPr>
          <a:xfrm>
            <a:off x="548640" y="5349240"/>
            <a:ext cx="11064240" cy="777240"/>
          </a:xfrm>
          <a:prstGeom prst="roundRect">
            <a:avLst>
              <a:gd name="adj" fmla="val 11765"/>
            </a:avLst>
          </a:prstGeom>
          <a:solidFill>
            <a:srgbClr val="0F172A"/>
          </a:solidFill>
          <a:ln w="12700">
            <a:solidFill>
              <a:srgbClr val="0F172A"/>
            </a:solidFill>
            <a:prstDash val="solid"/>
          </a:ln>
          <a:effectLst>
            <a:outerShdw sx="100000" sy="100000" kx="0" ky="0" algn="bl" rotWithShape="0" blurRad="76200" dist="12700" dir="5400000">
              <a:srgbClr val="94A3B8">
                <a:alpha val="18000"/>
              </a:srgbClr>
            </a:outerShdw>
          </a:effectLst>
        </p:spPr>
      </p:sp>
      <p:sp>
        <p:nvSpPr>
          <p:cNvPr id="26" name="Text 20"/>
          <p:cNvSpPr/>
          <p:nvPr/>
        </p:nvSpPr>
        <p:spPr>
          <a:xfrm>
            <a:off x="914400" y="5349240"/>
            <a:ext cx="10424160" cy="777240"/>
          </a:xfrm>
          <a:prstGeom prst="rect">
            <a:avLst/>
          </a:prstGeom>
          <a:noFill/>
          <a:ln/>
        </p:spPr>
        <p:txBody>
          <a:bodyPr wrap="square" lIns="0" tIns="0" rIns="0" bIns="0" rtlCol="0" anchor="ctr"/>
          <a:lstStyle/>
          <a:p>
            <a:pPr indent="0" marL="0">
              <a:buNone/>
            </a:pPr>
            <a:r>
              <a:rPr lang="en-US" sz="1300" b="1" dirty="0">
                <a:solidFill>
                  <a:srgbClr val="818CF8"/>
                </a:solidFill>
                <a:latin typeface="Calibri" pitchFamily="34" charset="0"/>
                <a:ea typeface="Calibri" pitchFamily="34" charset="-122"/>
                <a:cs typeface="Calibri" pitchFamily="34" charset="-120"/>
              </a:rPr>
              <a:t>Modern stack:  </a:t>
            </a:r>
            <a:pPr indent="0" marL="0">
              <a:buNone/>
            </a:pPr>
            <a:r>
              <a:rPr lang="en-US" sz="1300" dirty="0">
                <a:solidFill>
                  <a:srgbClr val="E2E8F0"/>
                </a:solidFill>
                <a:latin typeface="Calibri" pitchFamily="34" charset="0"/>
                <a:ea typeface="Calibri" pitchFamily="34" charset="-122"/>
                <a:cs typeface="Calibri" pitchFamily="34" charset="-120"/>
              </a:rPr>
              <a:t>React 19  ·  Vite  ·  Node.js + Express  ·  MongoDB   —   fast, responsive on desktop &amp; mobile, ten workspace themes</a:t>
            </a:r>
            <a:endParaRPr lang="en-US" sz="1300" dirty="0"/>
          </a:p>
        </p:txBody>
      </p:sp>
      <p:sp>
        <p:nvSpPr>
          <p:cNvPr id="27" name="Text 21"/>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8" name="Text 2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10424160" y="-182880"/>
            <a:ext cx="1828800" cy="1828800"/>
          </a:xfrm>
          <a:prstGeom prst="ellipse">
            <a:avLst/>
          </a:prstGeom>
          <a:ln w="12700">
            <a:solidFill>
              <a:srgbClr val="818CF8">
                <a:alpha val="18000"/>
              </a:srgbClr>
            </a:solidFill>
            <a:prstDash val="solid"/>
          </a:ln>
        </p:spPr>
      </p:sp>
      <p:sp>
        <p:nvSpPr>
          <p:cNvPr id="3" name="Shape 1"/>
          <p:cNvSpPr/>
          <p:nvPr/>
        </p:nvSpPr>
        <p:spPr>
          <a:xfrm>
            <a:off x="9692640" y="-914400"/>
            <a:ext cx="3291840" cy="3291840"/>
          </a:xfrm>
          <a:prstGeom prst="ellipse">
            <a:avLst/>
          </a:prstGeom>
          <a:ln w="12700">
            <a:solidFill>
              <a:srgbClr val="818CF8">
                <a:alpha val="18000"/>
              </a:srgbClr>
            </a:solidFill>
            <a:prstDash val="solid"/>
          </a:ln>
        </p:spPr>
      </p:sp>
      <p:sp>
        <p:nvSpPr>
          <p:cNvPr id="4" name="Shape 2"/>
          <p:cNvSpPr/>
          <p:nvPr/>
        </p:nvSpPr>
        <p:spPr>
          <a:xfrm>
            <a:off x="8869680" y="-1737360"/>
            <a:ext cx="4937760" cy="4937760"/>
          </a:xfrm>
          <a:prstGeom prst="ellipse">
            <a:avLst/>
          </a:prstGeom>
          <a:ln w="12700">
            <a:solidFill>
              <a:srgbClr val="818CF8">
                <a:alpha val="18000"/>
              </a:srgbClr>
            </a:solidFill>
            <a:prstDash val="solid"/>
          </a:ln>
        </p:spPr>
      </p:sp>
      <p:sp>
        <p:nvSpPr>
          <p:cNvPr id="5" name="Text 3"/>
          <p:cNvSpPr/>
          <p:nvPr/>
        </p:nvSpPr>
        <p:spPr>
          <a:xfrm>
            <a:off x="548640" y="457200"/>
            <a:ext cx="7315200" cy="292608"/>
          </a:xfrm>
          <a:prstGeom prst="rect">
            <a:avLst/>
          </a:prstGeom>
          <a:noFill/>
          <a:ln/>
        </p:spPr>
        <p:txBody>
          <a:bodyPr wrap="square" lIns="0" tIns="0" rIns="0" bIns="0" rtlCol="0" anchor="ctr"/>
          <a:lstStyle/>
          <a:p>
            <a:pPr indent="0" marL="0">
              <a:buNone/>
            </a:pPr>
            <a:r>
              <a:rPr lang="en-US" sz="1200" b="1" spc="300" kern="0" dirty="0">
                <a:solidFill>
                  <a:srgbClr val="818CF8"/>
                </a:solidFill>
                <a:latin typeface="Calibri" pitchFamily="34" charset="0"/>
                <a:ea typeface="Calibri" pitchFamily="34" charset="-122"/>
                <a:cs typeface="Calibri" pitchFamily="34" charset="-120"/>
              </a:rPr>
              <a:t>PART 4 · LIVE DEMONSTRATION</a:t>
            </a:r>
            <a:endParaRPr lang="en-US" sz="1200" dirty="0"/>
          </a:p>
        </p:txBody>
      </p:sp>
      <p:sp>
        <p:nvSpPr>
          <p:cNvPr id="6" name="Text 4"/>
          <p:cNvSpPr/>
          <p:nvPr/>
        </p:nvSpPr>
        <p:spPr>
          <a:xfrm>
            <a:off x="548640" y="749808"/>
            <a:ext cx="100584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request, end to end</a:t>
            </a:r>
            <a:endParaRPr lang="en-US" sz="3200" dirty="0"/>
          </a:p>
        </p:txBody>
      </p:sp>
      <p:sp>
        <p:nvSpPr>
          <p:cNvPr id="7" name="Text 5"/>
          <p:cNvSpPr/>
          <p:nvPr/>
        </p:nvSpPr>
        <p:spPr>
          <a:xfrm>
            <a:off x="566928" y="1389888"/>
            <a:ext cx="9144000" cy="320040"/>
          </a:xfrm>
          <a:prstGeom prst="rect">
            <a:avLst/>
          </a:prstGeom>
          <a:noFill/>
          <a:ln/>
        </p:spPr>
        <p:txBody>
          <a:bodyPr wrap="square" lIns="0" tIns="0" rIns="0" bIns="0" rtlCol="0" anchor="ctr"/>
          <a:lstStyle/>
          <a:p>
            <a:pPr indent="0" marL="0">
              <a:buNone/>
            </a:pPr>
            <a:r>
              <a:rPr lang="en-US" sz="1400" i="1" dirty="0">
                <a:solidFill>
                  <a:srgbClr val="94A3B8"/>
                </a:solidFill>
                <a:latin typeface="Calibri" pitchFamily="34" charset="0"/>
                <a:ea typeface="Calibri" pitchFamily="34" charset="-122"/>
                <a:cs typeface="Calibri" pitchFamily="34" charset="-120"/>
              </a:rPr>
              <a:t>Three roles, ten minutes — the real application, live.</a:t>
            </a:r>
            <a:endParaRPr lang="en-US" sz="1400" dirty="0"/>
          </a:p>
        </p:txBody>
      </p:sp>
      <p:sp>
        <p:nvSpPr>
          <p:cNvPr id="8" name="Shape 6"/>
          <p:cNvSpPr/>
          <p:nvPr/>
        </p:nvSpPr>
        <p:spPr>
          <a:xfrm>
            <a:off x="548640" y="1965960"/>
            <a:ext cx="5394960" cy="969264"/>
          </a:xfrm>
          <a:prstGeom prst="roundRect">
            <a:avLst>
              <a:gd name="adj" fmla="val 8491"/>
            </a:avLst>
          </a:prstGeom>
          <a:solidFill>
            <a:srgbClr val="111C33"/>
          </a:solidFill>
          <a:ln w="12700">
            <a:solidFill>
              <a:srgbClr val="1E293B"/>
            </a:solidFill>
            <a:prstDash val="solid"/>
          </a:ln>
        </p:spPr>
      </p:sp>
      <p:sp>
        <p:nvSpPr>
          <p:cNvPr id="9" name="Shape 7"/>
          <p:cNvSpPr/>
          <p:nvPr/>
        </p:nvSpPr>
        <p:spPr>
          <a:xfrm>
            <a:off x="731520" y="2221992"/>
            <a:ext cx="457200" cy="457200"/>
          </a:xfrm>
          <a:prstGeom prst="roundRect">
            <a:avLst>
              <a:gd name="adj" fmla="val 20000"/>
            </a:avLst>
          </a:prstGeom>
          <a:solidFill>
            <a:srgbClr val="4F46E5"/>
          </a:solidFill>
          <a:ln/>
        </p:spPr>
      </p:sp>
      <p:sp>
        <p:nvSpPr>
          <p:cNvPr id="10" name="Text 8"/>
          <p:cNvSpPr/>
          <p:nvPr/>
        </p:nvSpPr>
        <p:spPr>
          <a:xfrm>
            <a:off x="731520" y="222199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1" name="Text 9"/>
          <p:cNvSpPr/>
          <p:nvPr/>
        </p:nvSpPr>
        <p:spPr>
          <a:xfrm>
            <a:off x="1353312" y="2112264"/>
            <a:ext cx="4434840"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Sign in as an employee</a:t>
            </a:r>
            <a:endParaRPr lang="en-US" sz="1350" dirty="0"/>
          </a:p>
        </p:txBody>
      </p:sp>
      <p:sp>
        <p:nvSpPr>
          <p:cNvPr id="12" name="Text 10"/>
          <p:cNvSpPr/>
          <p:nvPr/>
        </p:nvSpPr>
        <p:spPr>
          <a:xfrm>
            <a:off x="1353312" y="2441448"/>
            <a:ext cx="4434840" cy="4114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The dashboard: headline numbers, timer, balance, documents</a:t>
            </a:r>
            <a:endParaRPr lang="en-US" sz="1100" dirty="0"/>
          </a:p>
        </p:txBody>
      </p:sp>
      <p:sp>
        <p:nvSpPr>
          <p:cNvPr id="13" name="Shape 11"/>
          <p:cNvSpPr/>
          <p:nvPr/>
        </p:nvSpPr>
        <p:spPr>
          <a:xfrm>
            <a:off x="6263640" y="1965960"/>
            <a:ext cx="5394960" cy="969264"/>
          </a:xfrm>
          <a:prstGeom prst="roundRect">
            <a:avLst>
              <a:gd name="adj" fmla="val 8491"/>
            </a:avLst>
          </a:prstGeom>
          <a:solidFill>
            <a:srgbClr val="111C33"/>
          </a:solidFill>
          <a:ln w="12700">
            <a:solidFill>
              <a:srgbClr val="1E293B"/>
            </a:solidFill>
            <a:prstDash val="solid"/>
          </a:ln>
        </p:spPr>
      </p:sp>
      <p:sp>
        <p:nvSpPr>
          <p:cNvPr id="14" name="Shape 12"/>
          <p:cNvSpPr/>
          <p:nvPr/>
        </p:nvSpPr>
        <p:spPr>
          <a:xfrm>
            <a:off x="6446520" y="2221992"/>
            <a:ext cx="457200" cy="457200"/>
          </a:xfrm>
          <a:prstGeom prst="roundRect">
            <a:avLst>
              <a:gd name="adj" fmla="val 20000"/>
            </a:avLst>
          </a:prstGeom>
          <a:solidFill>
            <a:srgbClr val="4F46E5"/>
          </a:solidFill>
          <a:ln/>
        </p:spPr>
      </p:sp>
      <p:sp>
        <p:nvSpPr>
          <p:cNvPr id="15" name="Text 13"/>
          <p:cNvSpPr/>
          <p:nvPr/>
        </p:nvSpPr>
        <p:spPr>
          <a:xfrm>
            <a:off x="6446520" y="222199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6" name="Text 14"/>
          <p:cNvSpPr/>
          <p:nvPr/>
        </p:nvSpPr>
        <p:spPr>
          <a:xfrm>
            <a:off x="7068312" y="2112264"/>
            <a:ext cx="4434840"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Check in</a:t>
            </a:r>
            <a:endParaRPr lang="en-US" sz="1350" dirty="0"/>
          </a:p>
        </p:txBody>
      </p:sp>
      <p:sp>
        <p:nvSpPr>
          <p:cNvPr id="17" name="Text 15"/>
          <p:cNvSpPr/>
          <p:nvPr/>
        </p:nvSpPr>
        <p:spPr>
          <a:xfrm>
            <a:off x="7068312" y="2441448"/>
            <a:ext cx="4434840" cy="4114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Start the timer — then pause and resume it</a:t>
            </a:r>
            <a:endParaRPr lang="en-US" sz="1100" dirty="0"/>
          </a:p>
        </p:txBody>
      </p:sp>
      <p:sp>
        <p:nvSpPr>
          <p:cNvPr id="18" name="Shape 16"/>
          <p:cNvSpPr/>
          <p:nvPr/>
        </p:nvSpPr>
        <p:spPr>
          <a:xfrm>
            <a:off x="548640" y="3044952"/>
            <a:ext cx="5394960" cy="969264"/>
          </a:xfrm>
          <a:prstGeom prst="roundRect">
            <a:avLst>
              <a:gd name="adj" fmla="val 8491"/>
            </a:avLst>
          </a:prstGeom>
          <a:solidFill>
            <a:srgbClr val="111C33"/>
          </a:solidFill>
          <a:ln w="12700">
            <a:solidFill>
              <a:srgbClr val="1E293B"/>
            </a:solidFill>
            <a:prstDash val="solid"/>
          </a:ln>
        </p:spPr>
      </p:sp>
      <p:sp>
        <p:nvSpPr>
          <p:cNvPr id="19" name="Shape 17"/>
          <p:cNvSpPr/>
          <p:nvPr/>
        </p:nvSpPr>
        <p:spPr>
          <a:xfrm>
            <a:off x="731520" y="3300984"/>
            <a:ext cx="457200" cy="457200"/>
          </a:xfrm>
          <a:prstGeom prst="roundRect">
            <a:avLst>
              <a:gd name="adj" fmla="val 20000"/>
            </a:avLst>
          </a:prstGeom>
          <a:solidFill>
            <a:srgbClr val="4F46E5"/>
          </a:solidFill>
          <a:ln/>
        </p:spPr>
      </p:sp>
      <p:sp>
        <p:nvSpPr>
          <p:cNvPr id="20" name="Text 18"/>
          <p:cNvSpPr/>
          <p:nvPr/>
        </p:nvSpPr>
        <p:spPr>
          <a:xfrm>
            <a:off x="731520" y="330098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1" name="Text 19"/>
          <p:cNvSpPr/>
          <p:nvPr/>
        </p:nvSpPr>
        <p:spPr>
          <a:xfrm>
            <a:off x="1353312" y="3191256"/>
            <a:ext cx="4434840"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Apply for leave</a:t>
            </a:r>
            <a:endParaRPr lang="en-US" sz="1350" dirty="0"/>
          </a:p>
        </p:txBody>
      </p:sp>
      <p:sp>
        <p:nvSpPr>
          <p:cNvPr id="22" name="Text 20"/>
          <p:cNvSpPr/>
          <p:nvPr/>
        </p:nvSpPr>
        <p:spPr>
          <a:xfrm>
            <a:off x="1353312" y="3520440"/>
            <a:ext cx="4434840" cy="4114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Custom dates and a half day, in a few clicks</a:t>
            </a:r>
            <a:endParaRPr lang="en-US" sz="1100" dirty="0"/>
          </a:p>
        </p:txBody>
      </p:sp>
      <p:sp>
        <p:nvSpPr>
          <p:cNvPr id="23" name="Shape 21"/>
          <p:cNvSpPr/>
          <p:nvPr/>
        </p:nvSpPr>
        <p:spPr>
          <a:xfrm>
            <a:off x="6263640" y="3044952"/>
            <a:ext cx="5394960" cy="969264"/>
          </a:xfrm>
          <a:prstGeom prst="roundRect">
            <a:avLst>
              <a:gd name="adj" fmla="val 8491"/>
            </a:avLst>
          </a:prstGeom>
          <a:solidFill>
            <a:srgbClr val="111C33"/>
          </a:solidFill>
          <a:ln w="12700">
            <a:solidFill>
              <a:srgbClr val="1E293B"/>
            </a:solidFill>
            <a:prstDash val="solid"/>
          </a:ln>
        </p:spPr>
      </p:sp>
      <p:sp>
        <p:nvSpPr>
          <p:cNvPr id="24" name="Shape 22"/>
          <p:cNvSpPr/>
          <p:nvPr/>
        </p:nvSpPr>
        <p:spPr>
          <a:xfrm>
            <a:off x="6446520" y="3300984"/>
            <a:ext cx="457200" cy="457200"/>
          </a:xfrm>
          <a:prstGeom prst="roundRect">
            <a:avLst>
              <a:gd name="adj" fmla="val 20000"/>
            </a:avLst>
          </a:prstGeom>
          <a:solidFill>
            <a:srgbClr val="4F46E5"/>
          </a:solidFill>
          <a:ln/>
        </p:spPr>
      </p:sp>
      <p:sp>
        <p:nvSpPr>
          <p:cNvPr id="25" name="Text 23"/>
          <p:cNvSpPr/>
          <p:nvPr/>
        </p:nvSpPr>
        <p:spPr>
          <a:xfrm>
            <a:off x="6446520" y="330098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6" name="Text 24"/>
          <p:cNvSpPr/>
          <p:nvPr/>
        </p:nvSpPr>
        <p:spPr>
          <a:xfrm>
            <a:off x="7068312" y="3191256"/>
            <a:ext cx="4434840"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Switch to the manager</a:t>
            </a:r>
            <a:endParaRPr lang="en-US" sz="1350" dirty="0"/>
          </a:p>
        </p:txBody>
      </p:sp>
      <p:sp>
        <p:nvSpPr>
          <p:cNvPr id="27" name="Text 25"/>
          <p:cNvSpPr/>
          <p:nvPr/>
        </p:nvSpPr>
        <p:spPr>
          <a:xfrm>
            <a:off x="7068312" y="3520440"/>
            <a:ext cx="4434840" cy="4114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The request is already waiting in the approvals queue</a:t>
            </a:r>
            <a:endParaRPr lang="en-US" sz="1100" dirty="0"/>
          </a:p>
        </p:txBody>
      </p:sp>
      <p:sp>
        <p:nvSpPr>
          <p:cNvPr id="28" name="Shape 26"/>
          <p:cNvSpPr/>
          <p:nvPr/>
        </p:nvSpPr>
        <p:spPr>
          <a:xfrm>
            <a:off x="548640" y="4123944"/>
            <a:ext cx="5394960" cy="969264"/>
          </a:xfrm>
          <a:prstGeom prst="roundRect">
            <a:avLst>
              <a:gd name="adj" fmla="val 8491"/>
            </a:avLst>
          </a:prstGeom>
          <a:solidFill>
            <a:srgbClr val="111C33"/>
          </a:solidFill>
          <a:ln w="12700">
            <a:solidFill>
              <a:srgbClr val="1E293B"/>
            </a:solidFill>
            <a:prstDash val="solid"/>
          </a:ln>
        </p:spPr>
      </p:sp>
      <p:sp>
        <p:nvSpPr>
          <p:cNvPr id="29" name="Shape 27"/>
          <p:cNvSpPr/>
          <p:nvPr/>
        </p:nvSpPr>
        <p:spPr>
          <a:xfrm>
            <a:off x="731520" y="4379976"/>
            <a:ext cx="457200" cy="457200"/>
          </a:xfrm>
          <a:prstGeom prst="roundRect">
            <a:avLst>
              <a:gd name="adj" fmla="val 20000"/>
            </a:avLst>
          </a:prstGeom>
          <a:solidFill>
            <a:srgbClr val="4F46E5"/>
          </a:solidFill>
          <a:ln/>
        </p:spPr>
      </p:sp>
      <p:sp>
        <p:nvSpPr>
          <p:cNvPr id="30" name="Text 28"/>
          <p:cNvSpPr/>
          <p:nvPr/>
        </p:nvSpPr>
        <p:spPr>
          <a:xfrm>
            <a:off x="731520" y="437997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31" name="Text 29"/>
          <p:cNvSpPr/>
          <p:nvPr/>
        </p:nvSpPr>
        <p:spPr>
          <a:xfrm>
            <a:off x="1353312" y="4270248"/>
            <a:ext cx="4434840"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Approve it</a:t>
            </a:r>
            <a:endParaRPr lang="en-US" sz="1350" dirty="0"/>
          </a:p>
        </p:txBody>
      </p:sp>
      <p:sp>
        <p:nvSpPr>
          <p:cNvPr id="32" name="Text 30"/>
          <p:cNvSpPr/>
          <p:nvPr/>
        </p:nvSpPr>
        <p:spPr>
          <a:xfrm>
            <a:off x="1353312" y="4599432"/>
            <a:ext cx="4434840" cy="4114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One click — with the balance double-checked automatically</a:t>
            </a:r>
            <a:endParaRPr lang="en-US" sz="1100" dirty="0"/>
          </a:p>
        </p:txBody>
      </p:sp>
      <p:sp>
        <p:nvSpPr>
          <p:cNvPr id="33" name="Shape 31"/>
          <p:cNvSpPr/>
          <p:nvPr/>
        </p:nvSpPr>
        <p:spPr>
          <a:xfrm>
            <a:off x="6263640" y="4123944"/>
            <a:ext cx="5394960" cy="969264"/>
          </a:xfrm>
          <a:prstGeom prst="roundRect">
            <a:avLst>
              <a:gd name="adj" fmla="val 8491"/>
            </a:avLst>
          </a:prstGeom>
          <a:solidFill>
            <a:srgbClr val="111C33"/>
          </a:solidFill>
          <a:ln w="12700">
            <a:solidFill>
              <a:srgbClr val="1E293B"/>
            </a:solidFill>
            <a:prstDash val="solid"/>
          </a:ln>
        </p:spPr>
      </p:sp>
      <p:sp>
        <p:nvSpPr>
          <p:cNvPr id="34" name="Shape 32"/>
          <p:cNvSpPr/>
          <p:nvPr/>
        </p:nvSpPr>
        <p:spPr>
          <a:xfrm>
            <a:off x="6446520" y="4379976"/>
            <a:ext cx="457200" cy="457200"/>
          </a:xfrm>
          <a:prstGeom prst="roundRect">
            <a:avLst>
              <a:gd name="adj" fmla="val 20000"/>
            </a:avLst>
          </a:prstGeom>
          <a:solidFill>
            <a:srgbClr val="4F46E5"/>
          </a:solidFill>
          <a:ln/>
        </p:spPr>
      </p:sp>
      <p:sp>
        <p:nvSpPr>
          <p:cNvPr id="35" name="Text 33"/>
          <p:cNvSpPr/>
          <p:nvPr/>
        </p:nvSpPr>
        <p:spPr>
          <a:xfrm>
            <a:off x="6446520" y="437997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6" name="Text 34"/>
          <p:cNvSpPr/>
          <p:nvPr/>
        </p:nvSpPr>
        <p:spPr>
          <a:xfrm>
            <a:off x="7068312" y="4270248"/>
            <a:ext cx="4434840"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Back to the employee</a:t>
            </a:r>
            <a:endParaRPr lang="en-US" sz="1350" dirty="0"/>
          </a:p>
        </p:txBody>
      </p:sp>
      <p:sp>
        <p:nvSpPr>
          <p:cNvPr id="37" name="Text 35"/>
          <p:cNvSpPr/>
          <p:nvPr/>
        </p:nvSpPr>
        <p:spPr>
          <a:xfrm>
            <a:off x="7068312" y="4599432"/>
            <a:ext cx="4434840" cy="4114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Notification received, balance updated, calendar marked</a:t>
            </a:r>
            <a:endParaRPr lang="en-US" sz="1100" dirty="0"/>
          </a:p>
        </p:txBody>
      </p:sp>
      <p:sp>
        <p:nvSpPr>
          <p:cNvPr id="38" name="Shape 36"/>
          <p:cNvSpPr/>
          <p:nvPr/>
        </p:nvSpPr>
        <p:spPr>
          <a:xfrm>
            <a:off x="548640" y="5202936"/>
            <a:ext cx="5394960" cy="969264"/>
          </a:xfrm>
          <a:prstGeom prst="roundRect">
            <a:avLst>
              <a:gd name="adj" fmla="val 8491"/>
            </a:avLst>
          </a:prstGeom>
          <a:solidFill>
            <a:srgbClr val="111C33"/>
          </a:solidFill>
          <a:ln w="12700">
            <a:solidFill>
              <a:srgbClr val="1E293B"/>
            </a:solidFill>
            <a:prstDash val="solid"/>
          </a:ln>
        </p:spPr>
      </p:sp>
      <p:sp>
        <p:nvSpPr>
          <p:cNvPr id="39" name="Shape 37"/>
          <p:cNvSpPr/>
          <p:nvPr/>
        </p:nvSpPr>
        <p:spPr>
          <a:xfrm>
            <a:off x="731520" y="5458968"/>
            <a:ext cx="457200" cy="457200"/>
          </a:xfrm>
          <a:prstGeom prst="roundRect">
            <a:avLst>
              <a:gd name="adj" fmla="val 20000"/>
            </a:avLst>
          </a:prstGeom>
          <a:solidFill>
            <a:srgbClr val="4F46E5"/>
          </a:solidFill>
          <a:ln/>
        </p:spPr>
      </p:sp>
      <p:sp>
        <p:nvSpPr>
          <p:cNvPr id="40" name="Text 38"/>
          <p:cNvSpPr/>
          <p:nvPr/>
        </p:nvSpPr>
        <p:spPr>
          <a:xfrm>
            <a:off x="731520" y="545896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7</a:t>
            </a:r>
            <a:endParaRPr lang="en-US" sz="1600" dirty="0"/>
          </a:p>
        </p:txBody>
      </p:sp>
      <p:sp>
        <p:nvSpPr>
          <p:cNvPr id="41" name="Text 39"/>
          <p:cNvSpPr/>
          <p:nvPr/>
        </p:nvSpPr>
        <p:spPr>
          <a:xfrm>
            <a:off x="1353312" y="5349240"/>
            <a:ext cx="4434840"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The team calendar</a:t>
            </a:r>
            <a:endParaRPr lang="en-US" sz="1350" dirty="0"/>
          </a:p>
        </p:txBody>
      </p:sp>
      <p:sp>
        <p:nvSpPr>
          <p:cNvPr id="42" name="Text 40"/>
          <p:cNvSpPr/>
          <p:nvPr/>
        </p:nvSpPr>
        <p:spPr>
          <a:xfrm>
            <a:off x="1353312" y="5678424"/>
            <a:ext cx="4434840" cy="4114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Everyone can see who's out — but never why</a:t>
            </a:r>
            <a:endParaRPr lang="en-US" sz="1100" dirty="0"/>
          </a:p>
        </p:txBody>
      </p:sp>
      <p:sp>
        <p:nvSpPr>
          <p:cNvPr id="43" name="Shape 41"/>
          <p:cNvSpPr/>
          <p:nvPr/>
        </p:nvSpPr>
        <p:spPr>
          <a:xfrm>
            <a:off x="6263640" y="5202936"/>
            <a:ext cx="5394960" cy="969264"/>
          </a:xfrm>
          <a:prstGeom prst="roundRect">
            <a:avLst>
              <a:gd name="adj" fmla="val 8491"/>
            </a:avLst>
          </a:prstGeom>
          <a:solidFill>
            <a:srgbClr val="111C33"/>
          </a:solidFill>
          <a:ln w="12700">
            <a:solidFill>
              <a:srgbClr val="1E293B"/>
            </a:solidFill>
            <a:prstDash val="solid"/>
          </a:ln>
        </p:spPr>
      </p:sp>
      <p:sp>
        <p:nvSpPr>
          <p:cNvPr id="44" name="Shape 42"/>
          <p:cNvSpPr/>
          <p:nvPr/>
        </p:nvSpPr>
        <p:spPr>
          <a:xfrm>
            <a:off x="6446520" y="5458968"/>
            <a:ext cx="457200" cy="457200"/>
          </a:xfrm>
          <a:prstGeom prst="roundRect">
            <a:avLst>
              <a:gd name="adj" fmla="val 20000"/>
            </a:avLst>
          </a:prstGeom>
          <a:solidFill>
            <a:srgbClr val="4F46E5"/>
          </a:solidFill>
          <a:ln/>
        </p:spPr>
      </p:sp>
      <p:sp>
        <p:nvSpPr>
          <p:cNvPr id="45" name="Text 43"/>
          <p:cNvSpPr/>
          <p:nvPr/>
        </p:nvSpPr>
        <p:spPr>
          <a:xfrm>
            <a:off x="6446520" y="545896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8</a:t>
            </a:r>
            <a:endParaRPr lang="en-US" sz="1600" dirty="0"/>
          </a:p>
        </p:txBody>
      </p:sp>
      <p:sp>
        <p:nvSpPr>
          <p:cNvPr id="46" name="Text 44"/>
          <p:cNvSpPr/>
          <p:nvPr/>
        </p:nvSpPr>
        <p:spPr>
          <a:xfrm>
            <a:off x="7068312" y="5349240"/>
            <a:ext cx="4434840"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 peek at admin</a:t>
            </a:r>
            <a:endParaRPr lang="en-US" sz="1350" dirty="0"/>
          </a:p>
        </p:txBody>
      </p:sp>
      <p:sp>
        <p:nvSpPr>
          <p:cNvPr id="47" name="Text 45"/>
          <p:cNvSpPr/>
          <p:nvPr/>
        </p:nvSpPr>
        <p:spPr>
          <a:xfrm>
            <a:off x="7068312" y="5678424"/>
            <a:ext cx="4434840" cy="4114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People, policies, and the live organization tree</a:t>
            </a:r>
            <a:endParaRPr lang="en-US" sz="1100" dirty="0"/>
          </a:p>
        </p:txBody>
      </p:sp>
      <p:sp>
        <p:nvSpPr>
          <p:cNvPr id="48" name="Text 46"/>
          <p:cNvSpPr/>
          <p:nvPr/>
        </p:nvSpPr>
        <p:spPr>
          <a:xfrm>
            <a:off x="548640" y="6419088"/>
            <a:ext cx="10058400" cy="292608"/>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Keep this slide up while switching to the browser — it's the map of where we're going.</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5 · WHERE ORBIT GOES NEXT</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The road beyond beta</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3611880" cy="3794760"/>
          </a:xfrm>
          <a:prstGeom prst="roundRect">
            <a:avLst>
              <a:gd name="adj" fmla="val 2532"/>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822960" y="1965960"/>
            <a:ext cx="493776" cy="493776"/>
          </a:xfrm>
          <a:prstGeom prst="roundRect">
            <a:avLst>
              <a:gd name="adj" fmla="val 16667"/>
            </a:avLst>
          </a:prstGeom>
          <a:solidFill>
            <a:srgbClr val="E0E7FF"/>
          </a:solidFill>
          <a:ln/>
        </p:spPr>
      </p:sp>
      <p:pic>
        <p:nvPicPr>
          <p:cNvPr id="7" name="Image 0" descr="preencoded.png">    </p:cNvPr>
          <p:cNvPicPr>
            <a:picLocks noChangeAspect="1"/>
          </p:cNvPicPr>
          <p:nvPr/>
        </p:nvPicPr>
        <p:blipFill>
          <a:blip r:embed="rId1"/>
          <a:stretch>
            <a:fillRect/>
          </a:stretch>
        </p:blipFill>
        <p:spPr>
          <a:xfrm>
            <a:off x="931591" y="2074591"/>
            <a:ext cx="276515" cy="276515"/>
          </a:xfrm>
          <a:prstGeom prst="rect">
            <a:avLst/>
          </a:prstGeom>
        </p:spPr>
      </p:pic>
      <p:sp>
        <p:nvSpPr>
          <p:cNvPr id="8" name="Text 5"/>
          <p:cNvSpPr/>
          <p:nvPr/>
        </p:nvSpPr>
        <p:spPr>
          <a:xfrm>
            <a:off x="822960" y="2606040"/>
            <a:ext cx="3063240" cy="594360"/>
          </a:xfrm>
          <a:prstGeom prst="rect">
            <a:avLst/>
          </a:prstGeom>
          <a:noFill/>
          <a:ln/>
        </p:spPr>
        <p:txBody>
          <a:bodyPr wrap="square" lIns="0" tIns="0" rIns="0" bIns="0" rtlCol="0" anchor="t"/>
          <a:lstStyle/>
          <a:p>
            <a:pPr indent="0" marL="0">
              <a:buNone/>
            </a:pPr>
            <a:r>
              <a:rPr lang="en-US" sz="1600" b="1" dirty="0">
                <a:solidFill>
                  <a:srgbClr val="0F172A"/>
                </a:solidFill>
                <a:latin typeface="Cambria" pitchFamily="34" charset="0"/>
                <a:ea typeface="Cambria" pitchFamily="34" charset="-122"/>
                <a:cs typeface="Cambria" pitchFamily="34" charset="-120"/>
              </a:rPr>
              <a:t>Now — hardening the beta</a:t>
            </a:r>
            <a:endParaRPr lang="en-US" sz="1600" dirty="0"/>
          </a:p>
        </p:txBody>
      </p:sp>
      <p:sp>
        <p:nvSpPr>
          <p:cNvPr id="9" name="Text 6"/>
          <p:cNvSpPr/>
          <p:nvPr/>
        </p:nvSpPr>
        <p:spPr>
          <a:xfrm>
            <a:off x="822960" y="3172968"/>
            <a:ext cx="306324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The next few weeks</a:t>
            </a:r>
            <a:endParaRPr lang="en-US" sz="1050" dirty="0"/>
          </a:p>
        </p:txBody>
      </p:sp>
      <p:sp>
        <p:nvSpPr>
          <p:cNvPr id="10" name="Text 7"/>
          <p:cNvSpPr/>
          <p:nvPr/>
        </p:nvSpPr>
        <p:spPr>
          <a:xfrm>
            <a:off x="841248" y="3566160"/>
            <a:ext cx="3044952" cy="1737360"/>
          </a:xfrm>
          <a:prstGeom prst="rect">
            <a:avLst/>
          </a:prstGeom>
          <a:noFill/>
          <a:ln/>
        </p:spPr>
        <p:txBody>
          <a:bodyPr wrap="square" lIns="0" tIns="0" rIns="0" bIns="0" rtlCol="0" anchor="t"/>
          <a:lstStyle/>
          <a:p>
            <a:pPr marL="127000" indent="-127000">
              <a:spcAft>
                <a:spcPts val="1000"/>
              </a:spcAft>
              <a:buSzPct val="100000"/>
              <a:buChar char="•"/>
            </a:pPr>
            <a:r>
              <a:rPr lang="en-US" sz="1250" dirty="0">
                <a:solidFill>
                  <a:srgbClr val="0F172A"/>
                </a:solidFill>
                <a:latin typeface="Calibri" pitchFamily="34" charset="0"/>
                <a:ea typeface="Calibri" pitchFamily="34" charset="-122"/>
                <a:cs typeface="Calibri" pitchFamily="34" charset="-120"/>
              </a:rPr>
              <a:t>Fixes and polish driven by your feedback</a:t>
            </a:r>
            <a:endParaRPr lang="en-US" sz="1250" dirty="0"/>
          </a:p>
          <a:p>
            <a:pPr marL="127000" indent="-127000">
              <a:spcAft>
                <a:spcPts val="1000"/>
              </a:spcAft>
              <a:buSzPct val="100000"/>
              <a:buChar char="•"/>
            </a:pPr>
            <a:r>
              <a:rPr lang="en-US" sz="1250" dirty="0">
                <a:solidFill>
                  <a:srgbClr val="0F172A"/>
                </a:solidFill>
                <a:latin typeface="Calibri" pitchFamily="34" charset="0"/>
                <a:ea typeface="Calibri" pitchFamily="34" charset="-122"/>
                <a:cs typeface="Calibri" pitchFamily="34" charset="-120"/>
              </a:rPr>
              <a:t>Performance and mobile refinements</a:t>
            </a:r>
            <a:endParaRPr lang="en-US" sz="1250" dirty="0"/>
          </a:p>
          <a:p>
            <a:pPr marL="127000" indent="-127000">
              <a:spcAft>
                <a:spcPts val="1000"/>
              </a:spcAft>
              <a:buSzPct val="100000"/>
              <a:buChar char="•"/>
            </a:pPr>
            <a:r>
              <a:rPr lang="en-US" sz="1250" dirty="0">
                <a:solidFill>
                  <a:srgbClr val="0F172A"/>
                </a:solidFill>
                <a:latin typeface="Calibri" pitchFamily="34" charset="0"/>
                <a:ea typeface="Calibri" pitchFamily="34" charset="-122"/>
                <a:cs typeface="Calibri" pitchFamily="34" charset="-120"/>
              </a:rPr>
              <a:t>Deeper attendance analytics</a:t>
            </a:r>
            <a:endParaRPr lang="en-US" sz="1250" dirty="0"/>
          </a:p>
        </p:txBody>
      </p:sp>
      <p:sp>
        <p:nvSpPr>
          <p:cNvPr id="11" name="Shape 8"/>
          <p:cNvSpPr/>
          <p:nvPr/>
        </p:nvSpPr>
        <p:spPr>
          <a:xfrm>
            <a:off x="4352544" y="1691640"/>
            <a:ext cx="3611880" cy="3794760"/>
          </a:xfrm>
          <a:prstGeom prst="roundRect">
            <a:avLst>
              <a:gd name="adj" fmla="val 253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2" name="Shape 9"/>
          <p:cNvSpPr/>
          <p:nvPr/>
        </p:nvSpPr>
        <p:spPr>
          <a:xfrm>
            <a:off x="4626864" y="1965960"/>
            <a:ext cx="493776" cy="493776"/>
          </a:xfrm>
          <a:prstGeom prst="roundRect">
            <a:avLst>
              <a:gd name="adj" fmla="val 16667"/>
            </a:avLst>
          </a:prstGeom>
          <a:solidFill>
            <a:srgbClr val="EEF2FF"/>
          </a:solidFill>
          <a:ln/>
        </p:spPr>
      </p:sp>
      <p:pic>
        <p:nvPicPr>
          <p:cNvPr id="13" name="Image 1" descr="preencoded.png">    </p:cNvPr>
          <p:cNvPicPr>
            <a:picLocks noChangeAspect="1"/>
          </p:cNvPicPr>
          <p:nvPr/>
        </p:nvPicPr>
        <p:blipFill>
          <a:blip r:embed="rId2"/>
          <a:stretch>
            <a:fillRect/>
          </a:stretch>
        </p:blipFill>
        <p:spPr>
          <a:xfrm>
            <a:off x="4735495" y="2074591"/>
            <a:ext cx="276515" cy="276515"/>
          </a:xfrm>
          <a:prstGeom prst="rect">
            <a:avLst/>
          </a:prstGeom>
        </p:spPr>
      </p:pic>
      <p:sp>
        <p:nvSpPr>
          <p:cNvPr id="14" name="Text 10"/>
          <p:cNvSpPr/>
          <p:nvPr/>
        </p:nvSpPr>
        <p:spPr>
          <a:xfrm>
            <a:off x="4626864" y="2606040"/>
            <a:ext cx="3063240" cy="594360"/>
          </a:xfrm>
          <a:prstGeom prst="rect">
            <a:avLst/>
          </a:prstGeom>
          <a:noFill/>
          <a:ln/>
        </p:spPr>
        <p:txBody>
          <a:bodyPr wrap="square" lIns="0" tIns="0" rIns="0" bIns="0" rtlCol="0" anchor="t"/>
          <a:lstStyle/>
          <a:p>
            <a:pPr indent="0" marL="0">
              <a:buNone/>
            </a:pPr>
            <a:r>
              <a:rPr lang="en-US" sz="1600" b="1" dirty="0">
                <a:solidFill>
                  <a:srgbClr val="0F172A"/>
                </a:solidFill>
                <a:latin typeface="Cambria" pitchFamily="34" charset="0"/>
                <a:ea typeface="Cambria" pitchFamily="34" charset="-122"/>
                <a:cs typeface="Cambria" pitchFamily="34" charset="-120"/>
              </a:rPr>
              <a:t>Next — closing the gaps</a:t>
            </a:r>
            <a:endParaRPr lang="en-US" sz="1600" dirty="0"/>
          </a:p>
        </p:txBody>
      </p:sp>
      <p:sp>
        <p:nvSpPr>
          <p:cNvPr id="15" name="Text 11"/>
          <p:cNvSpPr/>
          <p:nvPr/>
        </p:nvSpPr>
        <p:spPr>
          <a:xfrm>
            <a:off x="4626864" y="3172968"/>
            <a:ext cx="306324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After the beta stabilises</a:t>
            </a:r>
            <a:endParaRPr lang="en-US" sz="1050" dirty="0"/>
          </a:p>
        </p:txBody>
      </p:sp>
      <p:sp>
        <p:nvSpPr>
          <p:cNvPr id="16" name="Text 12"/>
          <p:cNvSpPr/>
          <p:nvPr/>
        </p:nvSpPr>
        <p:spPr>
          <a:xfrm>
            <a:off x="4645152" y="3566160"/>
            <a:ext cx="3044952" cy="1737360"/>
          </a:xfrm>
          <a:prstGeom prst="rect">
            <a:avLst/>
          </a:prstGeom>
          <a:noFill/>
          <a:ln/>
        </p:spPr>
        <p:txBody>
          <a:bodyPr wrap="square" lIns="0" tIns="0" rIns="0" bIns="0" rtlCol="0" anchor="t"/>
          <a:lstStyle/>
          <a:p>
            <a:pPr marL="127000" indent="-127000">
              <a:spcAft>
                <a:spcPts val="1000"/>
              </a:spcAft>
              <a:buSzPct val="100000"/>
              <a:buChar char="•"/>
            </a:pPr>
            <a:r>
              <a:rPr lang="en-US" sz="1250" dirty="0">
                <a:solidFill>
                  <a:srgbClr val="0F172A"/>
                </a:solidFill>
                <a:latin typeface="Calibri" pitchFamily="34" charset="0"/>
                <a:ea typeface="Calibri" pitchFamily="34" charset="-122"/>
                <a:cs typeface="Calibri" pitchFamily="34" charset="-120"/>
              </a:rPr>
              <a:t>HR reports &amp; exports (attendance, leave)</a:t>
            </a:r>
            <a:endParaRPr lang="en-US" sz="1250" dirty="0"/>
          </a:p>
          <a:p>
            <a:pPr marL="127000" indent="-127000">
              <a:spcAft>
                <a:spcPts val="1000"/>
              </a:spcAft>
              <a:buSzPct val="100000"/>
              <a:buChar char="•"/>
            </a:pPr>
            <a:r>
              <a:rPr lang="en-US" sz="1250" dirty="0">
                <a:solidFill>
                  <a:srgbClr val="0F172A"/>
                </a:solidFill>
                <a:latin typeface="Calibri" pitchFamily="34" charset="0"/>
                <a:ea typeface="Calibri" pitchFamily="34" charset="-122"/>
                <a:cs typeface="Calibri" pitchFamily="34" charset="-120"/>
              </a:rPr>
              <a:t>Email notifications alongside in-app</a:t>
            </a:r>
            <a:endParaRPr lang="en-US" sz="1250" dirty="0"/>
          </a:p>
          <a:p>
            <a:pPr marL="127000" indent="-127000">
              <a:spcAft>
                <a:spcPts val="1000"/>
              </a:spcAft>
              <a:buSzPct val="100000"/>
              <a:buChar char="•"/>
            </a:pPr>
            <a:r>
              <a:rPr lang="en-US" sz="1250" dirty="0">
                <a:solidFill>
                  <a:srgbClr val="0F172A"/>
                </a:solidFill>
                <a:latin typeface="Calibri" pitchFamily="34" charset="0"/>
                <a:ea typeface="Calibri" pitchFamily="34" charset="-122"/>
                <a:cs typeface="Calibri" pitchFamily="34" charset="-120"/>
              </a:rPr>
              <a:t>Org chart visibility beyond administrators</a:t>
            </a:r>
            <a:endParaRPr lang="en-US" sz="1250" dirty="0"/>
          </a:p>
        </p:txBody>
      </p:sp>
      <p:sp>
        <p:nvSpPr>
          <p:cNvPr id="17" name="Shape 13"/>
          <p:cNvSpPr/>
          <p:nvPr/>
        </p:nvSpPr>
        <p:spPr>
          <a:xfrm>
            <a:off x="8156448" y="1691640"/>
            <a:ext cx="3611880" cy="3794760"/>
          </a:xfrm>
          <a:prstGeom prst="roundRect">
            <a:avLst>
              <a:gd name="adj" fmla="val 253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8" name="Shape 14"/>
          <p:cNvSpPr/>
          <p:nvPr/>
        </p:nvSpPr>
        <p:spPr>
          <a:xfrm>
            <a:off x="8430768" y="1965960"/>
            <a:ext cx="493776" cy="493776"/>
          </a:xfrm>
          <a:prstGeom prst="roundRect">
            <a:avLst>
              <a:gd name="adj" fmla="val 16667"/>
            </a:avLst>
          </a:prstGeom>
          <a:solidFill>
            <a:srgbClr val="EEF2FF"/>
          </a:solidFill>
          <a:ln/>
        </p:spPr>
      </p:sp>
      <p:pic>
        <p:nvPicPr>
          <p:cNvPr id="19" name="Image 2" descr="preencoded.png">    </p:cNvPr>
          <p:cNvPicPr>
            <a:picLocks noChangeAspect="1"/>
          </p:cNvPicPr>
          <p:nvPr/>
        </p:nvPicPr>
        <p:blipFill>
          <a:blip r:embed="rId3"/>
          <a:stretch>
            <a:fillRect/>
          </a:stretch>
        </p:blipFill>
        <p:spPr>
          <a:xfrm>
            <a:off x="8539399" y="2074591"/>
            <a:ext cx="276515" cy="276515"/>
          </a:xfrm>
          <a:prstGeom prst="rect">
            <a:avLst/>
          </a:prstGeom>
        </p:spPr>
      </p:pic>
      <p:sp>
        <p:nvSpPr>
          <p:cNvPr id="20" name="Text 15"/>
          <p:cNvSpPr/>
          <p:nvPr/>
        </p:nvSpPr>
        <p:spPr>
          <a:xfrm>
            <a:off x="8430768" y="2606040"/>
            <a:ext cx="3063240" cy="594360"/>
          </a:xfrm>
          <a:prstGeom prst="rect">
            <a:avLst/>
          </a:prstGeom>
          <a:noFill/>
          <a:ln/>
        </p:spPr>
        <p:txBody>
          <a:bodyPr wrap="square" lIns="0" tIns="0" rIns="0" bIns="0" rtlCol="0" anchor="t"/>
          <a:lstStyle/>
          <a:p>
            <a:pPr indent="0" marL="0">
              <a:buNone/>
            </a:pPr>
            <a:r>
              <a:rPr lang="en-US" sz="1600" b="1" dirty="0">
                <a:solidFill>
                  <a:srgbClr val="0F172A"/>
                </a:solidFill>
                <a:latin typeface="Cambria" pitchFamily="34" charset="0"/>
                <a:ea typeface="Cambria" pitchFamily="34" charset="-122"/>
                <a:cs typeface="Cambria" pitchFamily="34" charset="-120"/>
              </a:rPr>
              <a:t>Later — the bigger picture</a:t>
            </a:r>
            <a:endParaRPr lang="en-US" sz="1600" dirty="0"/>
          </a:p>
        </p:txBody>
      </p:sp>
      <p:sp>
        <p:nvSpPr>
          <p:cNvPr id="21" name="Text 16"/>
          <p:cNvSpPr/>
          <p:nvPr/>
        </p:nvSpPr>
        <p:spPr>
          <a:xfrm>
            <a:off x="8430768" y="3172968"/>
            <a:ext cx="306324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Under exploration</a:t>
            </a:r>
            <a:endParaRPr lang="en-US" sz="1050" dirty="0"/>
          </a:p>
        </p:txBody>
      </p:sp>
      <p:sp>
        <p:nvSpPr>
          <p:cNvPr id="22" name="Text 17"/>
          <p:cNvSpPr/>
          <p:nvPr/>
        </p:nvSpPr>
        <p:spPr>
          <a:xfrm>
            <a:off x="8449056" y="3566160"/>
            <a:ext cx="3044952" cy="1737360"/>
          </a:xfrm>
          <a:prstGeom prst="rect">
            <a:avLst/>
          </a:prstGeom>
          <a:noFill/>
          <a:ln/>
        </p:spPr>
        <p:txBody>
          <a:bodyPr wrap="square" lIns="0" tIns="0" rIns="0" bIns="0" rtlCol="0" anchor="t"/>
          <a:lstStyle/>
          <a:p>
            <a:pPr marL="127000" indent="-127000">
              <a:spcAft>
                <a:spcPts val="1000"/>
              </a:spcAft>
              <a:buSzPct val="100000"/>
              <a:buChar char="•"/>
            </a:pPr>
            <a:r>
              <a:rPr lang="en-US" sz="1250" dirty="0">
                <a:solidFill>
                  <a:srgbClr val="0F172A"/>
                </a:solidFill>
                <a:latin typeface="Calibri" pitchFamily="34" charset="0"/>
                <a:ea typeface="Calibri" pitchFamily="34" charset="-122"/>
                <a:cs typeface="Calibri" pitchFamily="34" charset="-120"/>
              </a:rPr>
              <a:t>Payroll-ready monthly summaries</a:t>
            </a:r>
            <a:endParaRPr lang="en-US" sz="1250" dirty="0"/>
          </a:p>
          <a:p>
            <a:pPr marL="127000" indent="-127000">
              <a:spcAft>
                <a:spcPts val="1000"/>
              </a:spcAft>
              <a:buSzPct val="100000"/>
              <a:buChar char="•"/>
            </a:pPr>
            <a:r>
              <a:rPr lang="en-US" sz="1250" dirty="0">
                <a:solidFill>
                  <a:srgbClr val="0F172A"/>
                </a:solidFill>
                <a:latin typeface="Calibri" pitchFamily="34" charset="0"/>
                <a:ea typeface="Calibri" pitchFamily="34" charset="-122"/>
                <a:cs typeface="Calibri" pitchFamily="34" charset="-120"/>
              </a:rPr>
              <a:t>Native mobile app</a:t>
            </a:r>
            <a:endParaRPr lang="en-US" sz="1250" dirty="0"/>
          </a:p>
          <a:p>
            <a:pPr marL="127000" indent="-127000">
              <a:spcAft>
                <a:spcPts val="1000"/>
              </a:spcAft>
              <a:buSzPct val="100000"/>
              <a:buChar char="•"/>
            </a:pPr>
            <a:r>
              <a:rPr lang="en-US" sz="1250" dirty="0">
                <a:solidFill>
                  <a:srgbClr val="0F172A"/>
                </a:solidFill>
                <a:latin typeface="Calibri" pitchFamily="34" charset="0"/>
                <a:ea typeface="Calibri" pitchFamily="34" charset="-122"/>
                <a:cs typeface="Calibri" pitchFamily="34" charset="-120"/>
              </a:rPr>
              <a:t>Chat integrations &amp; performance cycles</a:t>
            </a:r>
            <a:endParaRPr lang="en-US" sz="1250" dirty="0"/>
          </a:p>
        </p:txBody>
      </p:sp>
      <p:sp>
        <p:nvSpPr>
          <p:cNvPr id="23" name="Shape 18"/>
          <p:cNvSpPr/>
          <p:nvPr/>
        </p:nvSpPr>
        <p:spPr>
          <a:xfrm>
            <a:off x="548640" y="5669280"/>
            <a:ext cx="11064240" cy="566928"/>
          </a:xfrm>
          <a:prstGeom prst="roundRect">
            <a:avLst>
              <a:gd name="adj" fmla="val 16129"/>
            </a:avLst>
          </a:prstGeom>
          <a:solidFill>
            <a:srgbClr val="FFFBEB"/>
          </a:solidFill>
          <a:ln w="12700">
            <a:solidFill>
              <a:srgbClr val="FDE68A"/>
            </a:solidFill>
            <a:prstDash val="solid"/>
          </a:ln>
          <a:effectLst>
            <a:outerShdw sx="100000" sy="100000" kx="0" ky="0" algn="bl" rotWithShape="0" blurRad="76200" dist="12700" dir="5400000">
              <a:srgbClr val="94A3B8">
                <a:alpha val="18000"/>
              </a:srgbClr>
            </a:outerShdw>
          </a:effectLst>
        </p:spPr>
      </p:sp>
      <p:sp>
        <p:nvSpPr>
          <p:cNvPr id="24" name="Text 19"/>
          <p:cNvSpPr/>
          <p:nvPr/>
        </p:nvSpPr>
        <p:spPr>
          <a:xfrm>
            <a:off x="868680" y="5669280"/>
            <a:ext cx="10424160" cy="566928"/>
          </a:xfrm>
          <a:prstGeom prst="rect">
            <a:avLst/>
          </a:prstGeom>
          <a:noFill/>
          <a:ln/>
        </p:spPr>
        <p:txBody>
          <a:bodyPr wrap="square" lIns="0" tIns="0" rIns="0" bIns="0" rtlCol="0" anchor="ctr"/>
          <a:lstStyle/>
          <a:p>
            <a:pPr indent="0" marL="0">
              <a:buNone/>
            </a:pPr>
            <a:r>
              <a:rPr lang="en-US" sz="1200" b="1" dirty="0">
                <a:solidFill>
                  <a:srgbClr val="92400E"/>
                </a:solidFill>
                <a:latin typeface="Calibri" pitchFamily="34" charset="0"/>
                <a:ea typeface="Calibri" pitchFamily="34" charset="-122"/>
                <a:cs typeface="Calibri" pitchFamily="34" charset="-120"/>
              </a:rPr>
              <a:t>A proposal, not a promise — </a:t>
            </a:r>
            <a:pPr indent="0" marL="0">
              <a:buNone/>
            </a:pPr>
            <a:r>
              <a:rPr lang="en-US" sz="1200" dirty="0">
                <a:solidFill>
                  <a:srgbClr val="92400E"/>
                </a:solidFill>
                <a:latin typeface="Calibri" pitchFamily="34" charset="0"/>
                <a:ea typeface="Calibri" pitchFamily="34" charset="-122"/>
                <a:cs typeface="Calibri" pitchFamily="34" charset="-120"/>
              </a:rPr>
              <a:t>beta feedback decides the order. What you report in the next month directly shapes this list.</a:t>
            </a:r>
            <a:endParaRPr lang="en-US" sz="1200" dirty="0"/>
          </a:p>
        </p:txBody>
      </p:sp>
      <p:sp>
        <p:nvSpPr>
          <p:cNvPr id="25" name="Text 20"/>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6" name="Text 21"/>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PART 6 · YOUR PART IN THE LAUNCH</a:t>
            </a:r>
            <a:endParaRPr lang="en-US" sz="1200" dirty="0"/>
          </a:p>
        </p:txBody>
      </p:sp>
      <p:sp>
        <p:nvSpPr>
          <p:cNvPr id="3" name="Text 1"/>
          <p:cNvSpPr/>
          <p:nvPr/>
        </p:nvSpPr>
        <p:spPr>
          <a:xfrm>
            <a:off x="548640" y="658368"/>
            <a:ext cx="10058400" cy="68580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What happens starting Monday</a:t>
            </a:r>
            <a:endParaRPr lang="en-US" sz="32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5349240" cy="2011680"/>
          </a:xfrm>
          <a:prstGeom prst="roundRect">
            <a:avLst>
              <a:gd name="adj" fmla="val 454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804672" y="1929384"/>
            <a:ext cx="457200" cy="457200"/>
          </a:xfrm>
          <a:prstGeom prst="roundRect">
            <a:avLst>
              <a:gd name="adj" fmla="val 18000"/>
            </a:avLst>
          </a:prstGeom>
          <a:solidFill>
            <a:srgbClr val="EEF2FF"/>
          </a:solidFill>
          <a:ln/>
        </p:spPr>
      </p:sp>
      <p:pic>
        <p:nvPicPr>
          <p:cNvPr id="7" name="Image 0" descr="preencoded.png">    </p:cNvPr>
          <p:cNvPicPr>
            <a:picLocks noChangeAspect="1"/>
          </p:cNvPicPr>
          <p:nvPr/>
        </p:nvPicPr>
        <p:blipFill>
          <a:blip r:embed="rId1"/>
          <a:stretch>
            <a:fillRect/>
          </a:stretch>
        </p:blipFill>
        <p:spPr>
          <a:xfrm>
            <a:off x="905256" y="2029968"/>
            <a:ext cx="256032" cy="256032"/>
          </a:xfrm>
          <a:prstGeom prst="rect">
            <a:avLst/>
          </a:prstGeom>
        </p:spPr>
      </p:pic>
      <p:sp>
        <p:nvSpPr>
          <p:cNvPr id="8" name="Text 5"/>
          <p:cNvSpPr/>
          <p:nvPr/>
        </p:nvSpPr>
        <p:spPr>
          <a:xfrm>
            <a:off x="1408176" y="1965960"/>
            <a:ext cx="4251960" cy="36576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Administrators &amp; HR</a:t>
            </a:r>
            <a:endParaRPr lang="en-US" sz="1600" dirty="0"/>
          </a:p>
        </p:txBody>
      </p:sp>
      <p:sp>
        <p:nvSpPr>
          <p:cNvPr id="9" name="Text 6"/>
          <p:cNvSpPr/>
          <p:nvPr/>
        </p:nvSpPr>
        <p:spPr>
          <a:xfrm>
            <a:off x="841248" y="2468880"/>
            <a:ext cx="4764024" cy="1143000"/>
          </a:xfrm>
          <a:prstGeom prst="rect">
            <a:avLst/>
          </a:prstGeom>
          <a:noFill/>
          <a:ln/>
        </p:spPr>
        <p:txBody>
          <a:bodyPr wrap="square" lIns="0" tIns="0" rIns="0" bIns="0" rtlCol="0" anchor="t"/>
          <a:lstStyle/>
          <a:p>
            <a:pPr marL="127000" indent="-127000">
              <a:spcAft>
                <a:spcPts val="700"/>
              </a:spcAft>
              <a:buSzPct val="100000"/>
              <a:buChar char="•"/>
            </a:pPr>
            <a:r>
              <a:rPr lang="en-US" sz="1180" dirty="0">
                <a:solidFill>
                  <a:srgbClr val="0F172A"/>
                </a:solidFill>
                <a:latin typeface="Calibri" pitchFamily="34" charset="0"/>
                <a:ea typeface="Calibri" pitchFamily="34" charset="-122"/>
                <a:cs typeface="Calibri" pitchFamily="34" charset="-120"/>
              </a:rPr>
              <a:t>Seed every employee, reporting line &amp; policy this week</a:t>
            </a:r>
            <a:endParaRPr lang="en-US" sz="1180" dirty="0"/>
          </a:p>
          <a:p>
            <a:pPr marL="127000" indent="-127000">
              <a:spcAft>
                <a:spcPts val="700"/>
              </a:spcAft>
              <a:buSzPct val="100000"/>
              <a:buChar char="•"/>
            </a:pPr>
            <a:r>
              <a:rPr lang="en-US" sz="1180" dirty="0">
                <a:solidFill>
                  <a:srgbClr val="0F172A"/>
                </a:solidFill>
                <a:latin typeface="Calibri" pitchFamily="34" charset="0"/>
                <a:ea typeface="Calibri" pitchFamily="34" charset="-122"/>
                <a:cs typeface="Calibri" pitchFamily="34" charset="-120"/>
              </a:rPr>
              <a:t>Configure the Feedback and HR Request form links</a:t>
            </a:r>
            <a:endParaRPr lang="en-US" sz="1180" dirty="0"/>
          </a:p>
          <a:p>
            <a:pPr marL="127000" indent="-127000">
              <a:spcAft>
                <a:spcPts val="700"/>
              </a:spcAft>
              <a:buSzPct val="100000"/>
              <a:buChar char="•"/>
            </a:pPr>
            <a:r>
              <a:rPr lang="en-US" sz="1180" dirty="0">
                <a:solidFill>
                  <a:srgbClr val="0F172A"/>
                </a:solidFill>
                <a:latin typeface="Calibri" pitchFamily="34" charset="0"/>
                <a:ea typeface="Calibri" pitchFamily="34" charset="-122"/>
                <a:cs typeface="Calibri" pitchFamily="34" charset="-120"/>
              </a:rPr>
              <a:t>Own data quality — titles, employment types, joining dates</a:t>
            </a:r>
            <a:endParaRPr lang="en-US" sz="1180" dirty="0"/>
          </a:p>
        </p:txBody>
      </p:sp>
      <p:sp>
        <p:nvSpPr>
          <p:cNvPr id="10" name="Shape 7"/>
          <p:cNvSpPr/>
          <p:nvPr/>
        </p:nvSpPr>
        <p:spPr>
          <a:xfrm>
            <a:off x="6263640" y="1691640"/>
            <a:ext cx="5349240" cy="2011680"/>
          </a:xfrm>
          <a:prstGeom prst="roundRect">
            <a:avLst>
              <a:gd name="adj" fmla="val 454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1" name="Shape 8"/>
          <p:cNvSpPr/>
          <p:nvPr/>
        </p:nvSpPr>
        <p:spPr>
          <a:xfrm>
            <a:off x="6519672" y="1929384"/>
            <a:ext cx="457200" cy="457200"/>
          </a:xfrm>
          <a:prstGeom prst="roundRect">
            <a:avLst>
              <a:gd name="adj" fmla="val 18000"/>
            </a:avLst>
          </a:prstGeom>
          <a:solidFill>
            <a:srgbClr val="EEF2FF"/>
          </a:solidFill>
          <a:ln/>
        </p:spPr>
      </p:sp>
      <p:pic>
        <p:nvPicPr>
          <p:cNvPr id="12" name="Image 1" descr="preencoded.png">    </p:cNvPr>
          <p:cNvPicPr>
            <a:picLocks noChangeAspect="1"/>
          </p:cNvPicPr>
          <p:nvPr/>
        </p:nvPicPr>
        <p:blipFill>
          <a:blip r:embed="rId2"/>
          <a:stretch>
            <a:fillRect/>
          </a:stretch>
        </p:blipFill>
        <p:spPr>
          <a:xfrm>
            <a:off x="6620256" y="2029968"/>
            <a:ext cx="256032" cy="256032"/>
          </a:xfrm>
          <a:prstGeom prst="rect">
            <a:avLst/>
          </a:prstGeom>
        </p:spPr>
      </p:pic>
      <p:sp>
        <p:nvSpPr>
          <p:cNvPr id="13" name="Text 9"/>
          <p:cNvSpPr/>
          <p:nvPr/>
        </p:nvSpPr>
        <p:spPr>
          <a:xfrm>
            <a:off x="7123176" y="1965960"/>
            <a:ext cx="4251960" cy="36576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Managers</a:t>
            </a:r>
            <a:endParaRPr lang="en-US" sz="1600" dirty="0"/>
          </a:p>
        </p:txBody>
      </p:sp>
      <p:sp>
        <p:nvSpPr>
          <p:cNvPr id="14" name="Text 10"/>
          <p:cNvSpPr/>
          <p:nvPr/>
        </p:nvSpPr>
        <p:spPr>
          <a:xfrm>
            <a:off x="6556248" y="2468880"/>
            <a:ext cx="4764024" cy="1143000"/>
          </a:xfrm>
          <a:prstGeom prst="rect">
            <a:avLst/>
          </a:prstGeom>
          <a:noFill/>
          <a:ln/>
        </p:spPr>
        <p:txBody>
          <a:bodyPr wrap="square" lIns="0" tIns="0" rIns="0" bIns="0" rtlCol="0" anchor="t"/>
          <a:lstStyle/>
          <a:p>
            <a:pPr marL="127000" indent="-127000">
              <a:spcAft>
                <a:spcPts val="700"/>
              </a:spcAft>
              <a:buSzPct val="100000"/>
              <a:buChar char="•"/>
            </a:pPr>
            <a:r>
              <a:rPr lang="en-US" sz="1180" dirty="0">
                <a:solidFill>
                  <a:srgbClr val="0F172A"/>
                </a:solidFill>
                <a:latin typeface="Calibri" pitchFamily="34" charset="0"/>
                <a:ea typeface="Calibri" pitchFamily="34" charset="-122"/>
                <a:cs typeface="Calibri" pitchFamily="34" charset="-120"/>
              </a:rPr>
              <a:t>Decide requests promptly — the queue is on your dashboard</a:t>
            </a:r>
            <a:endParaRPr lang="en-US" sz="1180" dirty="0"/>
          </a:p>
          <a:p>
            <a:pPr marL="127000" indent="-127000">
              <a:spcAft>
                <a:spcPts val="700"/>
              </a:spcAft>
              <a:buSzPct val="100000"/>
              <a:buChar char="•"/>
            </a:pPr>
            <a:r>
              <a:rPr lang="en-US" sz="1180" dirty="0">
                <a:solidFill>
                  <a:srgbClr val="0F172A"/>
                </a:solidFill>
                <a:latin typeface="Calibri" pitchFamily="34" charset="0"/>
                <a:ea typeface="Calibri" pitchFamily="34" charset="-122"/>
                <a:cs typeface="Calibri" pitchFamily="34" charset="-120"/>
              </a:rPr>
              <a:t>Keep your team's reporting lines current</a:t>
            </a:r>
            <a:endParaRPr lang="en-US" sz="1180" dirty="0"/>
          </a:p>
          <a:p>
            <a:pPr marL="127000" indent="-127000">
              <a:spcAft>
                <a:spcPts val="700"/>
              </a:spcAft>
              <a:buSzPct val="100000"/>
              <a:buChar char="•"/>
            </a:pPr>
            <a:r>
              <a:rPr lang="en-US" sz="1180" dirty="0">
                <a:solidFill>
                  <a:srgbClr val="0F172A"/>
                </a:solidFill>
                <a:latin typeface="Calibri" pitchFamily="34" charset="0"/>
                <a:ea typeface="Calibri" pitchFamily="34" charset="-122"/>
                <a:cs typeface="Calibri" pitchFamily="34" charset="-120"/>
              </a:rPr>
              <a:t>Use announcements for team updates, not scattered chats</a:t>
            </a:r>
            <a:endParaRPr lang="en-US" sz="1180" dirty="0"/>
          </a:p>
        </p:txBody>
      </p:sp>
      <p:sp>
        <p:nvSpPr>
          <p:cNvPr id="15" name="Shape 11"/>
          <p:cNvSpPr/>
          <p:nvPr/>
        </p:nvSpPr>
        <p:spPr>
          <a:xfrm>
            <a:off x="548640" y="3959352"/>
            <a:ext cx="5349240" cy="2011680"/>
          </a:xfrm>
          <a:prstGeom prst="roundRect">
            <a:avLst>
              <a:gd name="adj" fmla="val 454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6" name="Shape 12"/>
          <p:cNvSpPr/>
          <p:nvPr/>
        </p:nvSpPr>
        <p:spPr>
          <a:xfrm>
            <a:off x="804672" y="4197096"/>
            <a:ext cx="457200" cy="457200"/>
          </a:xfrm>
          <a:prstGeom prst="roundRect">
            <a:avLst>
              <a:gd name="adj" fmla="val 18000"/>
            </a:avLst>
          </a:prstGeom>
          <a:solidFill>
            <a:srgbClr val="EEF2FF"/>
          </a:solidFill>
          <a:ln/>
        </p:spPr>
      </p:sp>
      <p:pic>
        <p:nvPicPr>
          <p:cNvPr id="17" name="Image 2" descr="preencoded.png">    </p:cNvPr>
          <p:cNvPicPr>
            <a:picLocks noChangeAspect="1"/>
          </p:cNvPicPr>
          <p:nvPr/>
        </p:nvPicPr>
        <p:blipFill>
          <a:blip r:embed="rId3"/>
          <a:stretch>
            <a:fillRect/>
          </a:stretch>
        </p:blipFill>
        <p:spPr>
          <a:xfrm>
            <a:off x="905256" y="4297680"/>
            <a:ext cx="256032" cy="256032"/>
          </a:xfrm>
          <a:prstGeom prst="rect">
            <a:avLst/>
          </a:prstGeom>
        </p:spPr>
      </p:pic>
      <p:sp>
        <p:nvSpPr>
          <p:cNvPr id="18" name="Text 13"/>
          <p:cNvSpPr/>
          <p:nvPr/>
        </p:nvSpPr>
        <p:spPr>
          <a:xfrm>
            <a:off x="1408176" y="4233672"/>
            <a:ext cx="4251960" cy="36576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Every employee</a:t>
            </a:r>
            <a:endParaRPr lang="en-US" sz="1600" dirty="0"/>
          </a:p>
        </p:txBody>
      </p:sp>
      <p:sp>
        <p:nvSpPr>
          <p:cNvPr id="19" name="Text 14"/>
          <p:cNvSpPr/>
          <p:nvPr/>
        </p:nvSpPr>
        <p:spPr>
          <a:xfrm>
            <a:off x="841248" y="4736592"/>
            <a:ext cx="4764024" cy="1143000"/>
          </a:xfrm>
          <a:prstGeom prst="rect">
            <a:avLst/>
          </a:prstGeom>
          <a:noFill/>
          <a:ln/>
        </p:spPr>
        <p:txBody>
          <a:bodyPr wrap="square" lIns="0" tIns="0" rIns="0" bIns="0" rtlCol="0" anchor="t"/>
          <a:lstStyle/>
          <a:p>
            <a:pPr marL="127000" indent="-127000">
              <a:spcAft>
                <a:spcPts val="700"/>
              </a:spcAft>
              <a:buSzPct val="100000"/>
              <a:buChar char="•"/>
            </a:pPr>
            <a:r>
              <a:rPr lang="en-US" sz="1180" dirty="0">
                <a:solidFill>
                  <a:srgbClr val="0F172A"/>
                </a:solidFill>
                <a:latin typeface="Calibri" pitchFamily="34" charset="0"/>
                <a:ea typeface="Calibri" pitchFamily="34" charset="-122"/>
                <a:cs typeface="Calibri" pitchFamily="34" charset="-120"/>
              </a:rPr>
              <a:t>Check in from day one — attendance builds its own record</a:t>
            </a:r>
            <a:endParaRPr lang="en-US" sz="1180" dirty="0"/>
          </a:p>
          <a:p>
            <a:pPr marL="127000" indent="-127000">
              <a:spcAft>
                <a:spcPts val="700"/>
              </a:spcAft>
              <a:buSzPct val="100000"/>
              <a:buChar char="•"/>
            </a:pPr>
            <a:r>
              <a:rPr lang="en-US" sz="1180" dirty="0">
                <a:solidFill>
                  <a:srgbClr val="0F172A"/>
                </a:solidFill>
                <a:latin typeface="Calibri" pitchFamily="34" charset="0"/>
                <a:ea typeface="Calibri" pitchFamily="34" charset="-122"/>
                <a:cs typeface="Calibri" pitchFamily="34" charset="-120"/>
              </a:rPr>
              <a:t>Apply for leave &amp; WFH in Orbit, not over email</a:t>
            </a:r>
            <a:endParaRPr lang="en-US" sz="1180" dirty="0"/>
          </a:p>
          <a:p>
            <a:pPr marL="127000" indent="-127000">
              <a:spcAft>
                <a:spcPts val="700"/>
              </a:spcAft>
              <a:buSzPct val="100000"/>
              <a:buChar char="•"/>
            </a:pPr>
            <a:r>
              <a:rPr lang="en-US" sz="1180" dirty="0">
                <a:solidFill>
                  <a:srgbClr val="0F172A"/>
                </a:solidFill>
                <a:latin typeface="Calibri" pitchFamily="34" charset="0"/>
                <a:ea typeface="Calibri" pitchFamily="34" charset="-122"/>
                <a:cs typeface="Calibri" pitchFamily="34" charset="-120"/>
              </a:rPr>
              <a:t>Complete your profile and upload your documents</a:t>
            </a:r>
            <a:endParaRPr lang="en-US" sz="1180" dirty="0"/>
          </a:p>
        </p:txBody>
      </p:sp>
      <p:sp>
        <p:nvSpPr>
          <p:cNvPr id="20" name="Shape 15"/>
          <p:cNvSpPr/>
          <p:nvPr/>
        </p:nvSpPr>
        <p:spPr>
          <a:xfrm>
            <a:off x="6263640" y="3959352"/>
            <a:ext cx="5349240" cy="2011680"/>
          </a:xfrm>
          <a:prstGeom prst="roundRect">
            <a:avLst>
              <a:gd name="adj" fmla="val 4545"/>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21" name="Shape 16"/>
          <p:cNvSpPr/>
          <p:nvPr/>
        </p:nvSpPr>
        <p:spPr>
          <a:xfrm>
            <a:off x="6519672" y="4197096"/>
            <a:ext cx="457200" cy="457200"/>
          </a:xfrm>
          <a:prstGeom prst="roundRect">
            <a:avLst>
              <a:gd name="adj" fmla="val 18000"/>
            </a:avLst>
          </a:prstGeom>
          <a:solidFill>
            <a:srgbClr val="E0E7FF"/>
          </a:solidFill>
          <a:ln/>
        </p:spPr>
      </p:sp>
      <p:pic>
        <p:nvPicPr>
          <p:cNvPr id="22" name="Image 3" descr="preencoded.png">    </p:cNvPr>
          <p:cNvPicPr>
            <a:picLocks noChangeAspect="1"/>
          </p:cNvPicPr>
          <p:nvPr/>
        </p:nvPicPr>
        <p:blipFill>
          <a:blip r:embed="rId4"/>
          <a:stretch>
            <a:fillRect/>
          </a:stretch>
        </p:blipFill>
        <p:spPr>
          <a:xfrm>
            <a:off x="6620256" y="4297680"/>
            <a:ext cx="256032" cy="256032"/>
          </a:xfrm>
          <a:prstGeom prst="rect">
            <a:avLst/>
          </a:prstGeom>
        </p:spPr>
      </p:pic>
      <p:sp>
        <p:nvSpPr>
          <p:cNvPr id="23" name="Text 17"/>
          <p:cNvSpPr/>
          <p:nvPr/>
        </p:nvSpPr>
        <p:spPr>
          <a:xfrm>
            <a:off x="7123176" y="4233672"/>
            <a:ext cx="4251960" cy="36576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The Orbit team</a:t>
            </a:r>
            <a:endParaRPr lang="en-US" sz="1600" dirty="0"/>
          </a:p>
        </p:txBody>
      </p:sp>
      <p:sp>
        <p:nvSpPr>
          <p:cNvPr id="24" name="Text 18"/>
          <p:cNvSpPr/>
          <p:nvPr/>
        </p:nvSpPr>
        <p:spPr>
          <a:xfrm>
            <a:off x="6556248" y="4736592"/>
            <a:ext cx="4764024" cy="1143000"/>
          </a:xfrm>
          <a:prstGeom prst="rect">
            <a:avLst/>
          </a:prstGeom>
          <a:noFill/>
          <a:ln/>
        </p:spPr>
        <p:txBody>
          <a:bodyPr wrap="square" lIns="0" tIns="0" rIns="0" bIns="0" rtlCol="0" anchor="t"/>
          <a:lstStyle/>
          <a:p>
            <a:pPr marL="127000" indent="-127000">
              <a:spcAft>
                <a:spcPts val="700"/>
              </a:spcAft>
              <a:buSzPct val="100000"/>
              <a:buChar char="•"/>
            </a:pPr>
            <a:r>
              <a:rPr lang="en-US" sz="1180" dirty="0">
                <a:solidFill>
                  <a:srgbClr val="0F172A"/>
                </a:solidFill>
                <a:latin typeface="Calibri" pitchFamily="34" charset="0"/>
                <a:ea typeface="Calibri" pitchFamily="34" charset="-122"/>
                <a:cs typeface="Calibri" pitchFamily="34" charset="-120"/>
              </a:rPr>
              <a:t>Weekly fix-and-polish releases through the beta</a:t>
            </a:r>
            <a:endParaRPr lang="en-US" sz="1180" dirty="0"/>
          </a:p>
          <a:p>
            <a:pPr marL="127000" indent="-127000">
              <a:spcAft>
                <a:spcPts val="700"/>
              </a:spcAft>
              <a:buSzPct val="100000"/>
              <a:buChar char="•"/>
            </a:pPr>
            <a:r>
              <a:rPr lang="en-US" sz="1180" dirty="0">
                <a:solidFill>
                  <a:srgbClr val="0F172A"/>
                </a:solidFill>
                <a:latin typeface="Calibri" pitchFamily="34" charset="0"/>
                <a:ea typeface="Calibri" pitchFamily="34" charset="-122"/>
                <a:cs typeface="Calibri" pitchFamily="34" charset="-120"/>
              </a:rPr>
              <a:t>Every Feedback submission read and triaged</a:t>
            </a:r>
            <a:endParaRPr lang="en-US" sz="1180" dirty="0"/>
          </a:p>
          <a:p>
            <a:pPr marL="127000" indent="-127000">
              <a:spcAft>
                <a:spcPts val="700"/>
              </a:spcAft>
              <a:buSzPct val="100000"/>
              <a:buChar char="•"/>
            </a:pPr>
            <a:r>
              <a:rPr lang="en-US" sz="1180" dirty="0">
                <a:solidFill>
                  <a:srgbClr val="0F172A"/>
                </a:solidFill>
                <a:latin typeface="Calibri" pitchFamily="34" charset="0"/>
                <a:ea typeface="Calibri" pitchFamily="34" charset="-122"/>
                <a:cs typeface="Calibri" pitchFamily="34" charset="-120"/>
              </a:rPr>
              <a:t>Direct line for blockers during rollout week</a:t>
            </a:r>
            <a:endParaRPr lang="en-US" sz="1180" dirty="0"/>
          </a:p>
        </p:txBody>
      </p:sp>
      <p:sp>
        <p:nvSpPr>
          <p:cNvPr id="25" name="Text 19"/>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6" name="Text 20"/>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10058400" y="5120640"/>
            <a:ext cx="1828800" cy="1828800"/>
          </a:xfrm>
          <a:prstGeom prst="ellipse">
            <a:avLst/>
          </a:prstGeom>
          <a:ln w="12700">
            <a:solidFill>
              <a:srgbClr val="818CF8">
                <a:alpha val="18000"/>
              </a:srgbClr>
            </a:solidFill>
            <a:prstDash val="solid"/>
          </a:ln>
        </p:spPr>
      </p:sp>
      <p:sp>
        <p:nvSpPr>
          <p:cNvPr id="3" name="Shape 1"/>
          <p:cNvSpPr/>
          <p:nvPr/>
        </p:nvSpPr>
        <p:spPr>
          <a:xfrm>
            <a:off x="9326880" y="4389120"/>
            <a:ext cx="3291840" cy="3291840"/>
          </a:xfrm>
          <a:prstGeom prst="ellipse">
            <a:avLst/>
          </a:prstGeom>
          <a:ln w="12700">
            <a:solidFill>
              <a:srgbClr val="818CF8">
                <a:alpha val="18000"/>
              </a:srgbClr>
            </a:solidFill>
            <a:prstDash val="solid"/>
          </a:ln>
        </p:spPr>
      </p:sp>
      <p:sp>
        <p:nvSpPr>
          <p:cNvPr id="4" name="Shape 2"/>
          <p:cNvSpPr/>
          <p:nvPr/>
        </p:nvSpPr>
        <p:spPr>
          <a:xfrm>
            <a:off x="8503920" y="3566160"/>
            <a:ext cx="4937760" cy="4937760"/>
          </a:xfrm>
          <a:prstGeom prst="ellipse">
            <a:avLst/>
          </a:prstGeom>
          <a:ln w="12700">
            <a:solidFill>
              <a:srgbClr val="818CF8">
                <a:alpha val="18000"/>
              </a:srgbClr>
            </a:solidFill>
            <a:prstDash val="solid"/>
          </a:ln>
        </p:spPr>
      </p:sp>
      <p:sp>
        <p:nvSpPr>
          <p:cNvPr id="5" name="Shape 3"/>
          <p:cNvSpPr/>
          <p:nvPr/>
        </p:nvSpPr>
        <p:spPr>
          <a:xfrm>
            <a:off x="7589520" y="2651760"/>
            <a:ext cx="6766560" cy="6766560"/>
          </a:xfrm>
          <a:prstGeom prst="ellipse">
            <a:avLst/>
          </a:prstGeom>
          <a:ln w="12700">
            <a:solidFill>
              <a:srgbClr val="818CF8">
                <a:alpha val="18000"/>
              </a:srgbClr>
            </a:solidFill>
            <a:prstDash val="solid"/>
          </a:ln>
        </p:spPr>
      </p:sp>
      <p:sp>
        <p:nvSpPr>
          <p:cNvPr id="6" name="Shape 4"/>
          <p:cNvSpPr/>
          <p:nvPr/>
        </p:nvSpPr>
        <p:spPr>
          <a:xfrm>
            <a:off x="10908792" y="4325112"/>
            <a:ext cx="128016" cy="128016"/>
          </a:xfrm>
          <a:prstGeom prst="ellipse">
            <a:avLst/>
          </a:prstGeom>
          <a:solidFill>
            <a:srgbClr val="818CF8"/>
          </a:solidFill>
          <a:ln/>
        </p:spPr>
      </p:sp>
      <p:sp>
        <p:nvSpPr>
          <p:cNvPr id="7" name="Shape 5"/>
          <p:cNvSpPr/>
          <p:nvPr/>
        </p:nvSpPr>
        <p:spPr>
          <a:xfrm>
            <a:off x="804672" y="1325880"/>
            <a:ext cx="310896" cy="310896"/>
          </a:xfrm>
          <a:prstGeom prst="diamond">
            <a:avLst/>
          </a:prstGeom>
          <a:solidFill>
            <a:srgbClr val="4F46E5"/>
          </a:solidFill>
          <a:ln/>
        </p:spPr>
      </p:sp>
      <p:sp>
        <p:nvSpPr>
          <p:cNvPr id="8" name="Text 6"/>
          <p:cNvSpPr/>
          <p:nvPr/>
        </p:nvSpPr>
        <p:spPr>
          <a:xfrm>
            <a:off x="1234440" y="1051560"/>
            <a:ext cx="1005840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beta is live. Help us ship v1.</a:t>
            </a:r>
            <a:endParaRPr lang="en-US" sz="4000" dirty="0"/>
          </a:p>
        </p:txBody>
      </p:sp>
      <p:sp>
        <p:nvSpPr>
          <p:cNvPr id="9" name="Text 7"/>
          <p:cNvSpPr/>
          <p:nvPr/>
        </p:nvSpPr>
        <p:spPr>
          <a:xfrm>
            <a:off x="1280160" y="2148840"/>
            <a:ext cx="7315200" cy="36576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Three asks, starting this week:</a:t>
            </a:r>
            <a:endParaRPr lang="en-US" sz="1600" dirty="0"/>
          </a:p>
        </p:txBody>
      </p:sp>
      <p:sp>
        <p:nvSpPr>
          <p:cNvPr id="10" name="Shape 8"/>
          <p:cNvSpPr/>
          <p:nvPr/>
        </p:nvSpPr>
        <p:spPr>
          <a:xfrm>
            <a:off x="1280160" y="2743200"/>
            <a:ext cx="475488" cy="475488"/>
          </a:xfrm>
          <a:prstGeom prst="roundRect">
            <a:avLst>
              <a:gd name="adj" fmla="val 19231"/>
            </a:avLst>
          </a:prstGeom>
          <a:solidFill>
            <a:srgbClr val="4F46E5"/>
          </a:solidFill>
          <a:ln/>
        </p:spPr>
      </p:sp>
      <p:sp>
        <p:nvSpPr>
          <p:cNvPr id="11" name="Text 9"/>
          <p:cNvSpPr/>
          <p:nvPr/>
        </p:nvSpPr>
        <p:spPr>
          <a:xfrm>
            <a:off x="1280160" y="274320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2" name="Text 10"/>
          <p:cNvSpPr/>
          <p:nvPr/>
        </p:nvSpPr>
        <p:spPr>
          <a:xfrm>
            <a:off x="1920240" y="2724912"/>
            <a:ext cx="329184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Sign in this week</a:t>
            </a:r>
            <a:endParaRPr lang="en-US" sz="1700" dirty="0"/>
          </a:p>
        </p:txBody>
      </p:sp>
      <p:sp>
        <p:nvSpPr>
          <p:cNvPr id="13" name="Text 11"/>
          <p:cNvSpPr/>
          <p:nvPr/>
        </p:nvSpPr>
        <p:spPr>
          <a:xfrm>
            <a:off x="1920240" y="3072384"/>
            <a:ext cx="6583680" cy="365760"/>
          </a:xfrm>
          <a:prstGeom prst="rect">
            <a:avLst/>
          </a:prstGeom>
          <a:noFill/>
          <a:ln/>
        </p:spPr>
        <p:txBody>
          <a:bodyPr wrap="square" lIns="0" tIns="0" rIns="0" bIns="0" rtlCol="0" anchor="ctr"/>
          <a:lstStyle/>
          <a:p>
            <a:pPr indent="0" marL="0">
              <a:buNone/>
            </a:pPr>
            <a:r>
              <a:rPr lang="en-US" sz="1250" dirty="0">
                <a:solidFill>
                  <a:srgbClr val="94A3B8"/>
                </a:solidFill>
                <a:latin typeface="Calibri" pitchFamily="34" charset="0"/>
                <a:ea typeface="Calibri" pitchFamily="34" charset="-122"/>
                <a:cs typeface="Calibri" pitchFamily="34" charset="-120"/>
              </a:rPr>
              <a:t>Use your company email and the starting password from HR.</a:t>
            </a:r>
            <a:endParaRPr lang="en-US" sz="1250" dirty="0"/>
          </a:p>
        </p:txBody>
      </p:sp>
      <p:sp>
        <p:nvSpPr>
          <p:cNvPr id="14" name="Shape 12"/>
          <p:cNvSpPr/>
          <p:nvPr/>
        </p:nvSpPr>
        <p:spPr>
          <a:xfrm>
            <a:off x="1280160" y="3639312"/>
            <a:ext cx="475488" cy="475488"/>
          </a:xfrm>
          <a:prstGeom prst="roundRect">
            <a:avLst>
              <a:gd name="adj" fmla="val 19231"/>
            </a:avLst>
          </a:prstGeom>
          <a:solidFill>
            <a:srgbClr val="4F46E5"/>
          </a:solidFill>
          <a:ln/>
        </p:spPr>
      </p:sp>
      <p:sp>
        <p:nvSpPr>
          <p:cNvPr id="15" name="Text 13"/>
          <p:cNvSpPr/>
          <p:nvPr/>
        </p:nvSpPr>
        <p:spPr>
          <a:xfrm>
            <a:off x="1280160" y="363931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6" name="Text 14"/>
          <p:cNvSpPr/>
          <p:nvPr/>
        </p:nvSpPr>
        <p:spPr>
          <a:xfrm>
            <a:off x="1920240" y="3621024"/>
            <a:ext cx="329184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Use it for real</a:t>
            </a:r>
            <a:endParaRPr lang="en-US" sz="1700" dirty="0"/>
          </a:p>
        </p:txBody>
      </p:sp>
      <p:sp>
        <p:nvSpPr>
          <p:cNvPr id="17" name="Text 15"/>
          <p:cNvSpPr/>
          <p:nvPr/>
        </p:nvSpPr>
        <p:spPr>
          <a:xfrm>
            <a:off x="1920240" y="3968496"/>
            <a:ext cx="6583680" cy="365760"/>
          </a:xfrm>
          <a:prstGeom prst="rect">
            <a:avLst/>
          </a:prstGeom>
          <a:noFill/>
          <a:ln/>
        </p:spPr>
        <p:txBody>
          <a:bodyPr wrap="square" lIns="0" tIns="0" rIns="0" bIns="0" rtlCol="0" anchor="ctr"/>
          <a:lstStyle/>
          <a:p>
            <a:pPr indent="0" marL="0">
              <a:buNone/>
            </a:pPr>
            <a:r>
              <a:rPr lang="en-US" sz="1250" dirty="0">
                <a:solidFill>
                  <a:srgbClr val="94A3B8"/>
                </a:solidFill>
                <a:latin typeface="Calibri" pitchFamily="34" charset="0"/>
                <a:ea typeface="Calibri" pitchFamily="34" charset="-122"/>
                <a:cs typeface="Calibri" pitchFamily="34" charset="-120"/>
              </a:rPr>
              <a:t>Attendance and leave go through Orbit from Monday — not email.</a:t>
            </a:r>
            <a:endParaRPr lang="en-US" sz="1250" dirty="0"/>
          </a:p>
        </p:txBody>
      </p:sp>
      <p:sp>
        <p:nvSpPr>
          <p:cNvPr id="18" name="Shape 16"/>
          <p:cNvSpPr/>
          <p:nvPr/>
        </p:nvSpPr>
        <p:spPr>
          <a:xfrm>
            <a:off x="1280160" y="4535424"/>
            <a:ext cx="475488" cy="475488"/>
          </a:xfrm>
          <a:prstGeom prst="roundRect">
            <a:avLst>
              <a:gd name="adj" fmla="val 19231"/>
            </a:avLst>
          </a:prstGeom>
          <a:solidFill>
            <a:srgbClr val="4F46E5"/>
          </a:solidFill>
          <a:ln/>
        </p:spPr>
      </p:sp>
      <p:sp>
        <p:nvSpPr>
          <p:cNvPr id="19" name="Text 17"/>
          <p:cNvSpPr/>
          <p:nvPr/>
        </p:nvSpPr>
        <p:spPr>
          <a:xfrm>
            <a:off x="1280160" y="4535424"/>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0" name="Text 18"/>
          <p:cNvSpPr/>
          <p:nvPr/>
        </p:nvSpPr>
        <p:spPr>
          <a:xfrm>
            <a:off x="1920240" y="4517136"/>
            <a:ext cx="329184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Tell us everything</a:t>
            </a:r>
            <a:endParaRPr lang="en-US" sz="1700" dirty="0"/>
          </a:p>
        </p:txBody>
      </p:sp>
      <p:sp>
        <p:nvSpPr>
          <p:cNvPr id="21" name="Text 19"/>
          <p:cNvSpPr/>
          <p:nvPr/>
        </p:nvSpPr>
        <p:spPr>
          <a:xfrm>
            <a:off x="1920240" y="4864608"/>
            <a:ext cx="6583680" cy="365760"/>
          </a:xfrm>
          <a:prstGeom prst="rect">
            <a:avLst/>
          </a:prstGeom>
          <a:noFill/>
          <a:ln/>
        </p:spPr>
        <p:txBody>
          <a:bodyPr wrap="square" lIns="0" tIns="0" rIns="0" bIns="0" rtlCol="0" anchor="ctr"/>
          <a:lstStyle/>
          <a:p>
            <a:pPr indent="0" marL="0">
              <a:buNone/>
            </a:pPr>
            <a:r>
              <a:rPr lang="en-US" sz="1250" dirty="0">
                <a:solidFill>
                  <a:srgbClr val="94A3B8"/>
                </a:solidFill>
                <a:latin typeface="Calibri" pitchFamily="34" charset="0"/>
                <a:ea typeface="Calibri" pitchFamily="34" charset="-122"/>
                <a:cs typeface="Calibri" pitchFamily="34" charset="-120"/>
              </a:rPr>
              <a:t>One click on the Feedback button — every submission is read.</a:t>
            </a:r>
            <a:endParaRPr lang="en-US" sz="1250" dirty="0"/>
          </a:p>
        </p:txBody>
      </p:sp>
      <p:sp>
        <p:nvSpPr>
          <p:cNvPr id="22" name="Shape 20"/>
          <p:cNvSpPr/>
          <p:nvPr/>
        </p:nvSpPr>
        <p:spPr>
          <a:xfrm>
            <a:off x="1280160" y="5623560"/>
            <a:ext cx="2926080" cy="0"/>
          </a:xfrm>
          <a:prstGeom prst="line">
            <a:avLst/>
          </a:prstGeom>
          <a:noFill/>
          <a:ln w="12700">
            <a:solidFill>
              <a:srgbClr val="1E293B"/>
            </a:solidFill>
            <a:prstDash val="solid"/>
          </a:ln>
        </p:spPr>
      </p:sp>
      <p:sp>
        <p:nvSpPr>
          <p:cNvPr id="23" name="Text 21"/>
          <p:cNvSpPr/>
          <p:nvPr/>
        </p:nvSpPr>
        <p:spPr>
          <a:xfrm>
            <a:off x="1280160" y="5779008"/>
            <a:ext cx="86868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Thank you.   </a:t>
            </a:r>
            <a:pPr indent="0" marL="0">
              <a:buNone/>
            </a:pPr>
            <a:r>
              <a:rPr lang="en-US" sz="1400" dirty="0">
                <a:solidFill>
                  <a:srgbClr val="94A3B8"/>
                </a:solidFill>
                <a:latin typeface="Calibri" pitchFamily="34" charset="0"/>
                <a:ea typeface="Calibri" pitchFamily="34" charset="-122"/>
                <a:cs typeface="Calibri" pitchFamily="34" charset="-120"/>
              </a:rPr>
              <a:t>Questions &amp; feedback: contact@trulaoverseas.com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2026-08-07T08:08:44Z</dcterms:created>
  <dcterms:modified xsi:type="dcterms:W3CDTF">2026-08-07T08:08:44Z</dcterms:modified>
</cp:coreProperties>
</file>