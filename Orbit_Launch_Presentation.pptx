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3" r:id="rId8"/>
    <p:sldId id="264" r:id="rId9"/>
    <p:sldId id="265" r:id="rId10"/>
    <p:sldId id="266" r:id="rId11"/>
    <p:sldId id="267" r:id="rId12"/>
    <p:sldId id="268" r:id="rId13"/>
    <p:sldId id="269" r:id="rId14"/>
    <p:sldId id="270" r:id="rId15"/>
    <p:sldId id="271" r:id="rId16"/>
    <p:sldId id="272" r:id="rId17"/>
    <p:sldId id="273" r:id="rId18"/>
    <p:sldId id="274"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1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3335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we're introducing Orbit — your whole workforce, in one orbit: one central workspace for availability, leave, work location, attendance, approvals, documents and HR requests. It's in beta as of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Orbit exist? Because we're a distributed team, and the most basic questions — is someone working, are they on leave, where are they, when are they available, how much leave do I have — take too long to answer. The information exists, it's just scattered. Orbit puts it in one place.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concrete problems. One: no single place to see who is working and who is away. Two: leave gets communicated through different channels, often at short notice. Three: nobody has one place to check their balances and past requests. Four: we're international — where and when people work matters more every month.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changes with Orbit: one central place for the working status of the whole organization — who is working, who is on leave, who is remote, team availability, balances, request status. Land the key line: the goal is not to digitize a leave form; the goal is reliable visibility across the organization.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in version one? We deliberately started with what touches everyone every day: leave, work location, attendance, the team calendar, and time-zone visibility. This is the foundation the broader HR platform gets built 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tour, starting with roles. Everyone is an employee — attendance, balances, requests, calendar, profile, feedback. A manager gets the same plus an approvals queue and team announcements. Administrators handle company-wide people, policies and settings. All of this is already live in the beta.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without the guesswork. Everything is in one place: full days, half days, ranges, custom dates, different leave types, request status and balances. The balance moves only when a request is approved. No separate calculation, no digging through old messages.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structured process for everyone. The employee submits in Orbit; the relevant manager reviews, approves or rejects, and can add context; then status, notifications and balances all update automatically. In the current beta, approvals go to the employee's direct manager.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team calendar is the heart of version one. Instead of asking around whether someone is working today, you check Orbit. It shows your own requests and their status, approved company leave, a monthly view — and it keeps the reasons for individual leave private.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Orbit has a central notification system: requests that need your action, decisions on your requests, upcoming approved time off, and important messages. Announcements go to relevant groups or teams. The point: operational information gets a dedicated home instead of living in scattered chat channels.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employee gets a central profile: employment information, ID documents, certificates, contracts, and other HR records. Access is role-based — people only see what their role and relationship to the information justifies.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change, and it's the most important slide for behaviour. Going forward: balance checks, leave requests, WFH requests, who-is-away, request status — all of it goes through Orbit. The calendar is only as reliable as the information we put in it, so Orbit has to be the standard source, not one channel among many.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For employees: clarity and less uncertainty. For managers: real visibility of availability and upcoming absences. For teams: easier scheduling. For an international organization: knowing when and where colleagues work. And for the company: one consistent record instead of fragments.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bigger vision. Orbit is not just a leave application — the beta is the starting point. Over time it can bring together salary and compensation information, contracts, documents, policies, structured HR requests, and everyday employee administration. One employee, one workspace, one reliable source.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today, availability, calendar, leave, attendance and approvals. Next, documents, policies and structured HR requests. Over time, contracts, compensation and broader employee operations. And the principle guiding it: we don't add features for the sake of features — every new module must remove another fragmented process.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expectations: this is a first version. You may hit a bug, something unexpected, a clunky workflow, a missing feature, a usability issue — or you may simply have a better idea. In every one of those cases: we want to know about it.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Reporting is easy: Orbit includes the same common feedback form used across our applications, and the Feedback and HR Request entry points are already in the interface. Four categories — bug, feature request, improvement, general feedback. During beta, this input directly shapes the next version.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asks. One: use Orbit — make it part of your normal routine. Two: keep it accurate — leave and WFH go through the platform, because the shared calendar is only as reliable as what we record. Three: tell us what needs improvement through the Feedback form.</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6.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20.png"/><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2.png"/><Relationship Id="rId7"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9.png"/><Relationship Id="rId7"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0.png"/><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a:effectLst/>
      </p:bgPr>
    </p:bg>
    <p:spTree>
      <p:nvGrpSpPr>
        <p:cNvPr id="1" name=""/>
        <p:cNvGrpSpPr/>
        <p:nvPr/>
      </p:nvGrpSpPr>
      <p:grpSpPr>
        <a:xfrm>
          <a:off x="0" y="0"/>
          <a:ext cx="0" cy="0"/>
          <a:chOff x="0" y="0"/>
          <a:chExt cx="0" cy="0"/>
        </a:xfrm>
      </p:grpSpPr>
      <p:sp>
        <p:nvSpPr>
          <p:cNvPr id="2" name="Shape 0"/>
          <p:cNvSpPr/>
          <p:nvPr/>
        </p:nvSpPr>
        <p:spPr>
          <a:xfrm>
            <a:off x="9144000" y="274320"/>
            <a:ext cx="2011680" cy="2011680"/>
          </a:xfrm>
          <a:prstGeom prst="ellipse">
            <a:avLst/>
          </a:prstGeom>
          <a:ln w="12700">
            <a:solidFill>
              <a:srgbClr val="818CF8">
                <a:alpha val="18000"/>
              </a:srgbClr>
            </a:solidFill>
            <a:prstDash val="solid"/>
          </a:ln>
        </p:spPr>
        <p:txBody>
          <a:bodyPr/>
          <a:lstStyle/>
          <a:p>
            <a:endParaRPr lang="en-IN"/>
          </a:p>
        </p:txBody>
      </p:sp>
      <p:sp>
        <p:nvSpPr>
          <p:cNvPr id="3" name="Shape 1"/>
          <p:cNvSpPr/>
          <p:nvPr/>
        </p:nvSpPr>
        <p:spPr>
          <a:xfrm>
            <a:off x="8412480" y="-457200"/>
            <a:ext cx="3474720" cy="3474720"/>
          </a:xfrm>
          <a:prstGeom prst="ellipse">
            <a:avLst/>
          </a:prstGeom>
          <a:ln w="12700">
            <a:solidFill>
              <a:srgbClr val="818CF8">
                <a:alpha val="18000"/>
              </a:srgbClr>
            </a:solidFill>
            <a:prstDash val="solid"/>
          </a:ln>
        </p:spPr>
        <p:txBody>
          <a:bodyPr/>
          <a:lstStyle/>
          <a:p>
            <a:endParaRPr lang="en-IN"/>
          </a:p>
        </p:txBody>
      </p:sp>
      <p:sp>
        <p:nvSpPr>
          <p:cNvPr id="4" name="Shape 2"/>
          <p:cNvSpPr/>
          <p:nvPr/>
        </p:nvSpPr>
        <p:spPr>
          <a:xfrm>
            <a:off x="7589520" y="-1280160"/>
            <a:ext cx="5120640" cy="5120640"/>
          </a:xfrm>
          <a:prstGeom prst="ellipse">
            <a:avLst/>
          </a:prstGeom>
          <a:ln w="12700">
            <a:solidFill>
              <a:srgbClr val="818CF8">
                <a:alpha val="18000"/>
              </a:srgbClr>
            </a:solidFill>
            <a:prstDash val="solid"/>
          </a:ln>
        </p:spPr>
        <p:txBody>
          <a:bodyPr/>
          <a:lstStyle/>
          <a:p>
            <a:endParaRPr lang="en-IN"/>
          </a:p>
        </p:txBody>
      </p:sp>
      <p:sp>
        <p:nvSpPr>
          <p:cNvPr id="5" name="Shape 3"/>
          <p:cNvSpPr/>
          <p:nvPr/>
        </p:nvSpPr>
        <p:spPr>
          <a:xfrm>
            <a:off x="6675120" y="-2194560"/>
            <a:ext cx="6949440" cy="6949440"/>
          </a:xfrm>
          <a:prstGeom prst="ellipse">
            <a:avLst/>
          </a:prstGeom>
          <a:ln w="12700">
            <a:solidFill>
              <a:srgbClr val="818CF8">
                <a:alpha val="18000"/>
              </a:srgbClr>
            </a:solidFill>
            <a:prstDash val="solid"/>
          </a:ln>
        </p:spPr>
        <p:txBody>
          <a:bodyPr/>
          <a:lstStyle/>
          <a:p>
            <a:endParaRPr lang="en-IN"/>
          </a:p>
        </p:txBody>
      </p:sp>
      <p:sp>
        <p:nvSpPr>
          <p:cNvPr id="6" name="Shape 4"/>
          <p:cNvSpPr/>
          <p:nvPr/>
        </p:nvSpPr>
        <p:spPr>
          <a:xfrm>
            <a:off x="274320" y="5486400"/>
            <a:ext cx="1645920" cy="1645920"/>
          </a:xfrm>
          <a:prstGeom prst="ellipse">
            <a:avLst/>
          </a:prstGeom>
          <a:ln w="12700">
            <a:solidFill>
              <a:srgbClr val="818CF8">
                <a:alpha val="14000"/>
              </a:srgbClr>
            </a:solidFill>
            <a:prstDash val="solid"/>
          </a:ln>
        </p:spPr>
        <p:txBody>
          <a:bodyPr/>
          <a:lstStyle/>
          <a:p>
            <a:endParaRPr lang="en-IN"/>
          </a:p>
        </p:txBody>
      </p:sp>
      <p:sp>
        <p:nvSpPr>
          <p:cNvPr id="7" name="Shape 5"/>
          <p:cNvSpPr/>
          <p:nvPr/>
        </p:nvSpPr>
        <p:spPr>
          <a:xfrm>
            <a:off x="-365760" y="4846320"/>
            <a:ext cx="2926080" cy="2926080"/>
          </a:xfrm>
          <a:prstGeom prst="ellipse">
            <a:avLst/>
          </a:prstGeom>
          <a:ln w="12700">
            <a:solidFill>
              <a:srgbClr val="818CF8">
                <a:alpha val="14000"/>
              </a:srgbClr>
            </a:solidFill>
            <a:prstDash val="solid"/>
          </a:ln>
        </p:spPr>
        <p:txBody>
          <a:bodyPr/>
          <a:lstStyle/>
          <a:p>
            <a:endParaRPr lang="en-IN"/>
          </a:p>
        </p:txBody>
      </p:sp>
      <p:sp>
        <p:nvSpPr>
          <p:cNvPr id="8" name="Shape 6"/>
          <p:cNvSpPr/>
          <p:nvPr/>
        </p:nvSpPr>
        <p:spPr>
          <a:xfrm>
            <a:off x="-1097280" y="4114800"/>
            <a:ext cx="4389120" cy="4389120"/>
          </a:xfrm>
          <a:prstGeom prst="ellipse">
            <a:avLst/>
          </a:prstGeom>
          <a:ln w="12700">
            <a:solidFill>
              <a:srgbClr val="818CF8">
                <a:alpha val="14000"/>
              </a:srgbClr>
            </a:solidFill>
            <a:prstDash val="solid"/>
          </a:ln>
        </p:spPr>
        <p:txBody>
          <a:bodyPr/>
          <a:lstStyle/>
          <a:p>
            <a:endParaRPr lang="en-IN"/>
          </a:p>
        </p:txBody>
      </p:sp>
      <p:sp>
        <p:nvSpPr>
          <p:cNvPr id="9" name="Shape 7"/>
          <p:cNvSpPr/>
          <p:nvPr/>
        </p:nvSpPr>
        <p:spPr>
          <a:xfrm>
            <a:off x="11823192" y="1216152"/>
            <a:ext cx="128016" cy="128016"/>
          </a:xfrm>
          <a:prstGeom prst="ellipse">
            <a:avLst/>
          </a:prstGeom>
          <a:solidFill>
            <a:srgbClr val="818CF8"/>
          </a:solidFill>
          <a:ln/>
        </p:spPr>
        <p:txBody>
          <a:bodyPr/>
          <a:lstStyle/>
          <a:p>
            <a:endParaRPr lang="en-IN"/>
          </a:p>
        </p:txBody>
      </p:sp>
      <p:sp>
        <p:nvSpPr>
          <p:cNvPr id="10" name="Shape 8"/>
          <p:cNvSpPr/>
          <p:nvPr/>
        </p:nvSpPr>
        <p:spPr>
          <a:xfrm>
            <a:off x="10094976" y="3785616"/>
            <a:ext cx="109728" cy="109728"/>
          </a:xfrm>
          <a:prstGeom prst="ellipse">
            <a:avLst/>
          </a:prstGeom>
          <a:solidFill>
            <a:srgbClr val="4F46E5"/>
          </a:solidFill>
          <a:ln/>
        </p:spPr>
        <p:txBody>
          <a:bodyPr/>
          <a:lstStyle/>
          <a:p>
            <a:endParaRPr lang="en-IN"/>
          </a:p>
        </p:txBody>
      </p:sp>
      <p:sp>
        <p:nvSpPr>
          <p:cNvPr id="11" name="Shape 9"/>
          <p:cNvSpPr/>
          <p:nvPr/>
        </p:nvSpPr>
        <p:spPr>
          <a:xfrm>
            <a:off x="768096" y="2112264"/>
            <a:ext cx="384048" cy="384048"/>
          </a:xfrm>
          <a:prstGeom prst="diamond">
            <a:avLst/>
          </a:prstGeom>
          <a:solidFill>
            <a:srgbClr val="4F46E5"/>
          </a:solidFill>
          <a:ln/>
        </p:spPr>
        <p:txBody>
          <a:bodyPr/>
          <a:lstStyle/>
          <a:p>
            <a:endParaRPr lang="en-IN"/>
          </a:p>
        </p:txBody>
      </p:sp>
      <p:sp>
        <p:nvSpPr>
          <p:cNvPr id="12" name="Shape 10"/>
          <p:cNvSpPr/>
          <p:nvPr/>
        </p:nvSpPr>
        <p:spPr>
          <a:xfrm>
            <a:off x="868680" y="2212848"/>
            <a:ext cx="182880" cy="182880"/>
          </a:xfrm>
          <a:prstGeom prst="diamond">
            <a:avLst/>
          </a:prstGeom>
          <a:solidFill>
            <a:srgbClr val="818CF8"/>
          </a:solidFill>
          <a:ln/>
        </p:spPr>
        <p:txBody>
          <a:bodyPr/>
          <a:lstStyle/>
          <a:p>
            <a:endParaRPr lang="en-IN"/>
          </a:p>
        </p:txBody>
      </p:sp>
      <p:sp>
        <p:nvSpPr>
          <p:cNvPr id="13" name="Text 11"/>
          <p:cNvSpPr/>
          <p:nvPr/>
        </p:nvSpPr>
        <p:spPr>
          <a:xfrm>
            <a:off x="1280160" y="1783080"/>
            <a:ext cx="7315200" cy="1097280"/>
          </a:xfrm>
          <a:prstGeom prst="rect">
            <a:avLst/>
          </a:prstGeom>
          <a:noFill/>
          <a:ln/>
        </p:spPr>
        <p:txBody>
          <a:bodyPr wrap="square" lIns="0" tIns="0" rIns="0" bIns="0" rtlCol="0" anchor="ctr"/>
          <a:lstStyle/>
          <a:p>
            <a:pPr marL="0" indent="0">
              <a:buNone/>
            </a:pPr>
            <a:r>
              <a:rPr lang="en-US" sz="6600" b="1" dirty="0">
                <a:solidFill>
                  <a:srgbClr val="FFFFFF"/>
                </a:solidFill>
                <a:latin typeface="Cambria" pitchFamily="34" charset="0"/>
                <a:ea typeface="Cambria" pitchFamily="34" charset="-122"/>
                <a:cs typeface="Cambria" pitchFamily="34" charset="-120"/>
              </a:rPr>
              <a:t>Orbit</a:t>
            </a:r>
            <a:endParaRPr lang="en-US" sz="6600" dirty="0"/>
          </a:p>
        </p:txBody>
      </p:sp>
      <p:sp>
        <p:nvSpPr>
          <p:cNvPr id="14" name="Text 12"/>
          <p:cNvSpPr/>
          <p:nvPr/>
        </p:nvSpPr>
        <p:spPr>
          <a:xfrm>
            <a:off x="1325880" y="2907792"/>
            <a:ext cx="5486400" cy="365760"/>
          </a:xfrm>
          <a:prstGeom prst="rect">
            <a:avLst/>
          </a:prstGeom>
          <a:noFill/>
          <a:ln/>
        </p:spPr>
        <p:txBody>
          <a:bodyPr wrap="square" lIns="0" tIns="0" rIns="0" bIns="0" rtlCol="0" anchor="ctr"/>
          <a:lstStyle/>
          <a:p>
            <a:pPr marL="0" indent="0">
              <a:buNone/>
            </a:pPr>
            <a:r>
              <a:rPr lang="en-US" sz="2000" dirty="0">
                <a:solidFill>
                  <a:srgbClr val="94A3B8"/>
                </a:solidFill>
                <a:latin typeface="Calibri" pitchFamily="34" charset="0"/>
                <a:ea typeface="Calibri" pitchFamily="34" charset="-122"/>
                <a:cs typeface="Calibri" pitchFamily="34" charset="-120"/>
              </a:rPr>
              <a:t>by </a:t>
            </a:r>
            <a:r>
              <a:rPr lang="en-US" sz="2000" b="1" dirty="0">
                <a:solidFill>
                  <a:srgbClr val="818CF8"/>
                </a:solidFill>
                <a:latin typeface="Calibri" pitchFamily="34" charset="0"/>
                <a:ea typeface="Calibri" pitchFamily="34" charset="-122"/>
                <a:cs typeface="Calibri" pitchFamily="34" charset="-120"/>
              </a:rPr>
              <a:t>Trula.ai</a:t>
            </a:r>
            <a:endParaRPr lang="en-US" sz="2000" dirty="0"/>
          </a:p>
        </p:txBody>
      </p:sp>
      <p:sp>
        <p:nvSpPr>
          <p:cNvPr id="15" name="Text 13"/>
          <p:cNvSpPr/>
          <p:nvPr/>
        </p:nvSpPr>
        <p:spPr>
          <a:xfrm>
            <a:off x="1325880" y="3547872"/>
            <a:ext cx="8686800" cy="457200"/>
          </a:xfrm>
          <a:prstGeom prst="rect">
            <a:avLst/>
          </a:prstGeom>
          <a:noFill/>
          <a:ln/>
        </p:spPr>
        <p:txBody>
          <a:bodyPr wrap="square" lIns="0" tIns="0" rIns="0" bIns="0" rtlCol="0" anchor="ctr"/>
          <a:lstStyle/>
          <a:p>
            <a:pPr marL="0" indent="0">
              <a:buNone/>
            </a:pPr>
            <a:r>
              <a:rPr lang="en-US" sz="2200" i="1" dirty="0">
                <a:solidFill>
                  <a:srgbClr val="E2E8F0"/>
                </a:solidFill>
                <a:latin typeface="Calibri" pitchFamily="34" charset="0"/>
                <a:ea typeface="Calibri" pitchFamily="34" charset="-122"/>
                <a:cs typeface="Calibri" pitchFamily="34" charset="-120"/>
              </a:rPr>
              <a:t>Your whole workforce, in one orbit.</a:t>
            </a:r>
            <a:endParaRPr lang="en-US" sz="2200" dirty="0"/>
          </a:p>
        </p:txBody>
      </p:sp>
      <p:sp>
        <p:nvSpPr>
          <p:cNvPr id="16" name="Text 14"/>
          <p:cNvSpPr/>
          <p:nvPr/>
        </p:nvSpPr>
        <p:spPr>
          <a:xfrm>
            <a:off x="1325880" y="4160520"/>
            <a:ext cx="7315200" cy="292608"/>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A central workspace for:</a:t>
            </a:r>
            <a:endParaRPr lang="en-US" sz="1200" dirty="0"/>
          </a:p>
        </p:txBody>
      </p:sp>
      <p:sp>
        <p:nvSpPr>
          <p:cNvPr id="17" name="Text 15"/>
          <p:cNvSpPr/>
          <p:nvPr/>
        </p:nvSpPr>
        <p:spPr>
          <a:xfrm>
            <a:off x="1325880" y="4462272"/>
            <a:ext cx="10241280" cy="365760"/>
          </a:xfrm>
          <a:prstGeom prst="rect">
            <a:avLst/>
          </a:prstGeom>
          <a:noFill/>
          <a:ln/>
        </p:spPr>
        <p:txBody>
          <a:bodyPr wrap="square" lIns="0" tIns="0" rIns="0" bIns="0" rtlCol="0" anchor="ctr"/>
          <a:lstStyle/>
          <a:p>
            <a:pPr marL="0" indent="0">
              <a:buNone/>
            </a:pPr>
            <a:r>
              <a:rPr lang="en-US" sz="1400" dirty="0">
                <a:solidFill>
                  <a:srgbClr val="94A3B8"/>
                </a:solidFill>
                <a:latin typeface="Calibri" pitchFamily="34" charset="0"/>
                <a:ea typeface="Calibri" pitchFamily="34" charset="-122"/>
                <a:cs typeface="Calibri" pitchFamily="34" charset="-120"/>
              </a:rPr>
              <a:t>Availability  ·  Leave  ·  Work Location  ·  Attendance  ·  Approvals  ·  Documents  ·  HR Requests</a:t>
            </a:r>
            <a:endParaRPr lang="en-US" sz="1400" dirty="0"/>
          </a:p>
        </p:txBody>
      </p:sp>
      <p:sp>
        <p:nvSpPr>
          <p:cNvPr id="18" name="Shape 16"/>
          <p:cNvSpPr/>
          <p:nvPr/>
        </p:nvSpPr>
        <p:spPr>
          <a:xfrm>
            <a:off x="1325880" y="5166360"/>
            <a:ext cx="2926080" cy="0"/>
          </a:xfrm>
          <a:prstGeom prst="line">
            <a:avLst/>
          </a:prstGeom>
          <a:noFill/>
          <a:ln w="12700">
            <a:solidFill>
              <a:srgbClr val="1E293B"/>
            </a:solidFill>
            <a:prstDash val="solid"/>
          </a:ln>
        </p:spPr>
        <p:txBody>
          <a:bodyPr/>
          <a:lstStyle/>
          <a:p>
            <a:endParaRPr lang="en-IN"/>
          </a:p>
        </p:txBody>
      </p:sp>
      <p:sp>
        <p:nvSpPr>
          <p:cNvPr id="19" name="Text 17"/>
          <p:cNvSpPr/>
          <p:nvPr/>
        </p:nvSpPr>
        <p:spPr>
          <a:xfrm>
            <a:off x="1325880" y="5330952"/>
            <a:ext cx="7315200" cy="32004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Beta Launch  ·  August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marL="0" indent="0">
              <a:buNone/>
            </a:pPr>
            <a:r>
              <a:rPr lang="en-US" sz="1200" b="1" kern="0" spc="300" dirty="0">
                <a:solidFill>
                  <a:srgbClr val="4F46E5"/>
                </a:solidFill>
                <a:latin typeface="Calibri" pitchFamily="34" charset="0"/>
                <a:ea typeface="Calibri" pitchFamily="34" charset="-122"/>
                <a:cs typeface="Calibri" pitchFamily="34" charset="-120"/>
              </a:rPr>
              <a:t>WHY ORBIT?</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marL="0" indent="0">
              <a:buNone/>
            </a:pPr>
            <a:r>
              <a:rPr lang="en-US" sz="3000" b="1" dirty="0">
                <a:solidFill>
                  <a:srgbClr val="0F172A"/>
                </a:solidFill>
                <a:latin typeface="Cambria" pitchFamily="34" charset="0"/>
                <a:ea typeface="Cambria" pitchFamily="34" charset="-122"/>
                <a:cs typeface="Cambria" pitchFamily="34" charset="-120"/>
              </a:rPr>
              <a:t>As the team grows, visibility becomes important</a:t>
            </a:r>
            <a:endParaRPr lang="en-US" sz="3000" dirty="0"/>
          </a:p>
        </p:txBody>
      </p:sp>
      <p:sp>
        <p:nvSpPr>
          <p:cNvPr id="4" name="Shape 2"/>
          <p:cNvSpPr/>
          <p:nvPr/>
        </p:nvSpPr>
        <p:spPr>
          <a:xfrm>
            <a:off x="11341303" y="585216"/>
            <a:ext cx="146304" cy="146304"/>
          </a:xfrm>
          <a:prstGeom prst="diamond">
            <a:avLst/>
          </a:prstGeom>
          <a:solidFill>
            <a:srgbClr val="818CF8"/>
          </a:solidFill>
          <a:ln/>
        </p:spPr>
        <p:txBody>
          <a:bodyPr/>
          <a:lstStyle/>
          <a:p>
            <a:endParaRPr lang="en-IN"/>
          </a:p>
        </p:txBody>
      </p:sp>
      <p:sp>
        <p:nvSpPr>
          <p:cNvPr id="5" name="Shape 3"/>
          <p:cNvSpPr/>
          <p:nvPr/>
        </p:nvSpPr>
        <p:spPr>
          <a:xfrm>
            <a:off x="548640" y="1691640"/>
            <a:ext cx="4937760" cy="4297680"/>
          </a:xfrm>
          <a:prstGeom prst="roundRect">
            <a:avLst>
              <a:gd name="adj" fmla="val 2128"/>
            </a:avLst>
          </a:prstGeom>
          <a:solidFill>
            <a:srgbClr val="EEF2FF"/>
          </a:solidFill>
          <a:ln w="12700">
            <a:solidFill>
              <a:srgbClr val="C7D2FE"/>
            </a:solidFill>
            <a:prstDash val="solid"/>
          </a:ln>
          <a:effectLst>
            <a:outerShdw blurRad="76200" dist="12700" dir="5400000" algn="bl" rotWithShape="0">
              <a:srgbClr val="94A3B8">
                <a:alpha val="18000"/>
              </a:srgbClr>
            </a:outerShdw>
          </a:effectLst>
        </p:spPr>
        <p:txBody>
          <a:bodyPr/>
          <a:lstStyle/>
          <a:p>
            <a:endParaRPr lang="en-IN"/>
          </a:p>
        </p:txBody>
      </p:sp>
      <p:sp>
        <p:nvSpPr>
          <p:cNvPr id="6" name="Shape 4"/>
          <p:cNvSpPr/>
          <p:nvPr/>
        </p:nvSpPr>
        <p:spPr>
          <a:xfrm>
            <a:off x="914400" y="2039112"/>
            <a:ext cx="219456" cy="219456"/>
          </a:xfrm>
          <a:prstGeom prst="diamond">
            <a:avLst/>
          </a:prstGeom>
          <a:solidFill>
            <a:srgbClr val="4F46E5"/>
          </a:solidFill>
          <a:ln/>
        </p:spPr>
        <p:txBody>
          <a:bodyPr/>
          <a:lstStyle/>
          <a:p>
            <a:endParaRPr lang="en-IN"/>
          </a:p>
        </p:txBody>
      </p:sp>
      <p:sp>
        <p:nvSpPr>
          <p:cNvPr id="7" name="Text 5"/>
          <p:cNvSpPr/>
          <p:nvPr/>
        </p:nvSpPr>
        <p:spPr>
          <a:xfrm>
            <a:off x="914400" y="2468880"/>
            <a:ext cx="4206240" cy="1005840"/>
          </a:xfrm>
          <a:prstGeom prst="rect">
            <a:avLst/>
          </a:prstGeom>
          <a:noFill/>
          <a:ln/>
        </p:spPr>
        <p:txBody>
          <a:bodyPr wrap="square" lIns="0" tIns="0" rIns="0" bIns="0" rtlCol="0" anchor="t"/>
          <a:lstStyle/>
          <a:p>
            <a:pPr marL="0" indent="0">
              <a:lnSpc>
                <a:spcPct val="120000"/>
              </a:lnSpc>
              <a:buNone/>
            </a:pPr>
            <a:r>
              <a:rPr lang="en-US" sz="1600" dirty="0">
                <a:solidFill>
                  <a:srgbClr val="0F172A"/>
                </a:solidFill>
                <a:latin typeface="Cambria" pitchFamily="34" charset="0"/>
                <a:ea typeface="Cambria" pitchFamily="34" charset="-122"/>
                <a:cs typeface="Cambria" pitchFamily="34" charset="-120"/>
              </a:rPr>
              <a:t>Our team is increasingly distributed — across different locations, working arrangements and time zones.</a:t>
            </a:r>
            <a:endParaRPr lang="en-US" sz="1600" dirty="0"/>
          </a:p>
        </p:txBody>
      </p:sp>
      <p:sp>
        <p:nvSpPr>
          <p:cNvPr id="8" name="Text 6"/>
          <p:cNvSpPr/>
          <p:nvPr/>
        </p:nvSpPr>
        <p:spPr>
          <a:xfrm>
            <a:off x="914400" y="3520440"/>
            <a:ext cx="4206240" cy="777240"/>
          </a:xfrm>
          <a:prstGeom prst="rect">
            <a:avLst/>
          </a:prstGeom>
          <a:noFill/>
          <a:ln/>
        </p:spPr>
        <p:txBody>
          <a:bodyPr wrap="square" lIns="0" tIns="0" rIns="0" bIns="0" rtlCol="0" anchor="t"/>
          <a:lstStyle/>
          <a:p>
            <a:pPr marL="0" indent="0">
              <a:buNone/>
            </a:pPr>
            <a:r>
              <a:rPr lang="en-US" sz="1350" dirty="0">
                <a:solidFill>
                  <a:srgbClr val="64748B"/>
                </a:solidFill>
                <a:latin typeface="Calibri" pitchFamily="34" charset="0"/>
                <a:ea typeface="Calibri" pitchFamily="34" charset="-122"/>
                <a:cs typeface="Calibri" pitchFamily="34" charset="-120"/>
              </a:rPr>
              <a:t>But today, some of the most basic questions are not always easy to answer.</a:t>
            </a:r>
            <a:endParaRPr lang="en-US" sz="1350" dirty="0"/>
          </a:p>
        </p:txBody>
      </p:sp>
      <p:sp>
        <p:nvSpPr>
          <p:cNvPr id="9" name="Text 7"/>
          <p:cNvSpPr/>
          <p:nvPr/>
        </p:nvSpPr>
        <p:spPr>
          <a:xfrm>
            <a:off x="914400" y="4572000"/>
            <a:ext cx="4206240" cy="1188720"/>
          </a:xfrm>
          <a:prstGeom prst="rect">
            <a:avLst/>
          </a:prstGeom>
          <a:noFill/>
          <a:ln/>
        </p:spPr>
        <p:txBody>
          <a:bodyPr wrap="square" lIns="0" tIns="0" rIns="0" bIns="0" rtlCol="0" anchor="t"/>
          <a:lstStyle/>
          <a:p>
            <a:pPr marL="0" indent="0">
              <a:spcAft>
                <a:spcPts val="800"/>
              </a:spcAft>
              <a:buNone/>
            </a:pPr>
            <a:r>
              <a:rPr lang="en-US" sz="1250" dirty="0">
                <a:solidFill>
                  <a:srgbClr val="0F172A"/>
                </a:solidFill>
                <a:latin typeface="Calibri" pitchFamily="34" charset="0"/>
                <a:ea typeface="Calibri" pitchFamily="34" charset="-122"/>
                <a:cs typeface="Calibri" pitchFamily="34" charset="-120"/>
              </a:rPr>
              <a:t>The information exists — it is just not structured in one place.
</a:t>
            </a:r>
            <a:endParaRPr lang="en-US" sz="1250" dirty="0"/>
          </a:p>
          <a:p>
            <a:pPr marL="0" indent="0">
              <a:spcAft>
                <a:spcPts val="800"/>
              </a:spcAft>
              <a:buNone/>
            </a:pPr>
            <a:r>
              <a:rPr lang="en-US" sz="1350" b="1" dirty="0">
                <a:solidFill>
                  <a:srgbClr val="4F46E5"/>
                </a:solidFill>
                <a:latin typeface="Calibri" pitchFamily="34" charset="0"/>
                <a:ea typeface="Calibri" pitchFamily="34" charset="-122"/>
                <a:cs typeface="Calibri" pitchFamily="34" charset="-120"/>
              </a:rPr>
              <a:t>Orbit is being built to change that.</a:t>
            </a:r>
            <a:endParaRPr lang="en-US" sz="1250" dirty="0"/>
          </a:p>
        </p:txBody>
      </p:sp>
      <p:sp>
        <p:nvSpPr>
          <p:cNvPr id="10" name="Shape 8"/>
          <p:cNvSpPr/>
          <p:nvPr/>
        </p:nvSpPr>
        <p:spPr>
          <a:xfrm>
            <a:off x="5806440" y="1691640"/>
            <a:ext cx="5806440" cy="749808"/>
          </a:xfrm>
          <a:prstGeom prst="roundRect">
            <a:avLst>
              <a:gd name="adj" fmla="val 12195"/>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1" name="Shape 9"/>
          <p:cNvSpPr/>
          <p:nvPr/>
        </p:nvSpPr>
        <p:spPr>
          <a:xfrm>
            <a:off x="6053328" y="1847088"/>
            <a:ext cx="438912" cy="438912"/>
          </a:xfrm>
          <a:prstGeom prst="roundRect">
            <a:avLst>
              <a:gd name="adj" fmla="val 18750"/>
            </a:avLst>
          </a:prstGeom>
          <a:solidFill>
            <a:srgbClr val="EEF2FF"/>
          </a:solidFill>
          <a:ln/>
        </p:spPr>
        <p:txBody>
          <a:bodyPr/>
          <a:lstStyle/>
          <a:p>
            <a:endParaRPr lang="en-IN"/>
          </a:p>
        </p:txBody>
      </p:sp>
      <p:pic>
        <p:nvPicPr>
          <p:cNvPr id="12" name="Image 0" descr="preencoded.png"/>
          <p:cNvPicPr>
            <a:picLocks noChangeAspect="1"/>
          </p:cNvPicPr>
          <p:nvPr/>
        </p:nvPicPr>
        <p:blipFill>
          <a:blip r:embed="rId3"/>
          <a:stretch>
            <a:fillRect/>
          </a:stretch>
        </p:blipFill>
        <p:spPr>
          <a:xfrm>
            <a:off x="6149889" y="1943649"/>
            <a:ext cx="245791" cy="245791"/>
          </a:xfrm>
          <a:prstGeom prst="rect">
            <a:avLst/>
          </a:prstGeom>
        </p:spPr>
      </p:pic>
      <p:sp>
        <p:nvSpPr>
          <p:cNvPr id="13" name="Text 10"/>
          <p:cNvSpPr/>
          <p:nvPr/>
        </p:nvSpPr>
        <p:spPr>
          <a:xfrm>
            <a:off x="6656832" y="1691640"/>
            <a:ext cx="4754880" cy="749808"/>
          </a:xfrm>
          <a:prstGeom prst="rect">
            <a:avLst/>
          </a:prstGeom>
          <a:noFill/>
          <a:ln/>
        </p:spPr>
        <p:txBody>
          <a:bodyPr wrap="square" lIns="0" tIns="0" rIns="0" bIns="0" rtlCol="0" anchor="ctr"/>
          <a:lstStyle/>
          <a:p>
            <a:pPr marL="0" indent="0">
              <a:buNone/>
            </a:pPr>
            <a:r>
              <a:rPr lang="en-US" sz="1500" b="1" dirty="0">
                <a:solidFill>
                  <a:srgbClr val="0F172A"/>
                </a:solidFill>
                <a:latin typeface="Calibri" pitchFamily="34" charset="0"/>
                <a:ea typeface="Calibri" pitchFamily="34" charset="-122"/>
                <a:cs typeface="Calibri" pitchFamily="34" charset="-120"/>
              </a:rPr>
              <a:t>Is someone working today?</a:t>
            </a:r>
            <a:endParaRPr lang="en-US" sz="1500" dirty="0"/>
          </a:p>
        </p:txBody>
      </p:sp>
      <p:sp>
        <p:nvSpPr>
          <p:cNvPr id="14" name="Shape 11"/>
          <p:cNvSpPr/>
          <p:nvPr/>
        </p:nvSpPr>
        <p:spPr>
          <a:xfrm>
            <a:off x="5806440" y="2578608"/>
            <a:ext cx="5806440" cy="749808"/>
          </a:xfrm>
          <a:prstGeom prst="roundRect">
            <a:avLst>
              <a:gd name="adj" fmla="val 12195"/>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5" name="Shape 12"/>
          <p:cNvSpPr/>
          <p:nvPr/>
        </p:nvSpPr>
        <p:spPr>
          <a:xfrm>
            <a:off x="6053328" y="2734056"/>
            <a:ext cx="438912" cy="438912"/>
          </a:xfrm>
          <a:prstGeom prst="roundRect">
            <a:avLst>
              <a:gd name="adj" fmla="val 18750"/>
            </a:avLst>
          </a:prstGeom>
          <a:solidFill>
            <a:srgbClr val="EEF2FF"/>
          </a:solidFill>
          <a:ln/>
        </p:spPr>
        <p:txBody>
          <a:bodyPr/>
          <a:lstStyle/>
          <a:p>
            <a:endParaRPr lang="en-IN"/>
          </a:p>
        </p:txBody>
      </p:sp>
      <p:pic>
        <p:nvPicPr>
          <p:cNvPr id="16" name="Image 1" descr="preencoded.png"/>
          <p:cNvPicPr>
            <a:picLocks noChangeAspect="1"/>
          </p:cNvPicPr>
          <p:nvPr/>
        </p:nvPicPr>
        <p:blipFill>
          <a:blip r:embed="rId4"/>
          <a:stretch>
            <a:fillRect/>
          </a:stretch>
        </p:blipFill>
        <p:spPr>
          <a:xfrm>
            <a:off x="6149889" y="2830617"/>
            <a:ext cx="245791" cy="245791"/>
          </a:xfrm>
          <a:prstGeom prst="rect">
            <a:avLst/>
          </a:prstGeom>
        </p:spPr>
      </p:pic>
      <p:sp>
        <p:nvSpPr>
          <p:cNvPr id="17" name="Text 13"/>
          <p:cNvSpPr/>
          <p:nvPr/>
        </p:nvSpPr>
        <p:spPr>
          <a:xfrm>
            <a:off x="6656832" y="2578608"/>
            <a:ext cx="4754880" cy="749808"/>
          </a:xfrm>
          <a:prstGeom prst="rect">
            <a:avLst/>
          </a:prstGeom>
          <a:noFill/>
          <a:ln/>
        </p:spPr>
        <p:txBody>
          <a:bodyPr wrap="square" lIns="0" tIns="0" rIns="0" bIns="0" rtlCol="0" anchor="ctr"/>
          <a:lstStyle/>
          <a:p>
            <a:pPr marL="0" indent="0">
              <a:buNone/>
            </a:pPr>
            <a:r>
              <a:rPr lang="en-US" sz="1500" b="1" dirty="0">
                <a:solidFill>
                  <a:srgbClr val="0F172A"/>
                </a:solidFill>
                <a:latin typeface="Calibri" pitchFamily="34" charset="0"/>
                <a:ea typeface="Calibri" pitchFamily="34" charset="-122"/>
                <a:cs typeface="Calibri" pitchFamily="34" charset="-120"/>
              </a:rPr>
              <a:t>Are they on leave?</a:t>
            </a:r>
            <a:endParaRPr lang="en-US" sz="1500" dirty="0"/>
          </a:p>
        </p:txBody>
      </p:sp>
      <p:sp>
        <p:nvSpPr>
          <p:cNvPr id="18" name="Shape 14"/>
          <p:cNvSpPr/>
          <p:nvPr/>
        </p:nvSpPr>
        <p:spPr>
          <a:xfrm>
            <a:off x="5806440" y="3465576"/>
            <a:ext cx="5806440" cy="749808"/>
          </a:xfrm>
          <a:prstGeom prst="roundRect">
            <a:avLst>
              <a:gd name="adj" fmla="val 12195"/>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9" name="Shape 15"/>
          <p:cNvSpPr/>
          <p:nvPr/>
        </p:nvSpPr>
        <p:spPr>
          <a:xfrm>
            <a:off x="6053328" y="3621024"/>
            <a:ext cx="438912" cy="438912"/>
          </a:xfrm>
          <a:prstGeom prst="roundRect">
            <a:avLst>
              <a:gd name="adj" fmla="val 18750"/>
            </a:avLst>
          </a:prstGeom>
          <a:solidFill>
            <a:srgbClr val="EEF2FF"/>
          </a:solidFill>
          <a:ln/>
        </p:spPr>
        <p:txBody>
          <a:bodyPr/>
          <a:lstStyle/>
          <a:p>
            <a:endParaRPr lang="en-IN"/>
          </a:p>
        </p:txBody>
      </p:sp>
      <p:pic>
        <p:nvPicPr>
          <p:cNvPr id="20" name="Image 2" descr="preencoded.png"/>
          <p:cNvPicPr>
            <a:picLocks noChangeAspect="1"/>
          </p:cNvPicPr>
          <p:nvPr/>
        </p:nvPicPr>
        <p:blipFill>
          <a:blip r:embed="rId5"/>
          <a:stretch>
            <a:fillRect/>
          </a:stretch>
        </p:blipFill>
        <p:spPr>
          <a:xfrm>
            <a:off x="6149889" y="3717585"/>
            <a:ext cx="245791" cy="245791"/>
          </a:xfrm>
          <a:prstGeom prst="rect">
            <a:avLst/>
          </a:prstGeom>
        </p:spPr>
      </p:pic>
      <p:sp>
        <p:nvSpPr>
          <p:cNvPr id="21" name="Text 16"/>
          <p:cNvSpPr/>
          <p:nvPr/>
        </p:nvSpPr>
        <p:spPr>
          <a:xfrm>
            <a:off x="6656832" y="3465576"/>
            <a:ext cx="4754880" cy="749808"/>
          </a:xfrm>
          <a:prstGeom prst="rect">
            <a:avLst/>
          </a:prstGeom>
          <a:noFill/>
          <a:ln/>
        </p:spPr>
        <p:txBody>
          <a:bodyPr wrap="square" lIns="0" tIns="0" rIns="0" bIns="0" rtlCol="0" anchor="ctr"/>
          <a:lstStyle/>
          <a:p>
            <a:pPr marL="0" indent="0">
              <a:buNone/>
            </a:pPr>
            <a:r>
              <a:rPr lang="en-US" sz="1500" b="1" dirty="0">
                <a:solidFill>
                  <a:srgbClr val="0F172A"/>
                </a:solidFill>
                <a:latin typeface="Calibri" pitchFamily="34" charset="0"/>
                <a:ea typeface="Calibri" pitchFamily="34" charset="-122"/>
                <a:cs typeface="Calibri" pitchFamily="34" charset="-120"/>
              </a:rPr>
              <a:t>Where are they working from?</a:t>
            </a:r>
            <a:endParaRPr lang="en-US" sz="1500" dirty="0"/>
          </a:p>
        </p:txBody>
      </p:sp>
      <p:sp>
        <p:nvSpPr>
          <p:cNvPr id="22" name="Shape 17"/>
          <p:cNvSpPr/>
          <p:nvPr/>
        </p:nvSpPr>
        <p:spPr>
          <a:xfrm>
            <a:off x="5806440" y="4352544"/>
            <a:ext cx="5806440" cy="749808"/>
          </a:xfrm>
          <a:prstGeom prst="roundRect">
            <a:avLst>
              <a:gd name="adj" fmla="val 12195"/>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23" name="Shape 18"/>
          <p:cNvSpPr/>
          <p:nvPr/>
        </p:nvSpPr>
        <p:spPr>
          <a:xfrm>
            <a:off x="6053328" y="4507992"/>
            <a:ext cx="438912" cy="438912"/>
          </a:xfrm>
          <a:prstGeom prst="roundRect">
            <a:avLst>
              <a:gd name="adj" fmla="val 18750"/>
            </a:avLst>
          </a:prstGeom>
          <a:solidFill>
            <a:srgbClr val="EEF2FF"/>
          </a:solidFill>
          <a:ln/>
        </p:spPr>
        <p:txBody>
          <a:bodyPr/>
          <a:lstStyle/>
          <a:p>
            <a:endParaRPr lang="en-IN"/>
          </a:p>
        </p:txBody>
      </p:sp>
      <p:pic>
        <p:nvPicPr>
          <p:cNvPr id="24" name="Image 3" descr="preencoded.png"/>
          <p:cNvPicPr>
            <a:picLocks noChangeAspect="1"/>
          </p:cNvPicPr>
          <p:nvPr/>
        </p:nvPicPr>
        <p:blipFill>
          <a:blip r:embed="rId6"/>
          <a:stretch>
            <a:fillRect/>
          </a:stretch>
        </p:blipFill>
        <p:spPr>
          <a:xfrm>
            <a:off x="6149889" y="4604553"/>
            <a:ext cx="245791" cy="245791"/>
          </a:xfrm>
          <a:prstGeom prst="rect">
            <a:avLst/>
          </a:prstGeom>
        </p:spPr>
      </p:pic>
      <p:sp>
        <p:nvSpPr>
          <p:cNvPr id="25" name="Text 19"/>
          <p:cNvSpPr/>
          <p:nvPr/>
        </p:nvSpPr>
        <p:spPr>
          <a:xfrm>
            <a:off x="6656832" y="4352544"/>
            <a:ext cx="4754880" cy="749808"/>
          </a:xfrm>
          <a:prstGeom prst="rect">
            <a:avLst/>
          </a:prstGeom>
          <a:noFill/>
          <a:ln/>
        </p:spPr>
        <p:txBody>
          <a:bodyPr wrap="square" lIns="0" tIns="0" rIns="0" bIns="0" rtlCol="0" anchor="ctr"/>
          <a:lstStyle/>
          <a:p>
            <a:pPr marL="0" indent="0">
              <a:buNone/>
            </a:pPr>
            <a:r>
              <a:rPr lang="en-US" sz="1500" b="1" dirty="0">
                <a:solidFill>
                  <a:srgbClr val="0F172A"/>
                </a:solidFill>
                <a:latin typeface="Calibri" pitchFamily="34" charset="0"/>
                <a:ea typeface="Calibri" pitchFamily="34" charset="-122"/>
                <a:cs typeface="Calibri" pitchFamily="34" charset="-120"/>
              </a:rPr>
              <a:t>When are they available?</a:t>
            </a:r>
            <a:endParaRPr lang="en-US" sz="1500" dirty="0"/>
          </a:p>
        </p:txBody>
      </p:sp>
      <p:sp>
        <p:nvSpPr>
          <p:cNvPr id="26" name="Shape 20"/>
          <p:cNvSpPr/>
          <p:nvPr/>
        </p:nvSpPr>
        <p:spPr>
          <a:xfrm>
            <a:off x="5806440" y="5239512"/>
            <a:ext cx="5806440" cy="749808"/>
          </a:xfrm>
          <a:prstGeom prst="roundRect">
            <a:avLst>
              <a:gd name="adj" fmla="val 12195"/>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27" name="Shape 21"/>
          <p:cNvSpPr/>
          <p:nvPr/>
        </p:nvSpPr>
        <p:spPr>
          <a:xfrm>
            <a:off x="6053328" y="5394960"/>
            <a:ext cx="438912" cy="438912"/>
          </a:xfrm>
          <a:prstGeom prst="roundRect">
            <a:avLst>
              <a:gd name="adj" fmla="val 18750"/>
            </a:avLst>
          </a:prstGeom>
          <a:solidFill>
            <a:srgbClr val="EEF2FF"/>
          </a:solidFill>
          <a:ln/>
        </p:spPr>
        <p:txBody>
          <a:bodyPr/>
          <a:lstStyle/>
          <a:p>
            <a:endParaRPr lang="en-IN"/>
          </a:p>
        </p:txBody>
      </p:sp>
      <p:pic>
        <p:nvPicPr>
          <p:cNvPr id="28" name="Image 4" descr="preencoded.png"/>
          <p:cNvPicPr>
            <a:picLocks noChangeAspect="1"/>
          </p:cNvPicPr>
          <p:nvPr/>
        </p:nvPicPr>
        <p:blipFill>
          <a:blip r:embed="rId7"/>
          <a:stretch>
            <a:fillRect/>
          </a:stretch>
        </p:blipFill>
        <p:spPr>
          <a:xfrm>
            <a:off x="6149889" y="5491521"/>
            <a:ext cx="245791" cy="245791"/>
          </a:xfrm>
          <a:prstGeom prst="rect">
            <a:avLst/>
          </a:prstGeom>
        </p:spPr>
      </p:pic>
      <p:sp>
        <p:nvSpPr>
          <p:cNvPr id="29" name="Text 22"/>
          <p:cNvSpPr/>
          <p:nvPr/>
        </p:nvSpPr>
        <p:spPr>
          <a:xfrm>
            <a:off x="6656832" y="5239512"/>
            <a:ext cx="4754880" cy="749808"/>
          </a:xfrm>
          <a:prstGeom prst="rect">
            <a:avLst/>
          </a:prstGeom>
          <a:noFill/>
          <a:ln/>
        </p:spPr>
        <p:txBody>
          <a:bodyPr wrap="square" lIns="0" tIns="0" rIns="0" bIns="0" rtlCol="0" anchor="ctr"/>
          <a:lstStyle/>
          <a:p>
            <a:pPr marL="0" indent="0">
              <a:buNone/>
            </a:pPr>
            <a:r>
              <a:rPr lang="en-US" sz="1500" b="1" dirty="0">
                <a:solidFill>
                  <a:srgbClr val="0F172A"/>
                </a:solidFill>
                <a:latin typeface="Calibri" pitchFamily="34" charset="0"/>
                <a:ea typeface="Calibri" pitchFamily="34" charset="-122"/>
                <a:cs typeface="Calibri" pitchFamily="34" charset="-120"/>
              </a:rPr>
              <a:t>How much leave do I have left?</a:t>
            </a:r>
            <a:endParaRPr lang="en-US" sz="1500" dirty="0"/>
          </a:p>
        </p:txBody>
      </p:sp>
      <p:sp>
        <p:nvSpPr>
          <p:cNvPr id="30" name="Text 23"/>
          <p:cNvSpPr/>
          <p:nvPr/>
        </p:nvSpPr>
        <p:spPr>
          <a:xfrm>
            <a:off x="548640" y="6473952"/>
            <a:ext cx="2743200" cy="274320"/>
          </a:xfrm>
          <a:prstGeom prst="rect">
            <a:avLst/>
          </a:prstGeom>
          <a:noFill/>
          <a:ln/>
        </p:spPr>
        <p:txBody>
          <a:bodyPr wrap="square" lIns="0" tIns="0" rIns="0" bIns="0"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Orbit</a:t>
            </a: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31" name="Text 24"/>
          <p:cNvSpPr/>
          <p:nvPr/>
        </p:nvSpPr>
        <p:spPr>
          <a:xfrm>
            <a:off x="11277295" y="6473952"/>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marL="0" indent="0">
              <a:buNone/>
            </a:pPr>
            <a:r>
              <a:rPr lang="en-US" sz="1200" b="1" kern="0" spc="300" dirty="0">
                <a:solidFill>
                  <a:srgbClr val="4F46E5"/>
                </a:solidFill>
                <a:latin typeface="Calibri" pitchFamily="34" charset="0"/>
                <a:ea typeface="Calibri" pitchFamily="34" charset="-122"/>
                <a:cs typeface="Calibri" pitchFamily="34" charset="-120"/>
              </a:rPr>
              <a:t>WHY ORBIT?</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marL="0" indent="0">
              <a:buNone/>
            </a:pPr>
            <a:r>
              <a:rPr lang="en-US" sz="3000" b="1" dirty="0">
                <a:solidFill>
                  <a:srgbClr val="0F172A"/>
                </a:solidFill>
                <a:latin typeface="Cambria" pitchFamily="34" charset="0"/>
                <a:ea typeface="Cambria" pitchFamily="34" charset="-122"/>
                <a:cs typeface="Cambria" pitchFamily="34" charset="-120"/>
              </a:rPr>
              <a:t>The problems we have today</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Four simple problems create unnecessary confusion.</a:t>
            </a:r>
            <a:endParaRPr lang="en-US" sz="1400" dirty="0"/>
          </a:p>
        </p:txBody>
      </p:sp>
      <p:sp>
        <p:nvSpPr>
          <p:cNvPr id="5" name="Shape 3"/>
          <p:cNvSpPr/>
          <p:nvPr/>
        </p:nvSpPr>
        <p:spPr>
          <a:xfrm>
            <a:off x="11341303" y="585216"/>
            <a:ext cx="146304" cy="146304"/>
          </a:xfrm>
          <a:prstGeom prst="diamond">
            <a:avLst/>
          </a:prstGeom>
          <a:solidFill>
            <a:srgbClr val="818CF8"/>
          </a:solidFill>
          <a:ln/>
        </p:spPr>
        <p:txBody>
          <a:bodyPr/>
          <a:lstStyle/>
          <a:p>
            <a:endParaRPr lang="en-IN"/>
          </a:p>
        </p:txBody>
      </p:sp>
      <p:sp>
        <p:nvSpPr>
          <p:cNvPr id="6" name="Shape 4"/>
          <p:cNvSpPr/>
          <p:nvPr/>
        </p:nvSpPr>
        <p:spPr>
          <a:xfrm>
            <a:off x="548640" y="1783080"/>
            <a:ext cx="5349240" cy="1965960"/>
          </a:xfrm>
          <a:prstGeom prst="roundRect">
            <a:avLst>
              <a:gd name="adj" fmla="val 4651"/>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7" name="Shape 5"/>
          <p:cNvSpPr/>
          <p:nvPr/>
        </p:nvSpPr>
        <p:spPr>
          <a:xfrm>
            <a:off x="804672" y="2039112"/>
            <a:ext cx="457200" cy="457200"/>
          </a:xfrm>
          <a:prstGeom prst="roundRect">
            <a:avLst>
              <a:gd name="adj" fmla="val 20000"/>
            </a:avLst>
          </a:prstGeom>
          <a:solidFill>
            <a:srgbClr val="4F46E5"/>
          </a:solidFill>
          <a:ln/>
        </p:spPr>
        <p:txBody>
          <a:bodyPr/>
          <a:lstStyle/>
          <a:p>
            <a:endParaRPr lang="en-IN"/>
          </a:p>
        </p:txBody>
      </p:sp>
      <p:sp>
        <p:nvSpPr>
          <p:cNvPr id="8" name="Text 6"/>
          <p:cNvSpPr/>
          <p:nvPr/>
        </p:nvSpPr>
        <p:spPr>
          <a:xfrm>
            <a:off x="804672" y="2039112"/>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9" name="Text 7"/>
          <p:cNvSpPr/>
          <p:nvPr/>
        </p:nvSpPr>
        <p:spPr>
          <a:xfrm>
            <a:off x="1408176" y="2057400"/>
            <a:ext cx="4251960" cy="457200"/>
          </a:xfrm>
          <a:prstGeom prst="rect">
            <a:avLst/>
          </a:prstGeom>
          <a:noFill/>
          <a:ln/>
        </p:spPr>
        <p:txBody>
          <a:bodyPr wrap="square" lIns="0" tIns="0" rIns="0" bIns="0" rtlCol="0" anchor="t"/>
          <a:lstStyle/>
          <a:p>
            <a:pPr marL="0" indent="0">
              <a:buNone/>
            </a:pPr>
            <a:r>
              <a:rPr lang="en-US" sz="1550" b="1" dirty="0">
                <a:solidFill>
                  <a:srgbClr val="0F172A"/>
                </a:solidFill>
                <a:latin typeface="Cambria" pitchFamily="34" charset="0"/>
                <a:ea typeface="Cambria" pitchFamily="34" charset="-122"/>
                <a:cs typeface="Cambria" pitchFamily="34" charset="-120"/>
              </a:rPr>
              <a:t>No clear visibility of availability</a:t>
            </a:r>
            <a:endParaRPr lang="en-US" sz="1550" dirty="0"/>
          </a:p>
        </p:txBody>
      </p:sp>
      <p:sp>
        <p:nvSpPr>
          <p:cNvPr id="10" name="Text 8"/>
          <p:cNvSpPr/>
          <p:nvPr/>
        </p:nvSpPr>
        <p:spPr>
          <a:xfrm>
            <a:off x="1408176" y="2587752"/>
            <a:ext cx="4206240" cy="1051560"/>
          </a:xfrm>
          <a:prstGeom prst="rect">
            <a:avLst/>
          </a:prstGeom>
          <a:noFill/>
          <a:ln/>
        </p:spPr>
        <p:txBody>
          <a:bodyPr wrap="square" lIns="0" tIns="0" rIns="0" bIns="0" rtlCol="0" anchor="t"/>
          <a:lstStyle/>
          <a:p>
            <a:pPr marL="0" indent="0">
              <a:buNone/>
            </a:pPr>
            <a:r>
              <a:rPr lang="en-US" sz="1200" dirty="0">
                <a:solidFill>
                  <a:srgbClr val="64748B"/>
                </a:solidFill>
                <a:latin typeface="Calibri" pitchFamily="34" charset="0"/>
                <a:ea typeface="Calibri" pitchFamily="34" charset="-122"/>
                <a:cs typeface="Calibri" pitchFamily="34" charset="-120"/>
              </a:rPr>
              <a:t>There is no single place where everyone can reliably see who is working and who is away.</a:t>
            </a:r>
            <a:endParaRPr lang="en-US" sz="1200" dirty="0"/>
          </a:p>
        </p:txBody>
      </p:sp>
      <p:sp>
        <p:nvSpPr>
          <p:cNvPr id="11" name="Shape 9"/>
          <p:cNvSpPr/>
          <p:nvPr/>
        </p:nvSpPr>
        <p:spPr>
          <a:xfrm>
            <a:off x="6263640" y="1783080"/>
            <a:ext cx="5349240" cy="1965960"/>
          </a:xfrm>
          <a:prstGeom prst="roundRect">
            <a:avLst>
              <a:gd name="adj" fmla="val 4651"/>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2" name="Shape 10"/>
          <p:cNvSpPr/>
          <p:nvPr/>
        </p:nvSpPr>
        <p:spPr>
          <a:xfrm>
            <a:off x="6519672" y="2039112"/>
            <a:ext cx="457200" cy="457200"/>
          </a:xfrm>
          <a:prstGeom prst="roundRect">
            <a:avLst>
              <a:gd name="adj" fmla="val 20000"/>
            </a:avLst>
          </a:prstGeom>
          <a:solidFill>
            <a:srgbClr val="4F46E5"/>
          </a:solidFill>
          <a:ln/>
        </p:spPr>
        <p:txBody>
          <a:bodyPr/>
          <a:lstStyle/>
          <a:p>
            <a:endParaRPr lang="en-IN"/>
          </a:p>
        </p:txBody>
      </p:sp>
      <p:sp>
        <p:nvSpPr>
          <p:cNvPr id="13" name="Text 11"/>
          <p:cNvSpPr/>
          <p:nvPr/>
        </p:nvSpPr>
        <p:spPr>
          <a:xfrm>
            <a:off x="6519672" y="2039112"/>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14" name="Text 12"/>
          <p:cNvSpPr/>
          <p:nvPr/>
        </p:nvSpPr>
        <p:spPr>
          <a:xfrm>
            <a:off x="7123176" y="2057400"/>
            <a:ext cx="4251960" cy="457200"/>
          </a:xfrm>
          <a:prstGeom prst="rect">
            <a:avLst/>
          </a:prstGeom>
          <a:noFill/>
          <a:ln/>
        </p:spPr>
        <p:txBody>
          <a:bodyPr wrap="square" lIns="0" tIns="0" rIns="0" bIns="0" rtlCol="0" anchor="t"/>
          <a:lstStyle/>
          <a:p>
            <a:pPr marL="0" indent="0">
              <a:buNone/>
            </a:pPr>
            <a:r>
              <a:rPr lang="en-US" sz="1550" b="1" dirty="0">
                <a:solidFill>
                  <a:srgbClr val="0F172A"/>
                </a:solidFill>
                <a:latin typeface="Cambria" pitchFamily="34" charset="0"/>
                <a:ea typeface="Cambria" pitchFamily="34" charset="-122"/>
                <a:cs typeface="Cambria" pitchFamily="34" charset="-120"/>
              </a:rPr>
              <a:t>Leave communication is unstructured</a:t>
            </a:r>
            <a:endParaRPr lang="en-US" sz="1550" dirty="0"/>
          </a:p>
        </p:txBody>
      </p:sp>
      <p:sp>
        <p:nvSpPr>
          <p:cNvPr id="15" name="Text 13"/>
          <p:cNvSpPr/>
          <p:nvPr/>
        </p:nvSpPr>
        <p:spPr>
          <a:xfrm>
            <a:off x="7123176" y="2587752"/>
            <a:ext cx="4206240" cy="1051560"/>
          </a:xfrm>
          <a:prstGeom prst="rect">
            <a:avLst/>
          </a:prstGeom>
          <a:noFill/>
          <a:ln/>
        </p:spPr>
        <p:txBody>
          <a:bodyPr wrap="square" lIns="0" tIns="0" rIns="0" bIns="0" rtlCol="0" anchor="t"/>
          <a:lstStyle/>
          <a:p>
            <a:pPr marL="0" indent="0">
              <a:buNone/>
            </a:pPr>
            <a:r>
              <a:rPr lang="en-US" sz="1200" dirty="0">
                <a:solidFill>
                  <a:srgbClr val="64748B"/>
                </a:solidFill>
                <a:latin typeface="Calibri" pitchFamily="34" charset="0"/>
                <a:ea typeface="Calibri" pitchFamily="34" charset="-122"/>
                <a:cs typeface="Calibri" pitchFamily="34" charset="-120"/>
              </a:rPr>
              <a:t>Leave is sometimes communicated through different channels, or at short notice — so a reliable company-wide view is hard to maintain.</a:t>
            </a:r>
            <a:endParaRPr lang="en-US" sz="1200" dirty="0"/>
          </a:p>
        </p:txBody>
      </p:sp>
      <p:sp>
        <p:nvSpPr>
          <p:cNvPr id="16" name="Shape 14"/>
          <p:cNvSpPr/>
          <p:nvPr/>
        </p:nvSpPr>
        <p:spPr>
          <a:xfrm>
            <a:off x="548640" y="4023360"/>
            <a:ext cx="5349240" cy="1965960"/>
          </a:xfrm>
          <a:prstGeom prst="roundRect">
            <a:avLst>
              <a:gd name="adj" fmla="val 4651"/>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7" name="Shape 15"/>
          <p:cNvSpPr/>
          <p:nvPr/>
        </p:nvSpPr>
        <p:spPr>
          <a:xfrm>
            <a:off x="804672" y="4279392"/>
            <a:ext cx="457200" cy="457200"/>
          </a:xfrm>
          <a:prstGeom prst="roundRect">
            <a:avLst>
              <a:gd name="adj" fmla="val 20000"/>
            </a:avLst>
          </a:prstGeom>
          <a:solidFill>
            <a:srgbClr val="4F46E5"/>
          </a:solidFill>
          <a:ln/>
        </p:spPr>
        <p:txBody>
          <a:bodyPr/>
          <a:lstStyle/>
          <a:p>
            <a:endParaRPr lang="en-IN"/>
          </a:p>
        </p:txBody>
      </p:sp>
      <p:sp>
        <p:nvSpPr>
          <p:cNvPr id="18" name="Text 16"/>
          <p:cNvSpPr/>
          <p:nvPr/>
        </p:nvSpPr>
        <p:spPr>
          <a:xfrm>
            <a:off x="804672" y="4279392"/>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19" name="Text 17"/>
          <p:cNvSpPr/>
          <p:nvPr/>
        </p:nvSpPr>
        <p:spPr>
          <a:xfrm>
            <a:off x="1408176" y="4297680"/>
            <a:ext cx="4251960" cy="457200"/>
          </a:xfrm>
          <a:prstGeom prst="rect">
            <a:avLst/>
          </a:prstGeom>
          <a:noFill/>
          <a:ln/>
        </p:spPr>
        <p:txBody>
          <a:bodyPr wrap="square" lIns="0" tIns="0" rIns="0" bIns="0" rtlCol="0" anchor="t"/>
          <a:lstStyle/>
          <a:p>
            <a:pPr marL="0" indent="0">
              <a:buNone/>
            </a:pPr>
            <a:r>
              <a:rPr lang="en-US" sz="1550" b="1" dirty="0">
                <a:solidFill>
                  <a:srgbClr val="0F172A"/>
                </a:solidFill>
                <a:latin typeface="Cambria" pitchFamily="34" charset="0"/>
                <a:ea typeface="Cambria" pitchFamily="34" charset="-122"/>
                <a:cs typeface="Cambria" pitchFamily="34" charset="-120"/>
              </a:rPr>
              <a:t>Leave balances are not clearly visible</a:t>
            </a:r>
            <a:endParaRPr lang="en-US" sz="1550" dirty="0"/>
          </a:p>
        </p:txBody>
      </p:sp>
      <p:sp>
        <p:nvSpPr>
          <p:cNvPr id="20" name="Text 18"/>
          <p:cNvSpPr/>
          <p:nvPr/>
        </p:nvSpPr>
        <p:spPr>
          <a:xfrm>
            <a:off x="1408176" y="4828032"/>
            <a:ext cx="4206240" cy="1051560"/>
          </a:xfrm>
          <a:prstGeom prst="rect">
            <a:avLst/>
          </a:prstGeom>
          <a:noFill/>
          <a:ln/>
        </p:spPr>
        <p:txBody>
          <a:bodyPr wrap="square" lIns="0" tIns="0" rIns="0" bIns="0" rtlCol="0" anchor="t"/>
          <a:lstStyle/>
          <a:p>
            <a:pPr marL="0" indent="0">
              <a:buNone/>
            </a:pPr>
            <a:r>
              <a:rPr lang="en-US" sz="1200" dirty="0">
                <a:solidFill>
                  <a:srgbClr val="64748B"/>
                </a:solidFill>
                <a:latin typeface="Calibri" pitchFamily="34" charset="0"/>
                <a:ea typeface="Calibri" pitchFamily="34" charset="-122"/>
                <a:cs typeface="Calibri" pitchFamily="34" charset="-120"/>
              </a:rPr>
              <a:t>Employees do not have one place to check their available leave, leave types and previous requests.</a:t>
            </a:r>
            <a:endParaRPr lang="en-US" sz="1200" dirty="0"/>
          </a:p>
        </p:txBody>
      </p:sp>
      <p:sp>
        <p:nvSpPr>
          <p:cNvPr id="21" name="Shape 19"/>
          <p:cNvSpPr/>
          <p:nvPr/>
        </p:nvSpPr>
        <p:spPr>
          <a:xfrm>
            <a:off x="6263640" y="4023360"/>
            <a:ext cx="5349240" cy="1965960"/>
          </a:xfrm>
          <a:prstGeom prst="roundRect">
            <a:avLst>
              <a:gd name="adj" fmla="val 4651"/>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22" name="Shape 20"/>
          <p:cNvSpPr/>
          <p:nvPr/>
        </p:nvSpPr>
        <p:spPr>
          <a:xfrm>
            <a:off x="6519672" y="4279392"/>
            <a:ext cx="457200" cy="457200"/>
          </a:xfrm>
          <a:prstGeom prst="roundRect">
            <a:avLst>
              <a:gd name="adj" fmla="val 20000"/>
            </a:avLst>
          </a:prstGeom>
          <a:solidFill>
            <a:srgbClr val="4F46E5"/>
          </a:solidFill>
          <a:ln/>
        </p:spPr>
        <p:txBody>
          <a:bodyPr/>
          <a:lstStyle/>
          <a:p>
            <a:endParaRPr lang="en-IN"/>
          </a:p>
        </p:txBody>
      </p:sp>
      <p:sp>
        <p:nvSpPr>
          <p:cNvPr id="23" name="Text 21"/>
          <p:cNvSpPr/>
          <p:nvPr/>
        </p:nvSpPr>
        <p:spPr>
          <a:xfrm>
            <a:off x="6519672" y="4279392"/>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24" name="Text 22"/>
          <p:cNvSpPr/>
          <p:nvPr/>
        </p:nvSpPr>
        <p:spPr>
          <a:xfrm>
            <a:off x="7123176" y="4297680"/>
            <a:ext cx="4251960" cy="457200"/>
          </a:xfrm>
          <a:prstGeom prst="rect">
            <a:avLst/>
          </a:prstGeom>
          <a:noFill/>
          <a:ln/>
        </p:spPr>
        <p:txBody>
          <a:bodyPr wrap="square" lIns="0" tIns="0" rIns="0" bIns="0" rtlCol="0" anchor="t"/>
          <a:lstStyle/>
          <a:p>
            <a:pPr marL="0" indent="0">
              <a:buNone/>
            </a:pPr>
            <a:r>
              <a:rPr lang="en-US" sz="1550" b="1" dirty="0">
                <a:solidFill>
                  <a:srgbClr val="0F172A"/>
                </a:solidFill>
                <a:latin typeface="Cambria" pitchFamily="34" charset="0"/>
                <a:ea typeface="Cambria" pitchFamily="34" charset="-122"/>
                <a:cs typeface="Cambria" pitchFamily="34" charset="-120"/>
              </a:rPr>
              <a:t>We work across locations &amp; time zones</a:t>
            </a:r>
            <a:endParaRPr lang="en-US" sz="1550" dirty="0"/>
          </a:p>
        </p:txBody>
      </p:sp>
      <p:sp>
        <p:nvSpPr>
          <p:cNvPr id="25" name="Text 23"/>
          <p:cNvSpPr/>
          <p:nvPr/>
        </p:nvSpPr>
        <p:spPr>
          <a:xfrm>
            <a:off x="7123176" y="4828032"/>
            <a:ext cx="4206240" cy="1051560"/>
          </a:xfrm>
          <a:prstGeom prst="rect">
            <a:avLst/>
          </a:prstGeom>
          <a:noFill/>
          <a:ln/>
        </p:spPr>
        <p:txBody>
          <a:bodyPr wrap="square" lIns="0" tIns="0" rIns="0" bIns="0" rtlCol="0" anchor="t"/>
          <a:lstStyle/>
          <a:p>
            <a:pPr marL="0" indent="0">
              <a:buNone/>
            </a:pPr>
            <a:r>
              <a:rPr lang="en-US" sz="1200" dirty="0">
                <a:solidFill>
                  <a:srgbClr val="64748B"/>
                </a:solidFill>
                <a:latin typeface="Calibri" pitchFamily="34" charset="0"/>
                <a:ea typeface="Calibri" pitchFamily="34" charset="-122"/>
                <a:cs typeface="Calibri" pitchFamily="34" charset="-120"/>
              </a:rPr>
              <a:t>For an international team, understanding where and when colleagues are working becomes increasingly important.</a:t>
            </a:r>
            <a:endParaRPr lang="en-US" sz="1200" dirty="0"/>
          </a:p>
        </p:txBody>
      </p:sp>
      <p:sp>
        <p:nvSpPr>
          <p:cNvPr id="26" name="Text 24"/>
          <p:cNvSpPr/>
          <p:nvPr/>
        </p:nvSpPr>
        <p:spPr>
          <a:xfrm>
            <a:off x="548640" y="6473952"/>
            <a:ext cx="2743200" cy="274320"/>
          </a:xfrm>
          <a:prstGeom prst="rect">
            <a:avLst/>
          </a:prstGeom>
          <a:noFill/>
          <a:ln/>
        </p:spPr>
        <p:txBody>
          <a:bodyPr wrap="square" lIns="0" tIns="0" rIns="0" bIns="0"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Orbit</a:t>
            </a: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27" name="Text 25"/>
          <p:cNvSpPr/>
          <p:nvPr/>
        </p:nvSpPr>
        <p:spPr>
          <a:xfrm>
            <a:off x="11277295" y="6473952"/>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marL="0" indent="0">
              <a:buNone/>
            </a:pPr>
            <a:r>
              <a:rPr lang="en-US" sz="1200" b="1" kern="0" spc="300" dirty="0">
                <a:solidFill>
                  <a:srgbClr val="4F46E5"/>
                </a:solidFill>
                <a:latin typeface="Calibri" pitchFamily="34" charset="0"/>
                <a:ea typeface="Calibri" pitchFamily="34" charset="-122"/>
                <a:cs typeface="Calibri" pitchFamily="34" charset="-120"/>
              </a:rPr>
              <a:t>WHY ORBIT?</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marL="0" indent="0">
              <a:buNone/>
            </a:pPr>
            <a:r>
              <a:rPr lang="en-US" sz="3000" b="1" dirty="0">
                <a:solidFill>
                  <a:srgbClr val="0F172A"/>
                </a:solidFill>
                <a:latin typeface="Cambria" pitchFamily="34" charset="0"/>
                <a:ea typeface="Cambria" pitchFamily="34" charset="-122"/>
                <a:cs typeface="Cambria" pitchFamily="34" charset="-120"/>
              </a:rPr>
              <a:t>What Orbit changes</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From scattered information to one source of truth.</a:t>
            </a:r>
            <a:endParaRPr lang="en-US" sz="1400" dirty="0"/>
          </a:p>
        </p:txBody>
      </p:sp>
      <p:sp>
        <p:nvSpPr>
          <p:cNvPr id="5" name="Shape 3"/>
          <p:cNvSpPr/>
          <p:nvPr/>
        </p:nvSpPr>
        <p:spPr>
          <a:xfrm>
            <a:off x="11341303" y="585216"/>
            <a:ext cx="146304" cy="146304"/>
          </a:xfrm>
          <a:prstGeom prst="diamond">
            <a:avLst/>
          </a:prstGeom>
          <a:solidFill>
            <a:srgbClr val="818CF8"/>
          </a:solidFill>
          <a:ln/>
        </p:spPr>
        <p:txBody>
          <a:bodyPr/>
          <a:lstStyle/>
          <a:p>
            <a:endParaRPr lang="en-IN"/>
          </a:p>
        </p:txBody>
      </p:sp>
      <p:sp>
        <p:nvSpPr>
          <p:cNvPr id="6" name="Shape 4"/>
          <p:cNvSpPr/>
          <p:nvPr/>
        </p:nvSpPr>
        <p:spPr>
          <a:xfrm>
            <a:off x="548640" y="1783080"/>
            <a:ext cx="4937760" cy="4206240"/>
          </a:xfrm>
          <a:prstGeom prst="roundRect">
            <a:avLst>
              <a:gd name="adj" fmla="val 2174"/>
            </a:avLst>
          </a:prstGeom>
          <a:solidFill>
            <a:srgbClr val="EEF2FF"/>
          </a:solidFill>
          <a:ln w="12700">
            <a:solidFill>
              <a:srgbClr val="C7D2FE"/>
            </a:solidFill>
            <a:prstDash val="solid"/>
          </a:ln>
          <a:effectLst>
            <a:outerShdw blurRad="76200" dist="12700" dir="5400000" algn="bl" rotWithShape="0">
              <a:srgbClr val="94A3B8">
                <a:alpha val="18000"/>
              </a:srgbClr>
            </a:outerShdw>
          </a:effectLst>
        </p:spPr>
        <p:txBody>
          <a:bodyPr/>
          <a:lstStyle/>
          <a:p>
            <a:endParaRPr lang="en-IN"/>
          </a:p>
        </p:txBody>
      </p:sp>
      <p:sp>
        <p:nvSpPr>
          <p:cNvPr id="7" name="Text 5"/>
          <p:cNvSpPr/>
          <p:nvPr/>
        </p:nvSpPr>
        <p:spPr>
          <a:xfrm>
            <a:off x="914400" y="2148840"/>
            <a:ext cx="4206240" cy="1097280"/>
          </a:xfrm>
          <a:prstGeom prst="rect">
            <a:avLst/>
          </a:prstGeom>
          <a:noFill/>
          <a:ln/>
        </p:spPr>
        <p:txBody>
          <a:bodyPr wrap="square" lIns="0" tIns="0" rIns="0" bIns="0" rtlCol="0" anchor="t"/>
          <a:lstStyle/>
          <a:p>
            <a:pPr marL="0" indent="0">
              <a:lnSpc>
                <a:spcPct val="120000"/>
              </a:lnSpc>
              <a:buNone/>
            </a:pPr>
            <a:r>
              <a:rPr lang="en-US" sz="1700" dirty="0">
                <a:solidFill>
                  <a:srgbClr val="0F172A"/>
                </a:solidFill>
                <a:latin typeface="Cambria" pitchFamily="34" charset="0"/>
                <a:ea typeface="Cambria" pitchFamily="34" charset="-122"/>
                <a:cs typeface="Cambria" pitchFamily="34" charset="-120"/>
              </a:rPr>
              <a:t>Orbit gives us one central place to understand the working status of the organization.</a:t>
            </a:r>
            <a:endParaRPr lang="en-US" sz="1700" dirty="0"/>
          </a:p>
        </p:txBody>
      </p:sp>
      <p:sp>
        <p:nvSpPr>
          <p:cNvPr id="8" name="Shape 6"/>
          <p:cNvSpPr/>
          <p:nvPr/>
        </p:nvSpPr>
        <p:spPr>
          <a:xfrm>
            <a:off x="914400" y="3566160"/>
            <a:ext cx="2011680" cy="0"/>
          </a:xfrm>
          <a:prstGeom prst="line">
            <a:avLst/>
          </a:prstGeom>
          <a:noFill/>
          <a:ln w="19050">
            <a:solidFill>
              <a:srgbClr val="C7D2FE"/>
            </a:solidFill>
            <a:prstDash val="solid"/>
          </a:ln>
        </p:spPr>
        <p:txBody>
          <a:bodyPr/>
          <a:lstStyle/>
          <a:p>
            <a:endParaRPr lang="en-IN"/>
          </a:p>
        </p:txBody>
      </p:sp>
      <p:sp>
        <p:nvSpPr>
          <p:cNvPr id="9" name="Text 7"/>
          <p:cNvSpPr/>
          <p:nvPr/>
        </p:nvSpPr>
        <p:spPr>
          <a:xfrm>
            <a:off x="914400" y="3794760"/>
            <a:ext cx="4206240" cy="1737360"/>
          </a:xfrm>
          <a:prstGeom prst="rect">
            <a:avLst/>
          </a:prstGeom>
          <a:noFill/>
          <a:ln/>
        </p:spPr>
        <p:txBody>
          <a:bodyPr wrap="square" lIns="0" tIns="0" rIns="0" bIns="0" rtlCol="0" anchor="t"/>
          <a:lstStyle/>
          <a:p>
            <a:pPr marL="0" indent="0">
              <a:spcAft>
                <a:spcPts val="1000"/>
              </a:spcAft>
              <a:buNone/>
            </a:pPr>
            <a:r>
              <a:rPr lang="en-US" sz="1300" dirty="0">
                <a:solidFill>
                  <a:srgbClr val="64748B"/>
                </a:solidFill>
                <a:latin typeface="Calibri" pitchFamily="34" charset="0"/>
                <a:ea typeface="Calibri" pitchFamily="34" charset="-122"/>
                <a:cs typeface="Calibri" pitchFamily="34" charset="-120"/>
              </a:rPr>
              <a:t>The goal is not simply to digitize a leave form.
</a:t>
            </a:r>
            <a:endParaRPr lang="en-US" sz="1300" dirty="0"/>
          </a:p>
          <a:p>
            <a:pPr marL="0" indent="0">
              <a:spcAft>
                <a:spcPts val="1000"/>
              </a:spcAft>
              <a:buNone/>
            </a:pPr>
            <a:r>
              <a:rPr lang="en-US" sz="1500" b="1" dirty="0">
                <a:solidFill>
                  <a:srgbClr val="4F46E5"/>
                </a:solidFill>
                <a:latin typeface="Calibri" pitchFamily="34" charset="0"/>
                <a:ea typeface="Calibri" pitchFamily="34" charset="-122"/>
                <a:cs typeface="Calibri" pitchFamily="34" charset="-120"/>
              </a:rPr>
              <a:t>The goal is reliable visibility across the organization.</a:t>
            </a:r>
            <a:endParaRPr lang="en-US" sz="1300" dirty="0"/>
          </a:p>
        </p:txBody>
      </p:sp>
      <p:sp>
        <p:nvSpPr>
          <p:cNvPr id="10" name="Shape 8"/>
          <p:cNvSpPr/>
          <p:nvPr/>
        </p:nvSpPr>
        <p:spPr>
          <a:xfrm>
            <a:off x="5806440" y="1783080"/>
            <a:ext cx="5806440" cy="4206240"/>
          </a:xfrm>
          <a:prstGeom prst="roundRect">
            <a:avLst>
              <a:gd name="adj" fmla="val 2174"/>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1" name="Text 9"/>
          <p:cNvSpPr/>
          <p:nvPr/>
        </p:nvSpPr>
        <p:spPr>
          <a:xfrm>
            <a:off x="6126480" y="2011680"/>
            <a:ext cx="5120640" cy="36576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Employees and managers can see:</a:t>
            </a:r>
            <a:endParaRPr lang="en-US" sz="1400" dirty="0"/>
          </a:p>
        </p:txBody>
      </p:sp>
      <p:sp>
        <p:nvSpPr>
          <p:cNvPr id="12" name="Shape 10"/>
          <p:cNvSpPr/>
          <p:nvPr/>
        </p:nvSpPr>
        <p:spPr>
          <a:xfrm>
            <a:off x="6144768" y="2514600"/>
            <a:ext cx="329184" cy="329184"/>
          </a:xfrm>
          <a:prstGeom prst="roundRect">
            <a:avLst>
              <a:gd name="adj" fmla="val 25000"/>
            </a:avLst>
          </a:prstGeom>
          <a:solidFill>
            <a:srgbClr val="ECFDF5"/>
          </a:solidFill>
          <a:ln/>
        </p:spPr>
        <p:txBody>
          <a:bodyPr/>
          <a:lstStyle/>
          <a:p>
            <a:endParaRPr lang="en-IN"/>
          </a:p>
        </p:txBody>
      </p:sp>
      <p:pic>
        <p:nvPicPr>
          <p:cNvPr id="13" name="Image 0" descr="preencoded.png"/>
          <p:cNvPicPr>
            <a:picLocks noChangeAspect="1"/>
          </p:cNvPicPr>
          <p:nvPr/>
        </p:nvPicPr>
        <p:blipFill>
          <a:blip r:embed="rId3"/>
          <a:stretch>
            <a:fillRect/>
          </a:stretch>
        </p:blipFill>
        <p:spPr>
          <a:xfrm>
            <a:off x="6217188" y="2587020"/>
            <a:ext cx="184343" cy="184343"/>
          </a:xfrm>
          <a:prstGeom prst="rect">
            <a:avLst/>
          </a:prstGeom>
        </p:spPr>
      </p:pic>
      <p:sp>
        <p:nvSpPr>
          <p:cNvPr id="14" name="Text 11"/>
          <p:cNvSpPr/>
          <p:nvPr/>
        </p:nvSpPr>
        <p:spPr>
          <a:xfrm>
            <a:off x="6620256" y="2468880"/>
            <a:ext cx="4846320" cy="420624"/>
          </a:xfrm>
          <a:prstGeom prst="rect">
            <a:avLst/>
          </a:prstGeom>
          <a:noFill/>
          <a:ln/>
        </p:spPr>
        <p:txBody>
          <a:bodyPr wrap="square" lIns="0" tIns="0" rIns="0" bIns="0" rtlCol="0" anchor="ctr"/>
          <a:lstStyle/>
          <a:p>
            <a:pPr marL="0" indent="0">
              <a:buNone/>
            </a:pPr>
            <a:r>
              <a:rPr lang="en-US" sz="1300" dirty="0">
                <a:solidFill>
                  <a:srgbClr val="0F172A"/>
                </a:solidFill>
                <a:latin typeface="Calibri" pitchFamily="34" charset="0"/>
                <a:ea typeface="Calibri" pitchFamily="34" charset="-122"/>
                <a:cs typeface="Calibri" pitchFamily="34" charset="-120"/>
              </a:rPr>
              <a:t>Who is working</a:t>
            </a:r>
            <a:endParaRPr lang="en-US" sz="1300" dirty="0"/>
          </a:p>
        </p:txBody>
      </p:sp>
      <p:sp>
        <p:nvSpPr>
          <p:cNvPr id="15" name="Shape 12"/>
          <p:cNvSpPr/>
          <p:nvPr/>
        </p:nvSpPr>
        <p:spPr>
          <a:xfrm>
            <a:off x="6144768" y="2999232"/>
            <a:ext cx="329184" cy="329184"/>
          </a:xfrm>
          <a:prstGeom prst="roundRect">
            <a:avLst>
              <a:gd name="adj" fmla="val 25000"/>
            </a:avLst>
          </a:prstGeom>
          <a:solidFill>
            <a:srgbClr val="ECFDF5"/>
          </a:solidFill>
          <a:ln/>
        </p:spPr>
        <p:txBody>
          <a:bodyPr/>
          <a:lstStyle/>
          <a:p>
            <a:endParaRPr lang="en-IN"/>
          </a:p>
        </p:txBody>
      </p:sp>
      <p:pic>
        <p:nvPicPr>
          <p:cNvPr id="16" name="Image 1" descr="preencoded.png"/>
          <p:cNvPicPr>
            <a:picLocks noChangeAspect="1"/>
          </p:cNvPicPr>
          <p:nvPr/>
        </p:nvPicPr>
        <p:blipFill>
          <a:blip r:embed="rId3"/>
          <a:stretch>
            <a:fillRect/>
          </a:stretch>
        </p:blipFill>
        <p:spPr>
          <a:xfrm>
            <a:off x="6217188" y="3071652"/>
            <a:ext cx="184343" cy="184343"/>
          </a:xfrm>
          <a:prstGeom prst="rect">
            <a:avLst/>
          </a:prstGeom>
        </p:spPr>
      </p:pic>
      <p:sp>
        <p:nvSpPr>
          <p:cNvPr id="17" name="Text 13"/>
          <p:cNvSpPr/>
          <p:nvPr/>
        </p:nvSpPr>
        <p:spPr>
          <a:xfrm>
            <a:off x="6620256" y="2953512"/>
            <a:ext cx="4846320" cy="420624"/>
          </a:xfrm>
          <a:prstGeom prst="rect">
            <a:avLst/>
          </a:prstGeom>
          <a:noFill/>
          <a:ln/>
        </p:spPr>
        <p:txBody>
          <a:bodyPr wrap="square" lIns="0" tIns="0" rIns="0" bIns="0" rtlCol="0" anchor="ctr"/>
          <a:lstStyle/>
          <a:p>
            <a:pPr marL="0" indent="0">
              <a:buNone/>
            </a:pPr>
            <a:r>
              <a:rPr lang="en-US" sz="1300" dirty="0">
                <a:solidFill>
                  <a:srgbClr val="0F172A"/>
                </a:solidFill>
                <a:latin typeface="Calibri" pitchFamily="34" charset="0"/>
                <a:ea typeface="Calibri" pitchFamily="34" charset="-122"/>
                <a:cs typeface="Calibri" pitchFamily="34" charset="-120"/>
              </a:rPr>
              <a:t>Who is on leave</a:t>
            </a:r>
            <a:endParaRPr lang="en-US" sz="1300" dirty="0"/>
          </a:p>
        </p:txBody>
      </p:sp>
      <p:sp>
        <p:nvSpPr>
          <p:cNvPr id="18" name="Shape 14"/>
          <p:cNvSpPr/>
          <p:nvPr/>
        </p:nvSpPr>
        <p:spPr>
          <a:xfrm>
            <a:off x="6144768" y="3483864"/>
            <a:ext cx="329184" cy="329184"/>
          </a:xfrm>
          <a:prstGeom prst="roundRect">
            <a:avLst>
              <a:gd name="adj" fmla="val 25000"/>
            </a:avLst>
          </a:prstGeom>
          <a:solidFill>
            <a:srgbClr val="ECFDF5"/>
          </a:solidFill>
          <a:ln/>
        </p:spPr>
        <p:txBody>
          <a:bodyPr/>
          <a:lstStyle/>
          <a:p>
            <a:endParaRPr lang="en-IN"/>
          </a:p>
        </p:txBody>
      </p:sp>
      <p:pic>
        <p:nvPicPr>
          <p:cNvPr id="19" name="Image 2" descr="preencoded.png"/>
          <p:cNvPicPr>
            <a:picLocks noChangeAspect="1"/>
          </p:cNvPicPr>
          <p:nvPr/>
        </p:nvPicPr>
        <p:blipFill>
          <a:blip r:embed="rId3"/>
          <a:stretch>
            <a:fillRect/>
          </a:stretch>
        </p:blipFill>
        <p:spPr>
          <a:xfrm>
            <a:off x="6217188" y="3556284"/>
            <a:ext cx="184343" cy="184343"/>
          </a:xfrm>
          <a:prstGeom prst="rect">
            <a:avLst/>
          </a:prstGeom>
        </p:spPr>
      </p:pic>
      <p:sp>
        <p:nvSpPr>
          <p:cNvPr id="20" name="Text 15"/>
          <p:cNvSpPr/>
          <p:nvPr/>
        </p:nvSpPr>
        <p:spPr>
          <a:xfrm>
            <a:off x="6620256" y="3438144"/>
            <a:ext cx="4846320" cy="420624"/>
          </a:xfrm>
          <a:prstGeom prst="rect">
            <a:avLst/>
          </a:prstGeom>
          <a:noFill/>
          <a:ln/>
        </p:spPr>
        <p:txBody>
          <a:bodyPr wrap="square" lIns="0" tIns="0" rIns="0" bIns="0" rtlCol="0" anchor="ctr"/>
          <a:lstStyle/>
          <a:p>
            <a:pPr marL="0" indent="0">
              <a:buNone/>
            </a:pPr>
            <a:r>
              <a:rPr lang="en-US" sz="1300" dirty="0">
                <a:solidFill>
                  <a:srgbClr val="0F172A"/>
                </a:solidFill>
                <a:latin typeface="Calibri" pitchFamily="34" charset="0"/>
                <a:ea typeface="Calibri" pitchFamily="34" charset="-122"/>
                <a:cs typeface="Calibri" pitchFamily="34" charset="-120"/>
              </a:rPr>
              <a:t>Who is working remotely / from another location</a:t>
            </a:r>
            <a:endParaRPr lang="en-US" sz="1300" dirty="0"/>
          </a:p>
        </p:txBody>
      </p:sp>
      <p:sp>
        <p:nvSpPr>
          <p:cNvPr id="21" name="Shape 16"/>
          <p:cNvSpPr/>
          <p:nvPr/>
        </p:nvSpPr>
        <p:spPr>
          <a:xfrm>
            <a:off x="6144768" y="3968496"/>
            <a:ext cx="329184" cy="329184"/>
          </a:xfrm>
          <a:prstGeom prst="roundRect">
            <a:avLst>
              <a:gd name="adj" fmla="val 25000"/>
            </a:avLst>
          </a:prstGeom>
          <a:solidFill>
            <a:srgbClr val="ECFDF5"/>
          </a:solidFill>
          <a:ln/>
        </p:spPr>
        <p:txBody>
          <a:bodyPr/>
          <a:lstStyle/>
          <a:p>
            <a:endParaRPr lang="en-IN"/>
          </a:p>
        </p:txBody>
      </p:sp>
      <p:pic>
        <p:nvPicPr>
          <p:cNvPr id="22" name="Image 3" descr="preencoded.png"/>
          <p:cNvPicPr>
            <a:picLocks noChangeAspect="1"/>
          </p:cNvPicPr>
          <p:nvPr/>
        </p:nvPicPr>
        <p:blipFill>
          <a:blip r:embed="rId3"/>
          <a:stretch>
            <a:fillRect/>
          </a:stretch>
        </p:blipFill>
        <p:spPr>
          <a:xfrm>
            <a:off x="6217188" y="4040916"/>
            <a:ext cx="184343" cy="184343"/>
          </a:xfrm>
          <a:prstGeom prst="rect">
            <a:avLst/>
          </a:prstGeom>
        </p:spPr>
      </p:pic>
      <p:sp>
        <p:nvSpPr>
          <p:cNvPr id="23" name="Text 17"/>
          <p:cNvSpPr/>
          <p:nvPr/>
        </p:nvSpPr>
        <p:spPr>
          <a:xfrm>
            <a:off x="6620256" y="3922776"/>
            <a:ext cx="4846320" cy="420624"/>
          </a:xfrm>
          <a:prstGeom prst="rect">
            <a:avLst/>
          </a:prstGeom>
          <a:noFill/>
          <a:ln/>
        </p:spPr>
        <p:txBody>
          <a:bodyPr wrap="square" lIns="0" tIns="0" rIns="0" bIns="0" rtlCol="0" anchor="ctr"/>
          <a:lstStyle/>
          <a:p>
            <a:pPr marL="0" indent="0">
              <a:buNone/>
            </a:pPr>
            <a:r>
              <a:rPr lang="en-US" sz="1300" dirty="0">
                <a:solidFill>
                  <a:srgbClr val="0F172A"/>
                </a:solidFill>
                <a:latin typeface="Calibri" pitchFamily="34" charset="0"/>
                <a:ea typeface="Calibri" pitchFamily="34" charset="-122"/>
                <a:cs typeface="Calibri" pitchFamily="34" charset="-120"/>
              </a:rPr>
              <a:t>Team availability</a:t>
            </a:r>
            <a:endParaRPr lang="en-US" sz="1300" dirty="0"/>
          </a:p>
        </p:txBody>
      </p:sp>
      <p:sp>
        <p:nvSpPr>
          <p:cNvPr id="24" name="Shape 18"/>
          <p:cNvSpPr/>
          <p:nvPr/>
        </p:nvSpPr>
        <p:spPr>
          <a:xfrm>
            <a:off x="6144768" y="4453128"/>
            <a:ext cx="329184" cy="329184"/>
          </a:xfrm>
          <a:prstGeom prst="roundRect">
            <a:avLst>
              <a:gd name="adj" fmla="val 25000"/>
            </a:avLst>
          </a:prstGeom>
          <a:solidFill>
            <a:srgbClr val="ECFDF5"/>
          </a:solidFill>
          <a:ln/>
        </p:spPr>
        <p:txBody>
          <a:bodyPr/>
          <a:lstStyle/>
          <a:p>
            <a:endParaRPr lang="en-IN"/>
          </a:p>
        </p:txBody>
      </p:sp>
      <p:pic>
        <p:nvPicPr>
          <p:cNvPr id="25" name="Image 4" descr="preencoded.png"/>
          <p:cNvPicPr>
            <a:picLocks noChangeAspect="1"/>
          </p:cNvPicPr>
          <p:nvPr/>
        </p:nvPicPr>
        <p:blipFill>
          <a:blip r:embed="rId3"/>
          <a:stretch>
            <a:fillRect/>
          </a:stretch>
        </p:blipFill>
        <p:spPr>
          <a:xfrm>
            <a:off x="6217188" y="4525548"/>
            <a:ext cx="184343" cy="184343"/>
          </a:xfrm>
          <a:prstGeom prst="rect">
            <a:avLst/>
          </a:prstGeom>
        </p:spPr>
      </p:pic>
      <p:sp>
        <p:nvSpPr>
          <p:cNvPr id="26" name="Text 19"/>
          <p:cNvSpPr/>
          <p:nvPr/>
        </p:nvSpPr>
        <p:spPr>
          <a:xfrm>
            <a:off x="6620256" y="4407408"/>
            <a:ext cx="4846320" cy="420624"/>
          </a:xfrm>
          <a:prstGeom prst="rect">
            <a:avLst/>
          </a:prstGeom>
          <a:noFill/>
          <a:ln/>
        </p:spPr>
        <p:txBody>
          <a:bodyPr wrap="square" lIns="0" tIns="0" rIns="0" bIns="0" rtlCol="0" anchor="ctr"/>
          <a:lstStyle/>
          <a:p>
            <a:pPr marL="0" indent="0">
              <a:buNone/>
            </a:pPr>
            <a:r>
              <a:rPr lang="en-US" sz="1300" dirty="0">
                <a:solidFill>
                  <a:srgbClr val="0F172A"/>
                </a:solidFill>
                <a:latin typeface="Calibri" pitchFamily="34" charset="0"/>
                <a:ea typeface="Calibri" pitchFamily="34" charset="-122"/>
                <a:cs typeface="Calibri" pitchFamily="34" charset="-120"/>
              </a:rPr>
              <a:t>Leave balances</a:t>
            </a:r>
            <a:endParaRPr lang="en-US" sz="1300" dirty="0"/>
          </a:p>
        </p:txBody>
      </p:sp>
      <p:sp>
        <p:nvSpPr>
          <p:cNvPr id="27" name="Shape 20"/>
          <p:cNvSpPr/>
          <p:nvPr/>
        </p:nvSpPr>
        <p:spPr>
          <a:xfrm>
            <a:off x="6144768" y="4937760"/>
            <a:ext cx="329184" cy="329184"/>
          </a:xfrm>
          <a:prstGeom prst="roundRect">
            <a:avLst>
              <a:gd name="adj" fmla="val 25000"/>
            </a:avLst>
          </a:prstGeom>
          <a:solidFill>
            <a:srgbClr val="ECFDF5"/>
          </a:solidFill>
          <a:ln/>
        </p:spPr>
        <p:txBody>
          <a:bodyPr/>
          <a:lstStyle/>
          <a:p>
            <a:endParaRPr lang="en-IN"/>
          </a:p>
        </p:txBody>
      </p:sp>
      <p:pic>
        <p:nvPicPr>
          <p:cNvPr id="28" name="Image 5" descr="preencoded.png"/>
          <p:cNvPicPr>
            <a:picLocks noChangeAspect="1"/>
          </p:cNvPicPr>
          <p:nvPr/>
        </p:nvPicPr>
        <p:blipFill>
          <a:blip r:embed="rId3"/>
          <a:stretch>
            <a:fillRect/>
          </a:stretch>
        </p:blipFill>
        <p:spPr>
          <a:xfrm>
            <a:off x="6217188" y="5010180"/>
            <a:ext cx="184343" cy="184343"/>
          </a:xfrm>
          <a:prstGeom prst="rect">
            <a:avLst/>
          </a:prstGeom>
        </p:spPr>
      </p:pic>
      <p:sp>
        <p:nvSpPr>
          <p:cNvPr id="29" name="Text 21"/>
          <p:cNvSpPr/>
          <p:nvPr/>
        </p:nvSpPr>
        <p:spPr>
          <a:xfrm>
            <a:off x="6620256" y="4892040"/>
            <a:ext cx="4846320" cy="420624"/>
          </a:xfrm>
          <a:prstGeom prst="rect">
            <a:avLst/>
          </a:prstGeom>
          <a:noFill/>
          <a:ln/>
        </p:spPr>
        <p:txBody>
          <a:bodyPr wrap="square" lIns="0" tIns="0" rIns="0" bIns="0" rtlCol="0" anchor="ctr"/>
          <a:lstStyle/>
          <a:p>
            <a:pPr marL="0" indent="0">
              <a:buNone/>
            </a:pPr>
            <a:r>
              <a:rPr lang="en-US" sz="1300" dirty="0">
                <a:solidFill>
                  <a:srgbClr val="0F172A"/>
                </a:solidFill>
                <a:latin typeface="Calibri" pitchFamily="34" charset="0"/>
                <a:ea typeface="Calibri" pitchFamily="34" charset="-122"/>
                <a:cs typeface="Calibri" pitchFamily="34" charset="-120"/>
              </a:rPr>
              <a:t>Leave request status</a:t>
            </a:r>
            <a:endParaRPr lang="en-US" sz="1300" dirty="0"/>
          </a:p>
        </p:txBody>
      </p:sp>
      <p:sp>
        <p:nvSpPr>
          <p:cNvPr id="30" name="Shape 22"/>
          <p:cNvSpPr/>
          <p:nvPr/>
        </p:nvSpPr>
        <p:spPr>
          <a:xfrm>
            <a:off x="6144768" y="5422392"/>
            <a:ext cx="329184" cy="329184"/>
          </a:xfrm>
          <a:prstGeom prst="roundRect">
            <a:avLst>
              <a:gd name="adj" fmla="val 25000"/>
            </a:avLst>
          </a:prstGeom>
          <a:solidFill>
            <a:srgbClr val="ECFDF5"/>
          </a:solidFill>
          <a:ln/>
        </p:spPr>
        <p:txBody>
          <a:bodyPr/>
          <a:lstStyle/>
          <a:p>
            <a:endParaRPr lang="en-IN"/>
          </a:p>
        </p:txBody>
      </p:sp>
      <p:pic>
        <p:nvPicPr>
          <p:cNvPr id="31" name="Image 6" descr="preencoded.png"/>
          <p:cNvPicPr>
            <a:picLocks noChangeAspect="1"/>
          </p:cNvPicPr>
          <p:nvPr/>
        </p:nvPicPr>
        <p:blipFill>
          <a:blip r:embed="rId3"/>
          <a:stretch>
            <a:fillRect/>
          </a:stretch>
        </p:blipFill>
        <p:spPr>
          <a:xfrm>
            <a:off x="6217188" y="5494812"/>
            <a:ext cx="184343" cy="184343"/>
          </a:xfrm>
          <a:prstGeom prst="rect">
            <a:avLst/>
          </a:prstGeom>
        </p:spPr>
      </p:pic>
      <p:sp>
        <p:nvSpPr>
          <p:cNvPr id="32" name="Text 23"/>
          <p:cNvSpPr/>
          <p:nvPr/>
        </p:nvSpPr>
        <p:spPr>
          <a:xfrm>
            <a:off x="6620256" y="5376672"/>
            <a:ext cx="4846320" cy="420624"/>
          </a:xfrm>
          <a:prstGeom prst="rect">
            <a:avLst/>
          </a:prstGeom>
          <a:noFill/>
          <a:ln/>
        </p:spPr>
        <p:txBody>
          <a:bodyPr wrap="square" lIns="0" tIns="0" rIns="0" bIns="0" rtlCol="0" anchor="ctr"/>
          <a:lstStyle/>
          <a:p>
            <a:pPr marL="0" indent="0">
              <a:buNone/>
            </a:pPr>
            <a:r>
              <a:rPr lang="en-US" sz="1300" dirty="0">
                <a:solidFill>
                  <a:srgbClr val="0F172A"/>
                </a:solidFill>
                <a:latin typeface="Calibri" pitchFamily="34" charset="0"/>
                <a:ea typeface="Calibri" pitchFamily="34" charset="-122"/>
                <a:cs typeface="Calibri" pitchFamily="34" charset="-120"/>
              </a:rPr>
              <a:t>Relevant working-time information</a:t>
            </a:r>
            <a:endParaRPr lang="en-US" sz="1300" dirty="0"/>
          </a:p>
        </p:txBody>
      </p:sp>
      <p:sp>
        <p:nvSpPr>
          <p:cNvPr id="33" name="Text 24"/>
          <p:cNvSpPr/>
          <p:nvPr/>
        </p:nvSpPr>
        <p:spPr>
          <a:xfrm>
            <a:off x="548640" y="6473952"/>
            <a:ext cx="2743200" cy="274320"/>
          </a:xfrm>
          <a:prstGeom prst="rect">
            <a:avLst/>
          </a:prstGeom>
          <a:noFill/>
          <a:ln/>
        </p:spPr>
        <p:txBody>
          <a:bodyPr wrap="square" lIns="0" tIns="0" rIns="0" bIns="0"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Orbit</a:t>
            </a: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34" name="Text 25"/>
          <p:cNvSpPr/>
          <p:nvPr/>
        </p:nvSpPr>
        <p:spPr>
          <a:xfrm>
            <a:off x="11277295" y="6473952"/>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marL="0" indent="0">
              <a:buNone/>
            </a:pPr>
            <a:r>
              <a:rPr lang="en-US" sz="1200" b="1" kern="0" spc="300" dirty="0">
                <a:solidFill>
                  <a:srgbClr val="4F46E5"/>
                </a:solidFill>
                <a:latin typeface="Calibri" pitchFamily="34" charset="0"/>
                <a:ea typeface="Calibri" pitchFamily="34" charset="-122"/>
                <a:cs typeface="Calibri" pitchFamily="34" charset="-120"/>
              </a:rPr>
              <a:t>THE BETA</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marL="0" indent="0">
              <a:buNone/>
            </a:pPr>
            <a:r>
              <a:rPr lang="en-US" sz="3000" b="1" dirty="0">
                <a:solidFill>
                  <a:srgbClr val="0F172A"/>
                </a:solidFill>
                <a:latin typeface="Cambria" pitchFamily="34" charset="0"/>
                <a:ea typeface="Cambria" pitchFamily="34" charset="-122"/>
                <a:cs typeface="Cambria" pitchFamily="34" charset="-120"/>
              </a:rPr>
              <a:t>Version 1: calendar first</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We are starting with what affects us every day.</a:t>
            </a:r>
            <a:endParaRPr lang="en-US" sz="1400" dirty="0"/>
          </a:p>
        </p:txBody>
      </p:sp>
      <p:sp>
        <p:nvSpPr>
          <p:cNvPr id="5" name="Shape 3"/>
          <p:cNvSpPr/>
          <p:nvPr/>
        </p:nvSpPr>
        <p:spPr>
          <a:xfrm>
            <a:off x="11341303" y="585216"/>
            <a:ext cx="146304" cy="146304"/>
          </a:xfrm>
          <a:prstGeom prst="diamond">
            <a:avLst/>
          </a:prstGeom>
          <a:solidFill>
            <a:srgbClr val="818CF8"/>
          </a:solidFill>
          <a:ln/>
        </p:spPr>
        <p:txBody>
          <a:bodyPr/>
          <a:lstStyle/>
          <a:p>
            <a:endParaRPr lang="en-IN"/>
          </a:p>
        </p:txBody>
      </p:sp>
      <p:sp>
        <p:nvSpPr>
          <p:cNvPr id="6" name="Text 4"/>
          <p:cNvSpPr/>
          <p:nvPr/>
        </p:nvSpPr>
        <p:spPr>
          <a:xfrm>
            <a:off x="566928" y="1664208"/>
            <a:ext cx="10515600" cy="365760"/>
          </a:xfrm>
          <a:prstGeom prst="rect">
            <a:avLst/>
          </a:prstGeom>
          <a:noFill/>
          <a:ln/>
        </p:spPr>
        <p:txBody>
          <a:bodyPr wrap="square" lIns="0" tIns="0" rIns="0" bIns="0" rtlCol="0" anchor="ctr"/>
          <a:lstStyle/>
          <a:p>
            <a:pPr marL="0" indent="0">
              <a:buNone/>
            </a:pPr>
            <a:r>
              <a:rPr lang="en-US" sz="1300" dirty="0">
                <a:solidFill>
                  <a:srgbClr val="0F172A"/>
                </a:solidFill>
                <a:latin typeface="Calibri" pitchFamily="34" charset="0"/>
                <a:ea typeface="Calibri" pitchFamily="34" charset="-122"/>
                <a:cs typeface="Calibri" pitchFamily="34" charset="-120"/>
              </a:rPr>
              <a:t>Orbit is currently in Beta. The first version is built primarily around the work calendar and day-to-day employee availability.</a:t>
            </a:r>
            <a:endParaRPr lang="en-US" sz="1300" dirty="0"/>
          </a:p>
        </p:txBody>
      </p:sp>
      <p:sp>
        <p:nvSpPr>
          <p:cNvPr id="7" name="Shape 5"/>
          <p:cNvSpPr/>
          <p:nvPr/>
        </p:nvSpPr>
        <p:spPr>
          <a:xfrm>
            <a:off x="548640" y="2194560"/>
            <a:ext cx="3657600" cy="1691640"/>
          </a:xfrm>
          <a:prstGeom prst="roundRect">
            <a:avLst>
              <a:gd name="adj" fmla="val 5405"/>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8" name="Shape 6"/>
          <p:cNvSpPr/>
          <p:nvPr/>
        </p:nvSpPr>
        <p:spPr>
          <a:xfrm>
            <a:off x="804672" y="2414016"/>
            <a:ext cx="438912" cy="438912"/>
          </a:xfrm>
          <a:prstGeom prst="roundRect">
            <a:avLst>
              <a:gd name="adj" fmla="val 18750"/>
            </a:avLst>
          </a:prstGeom>
          <a:solidFill>
            <a:srgbClr val="EEF2FF"/>
          </a:solidFill>
          <a:ln/>
        </p:spPr>
        <p:txBody>
          <a:bodyPr/>
          <a:lstStyle/>
          <a:p>
            <a:endParaRPr lang="en-IN"/>
          </a:p>
        </p:txBody>
      </p:sp>
      <p:pic>
        <p:nvPicPr>
          <p:cNvPr id="9" name="Image 0" descr="preencoded.png"/>
          <p:cNvPicPr>
            <a:picLocks noChangeAspect="1"/>
          </p:cNvPicPr>
          <p:nvPr/>
        </p:nvPicPr>
        <p:blipFill>
          <a:blip r:embed="rId3"/>
          <a:stretch>
            <a:fillRect/>
          </a:stretch>
        </p:blipFill>
        <p:spPr>
          <a:xfrm>
            <a:off x="901233" y="2510577"/>
            <a:ext cx="245791" cy="245791"/>
          </a:xfrm>
          <a:prstGeom prst="rect">
            <a:avLst/>
          </a:prstGeom>
        </p:spPr>
      </p:pic>
      <p:sp>
        <p:nvSpPr>
          <p:cNvPr id="10" name="Text 7"/>
          <p:cNvSpPr/>
          <p:nvPr/>
        </p:nvSpPr>
        <p:spPr>
          <a:xfrm>
            <a:off x="1371600" y="2450592"/>
            <a:ext cx="2651760" cy="384048"/>
          </a:xfrm>
          <a:prstGeom prst="rect">
            <a:avLst/>
          </a:prstGeom>
          <a:noFill/>
          <a:ln/>
        </p:spPr>
        <p:txBody>
          <a:bodyPr wrap="square" lIns="0" tIns="0" rIns="0" bIns="0" rtlCol="0" anchor="ctr"/>
          <a:lstStyle/>
          <a:p>
            <a:pPr marL="0" indent="0">
              <a:buNone/>
            </a:pPr>
            <a:r>
              <a:rPr lang="en-US" sz="1500" b="1" dirty="0">
                <a:solidFill>
                  <a:srgbClr val="0F172A"/>
                </a:solidFill>
                <a:latin typeface="Cambria" pitchFamily="34" charset="0"/>
                <a:ea typeface="Cambria" pitchFamily="34" charset="-122"/>
                <a:cs typeface="Cambria" pitchFamily="34" charset="-120"/>
              </a:rPr>
              <a:t>Leave &amp; time off</a:t>
            </a:r>
            <a:endParaRPr lang="en-US" sz="1500" dirty="0"/>
          </a:p>
        </p:txBody>
      </p:sp>
      <p:sp>
        <p:nvSpPr>
          <p:cNvPr id="11" name="Text 8"/>
          <p:cNvSpPr/>
          <p:nvPr/>
        </p:nvSpPr>
        <p:spPr>
          <a:xfrm>
            <a:off x="804672" y="2971800"/>
            <a:ext cx="3145536" cy="822960"/>
          </a:xfrm>
          <a:prstGeom prst="rect">
            <a:avLst/>
          </a:prstGeom>
          <a:noFill/>
          <a:ln/>
        </p:spPr>
        <p:txBody>
          <a:bodyPr wrap="square" lIns="0" tIns="0" rIns="0" bIns="0" rtlCol="0" anchor="t"/>
          <a:lstStyle/>
          <a:p>
            <a:pPr marL="0" indent="0">
              <a:buNone/>
            </a:pPr>
            <a:r>
              <a:rPr lang="en-US" sz="1180" dirty="0">
                <a:solidFill>
                  <a:srgbClr val="64748B"/>
                </a:solidFill>
                <a:latin typeface="Calibri" pitchFamily="34" charset="0"/>
                <a:ea typeface="Calibri" pitchFamily="34" charset="-122"/>
                <a:cs typeface="Calibri" pitchFamily="34" charset="-120"/>
              </a:rPr>
              <a:t>Request leave and see approved absences.</a:t>
            </a:r>
            <a:endParaRPr lang="en-US" sz="1180" dirty="0"/>
          </a:p>
        </p:txBody>
      </p:sp>
      <p:sp>
        <p:nvSpPr>
          <p:cNvPr id="12" name="Shape 9"/>
          <p:cNvSpPr/>
          <p:nvPr/>
        </p:nvSpPr>
        <p:spPr>
          <a:xfrm>
            <a:off x="4370832" y="2194560"/>
            <a:ext cx="3657600" cy="1691640"/>
          </a:xfrm>
          <a:prstGeom prst="roundRect">
            <a:avLst>
              <a:gd name="adj" fmla="val 5405"/>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3" name="Shape 10"/>
          <p:cNvSpPr/>
          <p:nvPr/>
        </p:nvSpPr>
        <p:spPr>
          <a:xfrm>
            <a:off x="4626864" y="2414016"/>
            <a:ext cx="438912" cy="438912"/>
          </a:xfrm>
          <a:prstGeom prst="roundRect">
            <a:avLst>
              <a:gd name="adj" fmla="val 18750"/>
            </a:avLst>
          </a:prstGeom>
          <a:solidFill>
            <a:srgbClr val="EEF2FF"/>
          </a:solidFill>
          <a:ln/>
        </p:spPr>
        <p:txBody>
          <a:bodyPr/>
          <a:lstStyle/>
          <a:p>
            <a:endParaRPr lang="en-IN"/>
          </a:p>
        </p:txBody>
      </p:sp>
      <p:pic>
        <p:nvPicPr>
          <p:cNvPr id="14" name="Image 1" descr="preencoded.png"/>
          <p:cNvPicPr>
            <a:picLocks noChangeAspect="1"/>
          </p:cNvPicPr>
          <p:nvPr/>
        </p:nvPicPr>
        <p:blipFill>
          <a:blip r:embed="rId4"/>
          <a:stretch>
            <a:fillRect/>
          </a:stretch>
        </p:blipFill>
        <p:spPr>
          <a:xfrm>
            <a:off x="4723425" y="2510577"/>
            <a:ext cx="245791" cy="245791"/>
          </a:xfrm>
          <a:prstGeom prst="rect">
            <a:avLst/>
          </a:prstGeom>
        </p:spPr>
      </p:pic>
      <p:sp>
        <p:nvSpPr>
          <p:cNvPr id="15" name="Text 11"/>
          <p:cNvSpPr/>
          <p:nvPr/>
        </p:nvSpPr>
        <p:spPr>
          <a:xfrm>
            <a:off x="5193792" y="2450592"/>
            <a:ext cx="2651760" cy="384048"/>
          </a:xfrm>
          <a:prstGeom prst="rect">
            <a:avLst/>
          </a:prstGeom>
          <a:noFill/>
          <a:ln/>
        </p:spPr>
        <p:txBody>
          <a:bodyPr wrap="square" lIns="0" tIns="0" rIns="0" bIns="0" rtlCol="0" anchor="ctr"/>
          <a:lstStyle/>
          <a:p>
            <a:pPr marL="0" indent="0">
              <a:buNone/>
            </a:pPr>
            <a:r>
              <a:rPr lang="en-US" sz="1500" b="1" dirty="0">
                <a:solidFill>
                  <a:srgbClr val="0F172A"/>
                </a:solidFill>
                <a:latin typeface="Cambria" pitchFamily="34" charset="0"/>
                <a:ea typeface="Cambria" pitchFamily="34" charset="-122"/>
                <a:cs typeface="Cambria" pitchFamily="34" charset="-120"/>
              </a:rPr>
              <a:t>Work location / WFH</a:t>
            </a:r>
            <a:endParaRPr lang="en-US" sz="1500" dirty="0"/>
          </a:p>
        </p:txBody>
      </p:sp>
      <p:sp>
        <p:nvSpPr>
          <p:cNvPr id="16" name="Text 12"/>
          <p:cNvSpPr/>
          <p:nvPr/>
        </p:nvSpPr>
        <p:spPr>
          <a:xfrm>
            <a:off x="4626864" y="2971800"/>
            <a:ext cx="3145536" cy="822960"/>
          </a:xfrm>
          <a:prstGeom prst="rect">
            <a:avLst/>
          </a:prstGeom>
          <a:noFill/>
          <a:ln/>
        </p:spPr>
        <p:txBody>
          <a:bodyPr wrap="square" lIns="0" tIns="0" rIns="0" bIns="0" rtlCol="0" anchor="t"/>
          <a:lstStyle/>
          <a:p>
            <a:pPr marL="0" indent="0">
              <a:buNone/>
            </a:pPr>
            <a:r>
              <a:rPr lang="en-US" sz="1180" dirty="0">
                <a:solidFill>
                  <a:srgbClr val="64748B"/>
                </a:solidFill>
                <a:latin typeface="Calibri" pitchFamily="34" charset="0"/>
                <a:ea typeface="Calibri" pitchFamily="34" charset="-122"/>
                <a:cs typeface="Calibri" pitchFamily="34" charset="-120"/>
              </a:rPr>
              <a:t>Make working arrangements visible.</a:t>
            </a:r>
            <a:endParaRPr lang="en-US" sz="1180" dirty="0"/>
          </a:p>
        </p:txBody>
      </p:sp>
      <p:sp>
        <p:nvSpPr>
          <p:cNvPr id="17" name="Shape 13"/>
          <p:cNvSpPr/>
          <p:nvPr/>
        </p:nvSpPr>
        <p:spPr>
          <a:xfrm>
            <a:off x="8193024" y="2194560"/>
            <a:ext cx="3657600" cy="1691640"/>
          </a:xfrm>
          <a:prstGeom prst="roundRect">
            <a:avLst>
              <a:gd name="adj" fmla="val 5405"/>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8" name="Shape 14"/>
          <p:cNvSpPr/>
          <p:nvPr/>
        </p:nvSpPr>
        <p:spPr>
          <a:xfrm>
            <a:off x="8449056" y="2414016"/>
            <a:ext cx="438912" cy="438912"/>
          </a:xfrm>
          <a:prstGeom prst="roundRect">
            <a:avLst>
              <a:gd name="adj" fmla="val 18750"/>
            </a:avLst>
          </a:prstGeom>
          <a:solidFill>
            <a:srgbClr val="EEF2FF"/>
          </a:solidFill>
          <a:ln/>
        </p:spPr>
        <p:txBody>
          <a:bodyPr/>
          <a:lstStyle/>
          <a:p>
            <a:endParaRPr lang="en-IN"/>
          </a:p>
        </p:txBody>
      </p:sp>
      <p:pic>
        <p:nvPicPr>
          <p:cNvPr id="19" name="Image 2" descr="preencoded.png"/>
          <p:cNvPicPr>
            <a:picLocks noChangeAspect="1"/>
          </p:cNvPicPr>
          <p:nvPr/>
        </p:nvPicPr>
        <p:blipFill>
          <a:blip r:embed="rId5"/>
          <a:stretch>
            <a:fillRect/>
          </a:stretch>
        </p:blipFill>
        <p:spPr>
          <a:xfrm>
            <a:off x="8545617" y="2510577"/>
            <a:ext cx="245791" cy="245791"/>
          </a:xfrm>
          <a:prstGeom prst="rect">
            <a:avLst/>
          </a:prstGeom>
        </p:spPr>
      </p:pic>
      <p:sp>
        <p:nvSpPr>
          <p:cNvPr id="20" name="Text 15"/>
          <p:cNvSpPr/>
          <p:nvPr/>
        </p:nvSpPr>
        <p:spPr>
          <a:xfrm>
            <a:off x="9015984" y="2450592"/>
            <a:ext cx="2651760" cy="384048"/>
          </a:xfrm>
          <a:prstGeom prst="rect">
            <a:avLst/>
          </a:prstGeom>
          <a:noFill/>
          <a:ln/>
        </p:spPr>
        <p:txBody>
          <a:bodyPr wrap="square" lIns="0" tIns="0" rIns="0" bIns="0" rtlCol="0" anchor="ctr"/>
          <a:lstStyle/>
          <a:p>
            <a:pPr marL="0" indent="0">
              <a:buNone/>
            </a:pPr>
            <a:r>
              <a:rPr lang="en-US" sz="1500" b="1" dirty="0">
                <a:solidFill>
                  <a:srgbClr val="0F172A"/>
                </a:solidFill>
                <a:latin typeface="Cambria" pitchFamily="34" charset="0"/>
                <a:ea typeface="Cambria" pitchFamily="34" charset="-122"/>
                <a:cs typeface="Cambria" pitchFamily="34" charset="-120"/>
              </a:rPr>
              <a:t>Attendance</a:t>
            </a:r>
            <a:endParaRPr lang="en-US" sz="1500" dirty="0"/>
          </a:p>
        </p:txBody>
      </p:sp>
      <p:sp>
        <p:nvSpPr>
          <p:cNvPr id="21" name="Text 16"/>
          <p:cNvSpPr/>
          <p:nvPr/>
        </p:nvSpPr>
        <p:spPr>
          <a:xfrm>
            <a:off x="8449056" y="2971800"/>
            <a:ext cx="3145536" cy="822960"/>
          </a:xfrm>
          <a:prstGeom prst="rect">
            <a:avLst/>
          </a:prstGeom>
          <a:noFill/>
          <a:ln/>
        </p:spPr>
        <p:txBody>
          <a:bodyPr wrap="square" lIns="0" tIns="0" rIns="0" bIns="0" rtlCol="0" anchor="t"/>
          <a:lstStyle/>
          <a:p>
            <a:pPr marL="0" indent="0">
              <a:buNone/>
            </a:pPr>
            <a:r>
              <a:rPr lang="en-US" sz="1180" dirty="0">
                <a:solidFill>
                  <a:srgbClr val="64748B"/>
                </a:solidFill>
                <a:latin typeface="Calibri" pitchFamily="34" charset="0"/>
                <a:ea typeface="Calibri" pitchFamily="34" charset="-122"/>
                <a:cs typeface="Calibri" pitchFamily="34" charset="-120"/>
              </a:rPr>
              <a:t>Record and understand working days.</a:t>
            </a:r>
            <a:endParaRPr lang="en-US" sz="1180" dirty="0"/>
          </a:p>
        </p:txBody>
      </p:sp>
      <p:sp>
        <p:nvSpPr>
          <p:cNvPr id="22" name="Shape 17"/>
          <p:cNvSpPr/>
          <p:nvPr/>
        </p:nvSpPr>
        <p:spPr>
          <a:xfrm>
            <a:off x="548640" y="4114800"/>
            <a:ext cx="3657600" cy="1691640"/>
          </a:xfrm>
          <a:prstGeom prst="roundRect">
            <a:avLst>
              <a:gd name="adj" fmla="val 5405"/>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23" name="Shape 18"/>
          <p:cNvSpPr/>
          <p:nvPr/>
        </p:nvSpPr>
        <p:spPr>
          <a:xfrm>
            <a:off x="804672" y="4334256"/>
            <a:ext cx="438912" cy="438912"/>
          </a:xfrm>
          <a:prstGeom prst="roundRect">
            <a:avLst>
              <a:gd name="adj" fmla="val 18750"/>
            </a:avLst>
          </a:prstGeom>
          <a:solidFill>
            <a:srgbClr val="EEF2FF"/>
          </a:solidFill>
          <a:ln/>
        </p:spPr>
        <p:txBody>
          <a:bodyPr/>
          <a:lstStyle/>
          <a:p>
            <a:endParaRPr lang="en-IN"/>
          </a:p>
        </p:txBody>
      </p:sp>
      <p:pic>
        <p:nvPicPr>
          <p:cNvPr id="24" name="Image 3" descr="preencoded.png"/>
          <p:cNvPicPr>
            <a:picLocks noChangeAspect="1"/>
          </p:cNvPicPr>
          <p:nvPr/>
        </p:nvPicPr>
        <p:blipFill>
          <a:blip r:embed="rId6"/>
          <a:stretch>
            <a:fillRect/>
          </a:stretch>
        </p:blipFill>
        <p:spPr>
          <a:xfrm>
            <a:off x="901233" y="4430817"/>
            <a:ext cx="245791" cy="245791"/>
          </a:xfrm>
          <a:prstGeom prst="rect">
            <a:avLst/>
          </a:prstGeom>
        </p:spPr>
      </p:pic>
      <p:sp>
        <p:nvSpPr>
          <p:cNvPr id="25" name="Text 19"/>
          <p:cNvSpPr/>
          <p:nvPr/>
        </p:nvSpPr>
        <p:spPr>
          <a:xfrm>
            <a:off x="1371600" y="4370832"/>
            <a:ext cx="2651760" cy="384048"/>
          </a:xfrm>
          <a:prstGeom prst="rect">
            <a:avLst/>
          </a:prstGeom>
          <a:noFill/>
          <a:ln/>
        </p:spPr>
        <p:txBody>
          <a:bodyPr wrap="square" lIns="0" tIns="0" rIns="0" bIns="0" rtlCol="0" anchor="ctr"/>
          <a:lstStyle/>
          <a:p>
            <a:pPr marL="0" indent="0">
              <a:buNone/>
            </a:pPr>
            <a:r>
              <a:rPr lang="en-US" sz="1500" b="1" dirty="0">
                <a:solidFill>
                  <a:srgbClr val="0F172A"/>
                </a:solidFill>
                <a:latin typeface="Cambria" pitchFamily="34" charset="0"/>
                <a:ea typeface="Cambria" pitchFamily="34" charset="-122"/>
                <a:cs typeface="Cambria" pitchFamily="34" charset="-120"/>
              </a:rPr>
              <a:t>Team calendar</a:t>
            </a:r>
            <a:endParaRPr lang="en-US" sz="1500" dirty="0"/>
          </a:p>
        </p:txBody>
      </p:sp>
      <p:sp>
        <p:nvSpPr>
          <p:cNvPr id="26" name="Text 20"/>
          <p:cNvSpPr/>
          <p:nvPr/>
        </p:nvSpPr>
        <p:spPr>
          <a:xfrm>
            <a:off x="804672" y="4892040"/>
            <a:ext cx="3145536" cy="822960"/>
          </a:xfrm>
          <a:prstGeom prst="rect">
            <a:avLst/>
          </a:prstGeom>
          <a:noFill/>
          <a:ln/>
        </p:spPr>
        <p:txBody>
          <a:bodyPr wrap="square" lIns="0" tIns="0" rIns="0" bIns="0" rtlCol="0" anchor="t"/>
          <a:lstStyle/>
          <a:p>
            <a:pPr marL="0" indent="0">
              <a:buNone/>
            </a:pPr>
            <a:r>
              <a:rPr lang="en-US" sz="1180" dirty="0">
                <a:solidFill>
                  <a:srgbClr val="64748B"/>
                </a:solidFill>
                <a:latin typeface="Calibri" pitchFamily="34" charset="0"/>
                <a:ea typeface="Calibri" pitchFamily="34" charset="-122"/>
                <a:cs typeface="Calibri" pitchFamily="34" charset="-120"/>
              </a:rPr>
              <a:t>See who is available and who is away.</a:t>
            </a:r>
            <a:endParaRPr lang="en-US" sz="1180" dirty="0"/>
          </a:p>
        </p:txBody>
      </p:sp>
      <p:sp>
        <p:nvSpPr>
          <p:cNvPr id="27" name="Shape 21"/>
          <p:cNvSpPr/>
          <p:nvPr/>
        </p:nvSpPr>
        <p:spPr>
          <a:xfrm>
            <a:off x="4370832" y="4114800"/>
            <a:ext cx="3657600" cy="1691640"/>
          </a:xfrm>
          <a:prstGeom prst="roundRect">
            <a:avLst>
              <a:gd name="adj" fmla="val 5405"/>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28" name="Shape 22"/>
          <p:cNvSpPr/>
          <p:nvPr/>
        </p:nvSpPr>
        <p:spPr>
          <a:xfrm>
            <a:off x="4626864" y="4334256"/>
            <a:ext cx="438912" cy="438912"/>
          </a:xfrm>
          <a:prstGeom prst="roundRect">
            <a:avLst>
              <a:gd name="adj" fmla="val 18750"/>
            </a:avLst>
          </a:prstGeom>
          <a:solidFill>
            <a:srgbClr val="EEF2FF"/>
          </a:solidFill>
          <a:ln/>
        </p:spPr>
        <p:txBody>
          <a:bodyPr/>
          <a:lstStyle/>
          <a:p>
            <a:endParaRPr lang="en-IN"/>
          </a:p>
        </p:txBody>
      </p:sp>
      <p:pic>
        <p:nvPicPr>
          <p:cNvPr id="29" name="Image 4" descr="preencoded.png"/>
          <p:cNvPicPr>
            <a:picLocks noChangeAspect="1"/>
          </p:cNvPicPr>
          <p:nvPr/>
        </p:nvPicPr>
        <p:blipFill>
          <a:blip r:embed="rId7"/>
          <a:stretch>
            <a:fillRect/>
          </a:stretch>
        </p:blipFill>
        <p:spPr>
          <a:xfrm>
            <a:off x="4723425" y="4430817"/>
            <a:ext cx="245791" cy="245791"/>
          </a:xfrm>
          <a:prstGeom prst="rect">
            <a:avLst/>
          </a:prstGeom>
        </p:spPr>
      </p:pic>
      <p:sp>
        <p:nvSpPr>
          <p:cNvPr id="30" name="Text 23"/>
          <p:cNvSpPr/>
          <p:nvPr/>
        </p:nvSpPr>
        <p:spPr>
          <a:xfrm>
            <a:off x="5193792" y="4370832"/>
            <a:ext cx="2651760" cy="384048"/>
          </a:xfrm>
          <a:prstGeom prst="rect">
            <a:avLst/>
          </a:prstGeom>
          <a:noFill/>
          <a:ln/>
        </p:spPr>
        <p:txBody>
          <a:bodyPr wrap="square" lIns="0" tIns="0" rIns="0" bIns="0" rtlCol="0" anchor="ctr"/>
          <a:lstStyle/>
          <a:p>
            <a:pPr marL="0" indent="0">
              <a:buNone/>
            </a:pPr>
            <a:r>
              <a:rPr lang="en-US" sz="1500" b="1" dirty="0">
                <a:solidFill>
                  <a:srgbClr val="0F172A"/>
                </a:solidFill>
                <a:latin typeface="Cambria" pitchFamily="34" charset="0"/>
                <a:ea typeface="Cambria" pitchFamily="34" charset="-122"/>
                <a:cs typeface="Cambria" pitchFamily="34" charset="-120"/>
              </a:rPr>
              <a:t>Time-zone visibility</a:t>
            </a:r>
            <a:endParaRPr lang="en-US" sz="1500" dirty="0"/>
          </a:p>
        </p:txBody>
      </p:sp>
      <p:sp>
        <p:nvSpPr>
          <p:cNvPr id="31" name="Text 24"/>
          <p:cNvSpPr/>
          <p:nvPr/>
        </p:nvSpPr>
        <p:spPr>
          <a:xfrm>
            <a:off x="4626864" y="4892040"/>
            <a:ext cx="3145536" cy="822960"/>
          </a:xfrm>
          <a:prstGeom prst="rect">
            <a:avLst/>
          </a:prstGeom>
          <a:noFill/>
          <a:ln/>
        </p:spPr>
        <p:txBody>
          <a:bodyPr wrap="square" lIns="0" tIns="0" rIns="0" bIns="0" rtlCol="0" anchor="t"/>
          <a:lstStyle/>
          <a:p>
            <a:pPr marL="0" indent="0">
              <a:buNone/>
            </a:pPr>
            <a:r>
              <a:rPr lang="en-US" sz="1180" dirty="0">
                <a:solidFill>
                  <a:srgbClr val="64748B"/>
                </a:solidFill>
                <a:latin typeface="Calibri" pitchFamily="34" charset="0"/>
                <a:ea typeface="Calibri" pitchFamily="34" charset="-122"/>
                <a:cs typeface="Calibri" pitchFamily="34" charset="-120"/>
              </a:rPr>
              <a:t>Make collaboration across an international team easier.</a:t>
            </a:r>
            <a:endParaRPr lang="en-US" sz="1180" dirty="0"/>
          </a:p>
        </p:txBody>
      </p:sp>
      <p:sp>
        <p:nvSpPr>
          <p:cNvPr id="32" name="Shape 25"/>
          <p:cNvSpPr/>
          <p:nvPr/>
        </p:nvSpPr>
        <p:spPr>
          <a:xfrm>
            <a:off x="8193024" y="4114800"/>
            <a:ext cx="3657600" cy="1691640"/>
          </a:xfrm>
          <a:prstGeom prst="roundRect">
            <a:avLst>
              <a:gd name="adj" fmla="val 5405"/>
            </a:avLst>
          </a:prstGeom>
          <a:solidFill>
            <a:srgbClr val="EEF2FF"/>
          </a:solidFill>
          <a:ln w="12700">
            <a:solidFill>
              <a:srgbClr val="C7D2FE"/>
            </a:solidFill>
            <a:prstDash val="solid"/>
          </a:ln>
          <a:effectLst>
            <a:outerShdw blurRad="76200" dist="12700" dir="5400000" algn="bl" rotWithShape="0">
              <a:srgbClr val="94A3B8">
                <a:alpha val="18000"/>
              </a:srgbClr>
            </a:outerShdw>
          </a:effectLst>
        </p:spPr>
        <p:txBody>
          <a:bodyPr/>
          <a:lstStyle/>
          <a:p>
            <a:endParaRPr lang="en-IN"/>
          </a:p>
        </p:txBody>
      </p:sp>
      <p:sp>
        <p:nvSpPr>
          <p:cNvPr id="33" name="Shape 26"/>
          <p:cNvSpPr/>
          <p:nvPr/>
        </p:nvSpPr>
        <p:spPr>
          <a:xfrm>
            <a:off x="8558784" y="4462272"/>
            <a:ext cx="219456" cy="219456"/>
          </a:xfrm>
          <a:prstGeom prst="diamond">
            <a:avLst/>
          </a:prstGeom>
          <a:solidFill>
            <a:srgbClr val="4F46E5"/>
          </a:solidFill>
          <a:ln/>
        </p:spPr>
        <p:txBody>
          <a:bodyPr/>
          <a:lstStyle/>
          <a:p>
            <a:endParaRPr lang="en-IN"/>
          </a:p>
        </p:txBody>
      </p:sp>
      <p:sp>
        <p:nvSpPr>
          <p:cNvPr id="34" name="Text 27"/>
          <p:cNvSpPr/>
          <p:nvPr/>
        </p:nvSpPr>
        <p:spPr>
          <a:xfrm>
            <a:off x="8449056" y="4828032"/>
            <a:ext cx="3145536" cy="868680"/>
          </a:xfrm>
          <a:prstGeom prst="rect">
            <a:avLst/>
          </a:prstGeom>
          <a:noFill/>
          <a:ln/>
        </p:spPr>
        <p:txBody>
          <a:bodyPr wrap="square" lIns="0" tIns="0" rIns="0" bIns="0" rtlCol="0" anchor="t"/>
          <a:lstStyle/>
          <a:p>
            <a:pPr marL="0" indent="0">
              <a:buNone/>
            </a:pPr>
            <a:r>
              <a:rPr lang="en-US" sz="1250" b="1" dirty="0">
                <a:solidFill>
                  <a:srgbClr val="4F46E5"/>
                </a:solidFill>
                <a:latin typeface="Calibri" pitchFamily="34" charset="0"/>
                <a:ea typeface="Calibri" pitchFamily="34" charset="-122"/>
                <a:cs typeface="Calibri" pitchFamily="34" charset="-120"/>
              </a:rPr>
              <a:t>This gives us the foundation on which the broader HR platform can be built.</a:t>
            </a:r>
            <a:endParaRPr lang="en-US" sz="1250" dirty="0"/>
          </a:p>
        </p:txBody>
      </p:sp>
      <p:sp>
        <p:nvSpPr>
          <p:cNvPr id="35" name="Text 28"/>
          <p:cNvSpPr/>
          <p:nvPr/>
        </p:nvSpPr>
        <p:spPr>
          <a:xfrm>
            <a:off x="548640" y="6473952"/>
            <a:ext cx="2743200" cy="274320"/>
          </a:xfrm>
          <a:prstGeom prst="rect">
            <a:avLst/>
          </a:prstGeom>
          <a:noFill/>
          <a:ln/>
        </p:spPr>
        <p:txBody>
          <a:bodyPr wrap="square" lIns="0" tIns="0" rIns="0" bIns="0"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Orbit</a:t>
            </a: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36" name="Text 29"/>
          <p:cNvSpPr/>
          <p:nvPr/>
        </p:nvSpPr>
        <p:spPr>
          <a:xfrm>
            <a:off x="11277295" y="6473952"/>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marL="0" indent="0">
              <a:buNone/>
            </a:pPr>
            <a:r>
              <a:rPr lang="en-US" sz="1200" b="1" kern="0" spc="300" dirty="0">
                <a:solidFill>
                  <a:srgbClr val="4F46E5"/>
                </a:solidFill>
                <a:latin typeface="Calibri" pitchFamily="34" charset="0"/>
                <a:ea typeface="Calibri" pitchFamily="34" charset="-122"/>
                <a:cs typeface="Calibri" pitchFamily="34" charset="-120"/>
              </a:rPr>
              <a:t>PRODUCT TOUR</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marL="0" indent="0">
              <a:buNone/>
            </a:pPr>
            <a:r>
              <a:rPr lang="en-US" sz="3000" b="1" dirty="0">
                <a:solidFill>
                  <a:srgbClr val="0F172A"/>
                </a:solidFill>
                <a:latin typeface="Cambria" pitchFamily="34" charset="0"/>
                <a:ea typeface="Cambria" pitchFamily="34" charset="-122"/>
                <a:cs typeface="Cambria" pitchFamily="34" charset="-120"/>
              </a:rPr>
              <a:t>One system, different roles</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Orbit adapts to your responsibility.</a:t>
            </a:r>
            <a:endParaRPr lang="en-US" sz="1400" dirty="0"/>
          </a:p>
        </p:txBody>
      </p:sp>
      <p:sp>
        <p:nvSpPr>
          <p:cNvPr id="5" name="Shape 3"/>
          <p:cNvSpPr/>
          <p:nvPr/>
        </p:nvSpPr>
        <p:spPr>
          <a:xfrm>
            <a:off x="11341303" y="585216"/>
            <a:ext cx="146304" cy="146304"/>
          </a:xfrm>
          <a:prstGeom prst="diamond">
            <a:avLst/>
          </a:prstGeom>
          <a:solidFill>
            <a:srgbClr val="818CF8"/>
          </a:solidFill>
          <a:ln/>
        </p:spPr>
        <p:txBody>
          <a:bodyPr/>
          <a:lstStyle/>
          <a:p>
            <a:endParaRPr lang="en-IN"/>
          </a:p>
        </p:txBody>
      </p:sp>
      <p:sp>
        <p:nvSpPr>
          <p:cNvPr id="6" name="Shape 4"/>
          <p:cNvSpPr/>
          <p:nvPr/>
        </p:nvSpPr>
        <p:spPr>
          <a:xfrm>
            <a:off x="548640" y="1783080"/>
            <a:ext cx="3611880" cy="3886200"/>
          </a:xfrm>
          <a:prstGeom prst="roundRect">
            <a:avLst>
              <a:gd name="adj" fmla="val 2532"/>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7" name="Shape 5"/>
          <p:cNvSpPr/>
          <p:nvPr/>
        </p:nvSpPr>
        <p:spPr>
          <a:xfrm>
            <a:off x="822960" y="2057400"/>
            <a:ext cx="512064" cy="512064"/>
          </a:xfrm>
          <a:prstGeom prst="roundRect">
            <a:avLst>
              <a:gd name="adj" fmla="val 16071"/>
            </a:avLst>
          </a:prstGeom>
          <a:solidFill>
            <a:srgbClr val="EEF2FF"/>
          </a:solidFill>
          <a:ln/>
        </p:spPr>
        <p:txBody>
          <a:bodyPr/>
          <a:lstStyle/>
          <a:p>
            <a:endParaRPr lang="en-IN"/>
          </a:p>
        </p:txBody>
      </p:sp>
      <p:pic>
        <p:nvPicPr>
          <p:cNvPr id="8" name="Image 0" descr="preencoded.png"/>
          <p:cNvPicPr>
            <a:picLocks noChangeAspect="1"/>
          </p:cNvPicPr>
          <p:nvPr/>
        </p:nvPicPr>
        <p:blipFill>
          <a:blip r:embed="rId3"/>
          <a:stretch>
            <a:fillRect/>
          </a:stretch>
        </p:blipFill>
        <p:spPr>
          <a:xfrm>
            <a:off x="935614" y="2170054"/>
            <a:ext cx="286756" cy="286756"/>
          </a:xfrm>
          <a:prstGeom prst="rect">
            <a:avLst/>
          </a:prstGeom>
        </p:spPr>
      </p:pic>
      <p:sp>
        <p:nvSpPr>
          <p:cNvPr id="9" name="Text 6"/>
          <p:cNvSpPr/>
          <p:nvPr/>
        </p:nvSpPr>
        <p:spPr>
          <a:xfrm>
            <a:off x="1463040" y="2112264"/>
            <a:ext cx="2514600" cy="411480"/>
          </a:xfrm>
          <a:prstGeom prst="rect">
            <a:avLst/>
          </a:prstGeom>
          <a:noFill/>
          <a:ln/>
        </p:spPr>
        <p:txBody>
          <a:bodyPr wrap="square" lIns="0" tIns="0" rIns="0" bIns="0" rtlCol="0" anchor="ctr"/>
          <a:lstStyle/>
          <a:p>
            <a:pPr marL="0" indent="0">
              <a:buNone/>
            </a:pPr>
            <a:r>
              <a:rPr lang="en-US" sz="1900" b="1" dirty="0">
                <a:solidFill>
                  <a:srgbClr val="0F172A"/>
                </a:solidFill>
                <a:latin typeface="Cambria" pitchFamily="34" charset="0"/>
                <a:ea typeface="Cambria" pitchFamily="34" charset="-122"/>
                <a:cs typeface="Cambria" pitchFamily="34" charset="-120"/>
              </a:rPr>
              <a:t>Employee</a:t>
            </a:r>
            <a:endParaRPr lang="en-US" sz="1900" dirty="0"/>
          </a:p>
        </p:txBody>
      </p:sp>
      <p:sp>
        <p:nvSpPr>
          <p:cNvPr id="10" name="Text 7"/>
          <p:cNvSpPr/>
          <p:nvPr/>
        </p:nvSpPr>
        <p:spPr>
          <a:xfrm>
            <a:off x="841248" y="2788920"/>
            <a:ext cx="3044952" cy="2743200"/>
          </a:xfrm>
          <a:prstGeom prst="rect">
            <a:avLst/>
          </a:prstGeom>
          <a:noFill/>
          <a:ln/>
        </p:spPr>
        <p:txBody>
          <a:bodyPr wrap="square" lIns="0" tIns="0" rIns="0" bIns="0" rtlCol="0" anchor="t"/>
          <a:lstStyle/>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Manage attendance</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Check leave balances</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Apply for leave and WFH</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View calendar and notifications</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Access profile and documents</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Submit feedback or HR requests</a:t>
            </a:r>
            <a:endParaRPr lang="en-US" sz="1230" dirty="0"/>
          </a:p>
        </p:txBody>
      </p:sp>
      <p:sp>
        <p:nvSpPr>
          <p:cNvPr id="11" name="Shape 8"/>
          <p:cNvSpPr/>
          <p:nvPr/>
        </p:nvSpPr>
        <p:spPr>
          <a:xfrm>
            <a:off x="4352544" y="1783080"/>
            <a:ext cx="3611880" cy="3886200"/>
          </a:xfrm>
          <a:prstGeom prst="roundRect">
            <a:avLst>
              <a:gd name="adj" fmla="val 2532"/>
            </a:avLst>
          </a:prstGeom>
          <a:solidFill>
            <a:srgbClr val="EEF2FF"/>
          </a:solidFill>
          <a:ln w="12700">
            <a:solidFill>
              <a:srgbClr val="C7D2FE"/>
            </a:solidFill>
            <a:prstDash val="solid"/>
          </a:ln>
          <a:effectLst>
            <a:outerShdw blurRad="76200" dist="12700" dir="5400000" algn="bl" rotWithShape="0">
              <a:srgbClr val="94A3B8">
                <a:alpha val="18000"/>
              </a:srgbClr>
            </a:outerShdw>
          </a:effectLst>
        </p:spPr>
        <p:txBody>
          <a:bodyPr/>
          <a:lstStyle/>
          <a:p>
            <a:endParaRPr lang="en-IN"/>
          </a:p>
        </p:txBody>
      </p:sp>
      <p:sp>
        <p:nvSpPr>
          <p:cNvPr id="12" name="Shape 9"/>
          <p:cNvSpPr/>
          <p:nvPr/>
        </p:nvSpPr>
        <p:spPr>
          <a:xfrm>
            <a:off x="4626864" y="2057400"/>
            <a:ext cx="512064" cy="512064"/>
          </a:xfrm>
          <a:prstGeom prst="roundRect">
            <a:avLst>
              <a:gd name="adj" fmla="val 16071"/>
            </a:avLst>
          </a:prstGeom>
          <a:solidFill>
            <a:srgbClr val="E0E7FF"/>
          </a:solidFill>
          <a:ln/>
        </p:spPr>
        <p:txBody>
          <a:bodyPr/>
          <a:lstStyle/>
          <a:p>
            <a:endParaRPr lang="en-IN"/>
          </a:p>
        </p:txBody>
      </p:sp>
      <p:pic>
        <p:nvPicPr>
          <p:cNvPr id="13" name="Image 1" descr="preencoded.png"/>
          <p:cNvPicPr>
            <a:picLocks noChangeAspect="1"/>
          </p:cNvPicPr>
          <p:nvPr/>
        </p:nvPicPr>
        <p:blipFill>
          <a:blip r:embed="rId4"/>
          <a:stretch>
            <a:fillRect/>
          </a:stretch>
        </p:blipFill>
        <p:spPr>
          <a:xfrm>
            <a:off x="4739518" y="2170054"/>
            <a:ext cx="286756" cy="286756"/>
          </a:xfrm>
          <a:prstGeom prst="rect">
            <a:avLst/>
          </a:prstGeom>
        </p:spPr>
      </p:pic>
      <p:sp>
        <p:nvSpPr>
          <p:cNvPr id="14" name="Text 10"/>
          <p:cNvSpPr/>
          <p:nvPr/>
        </p:nvSpPr>
        <p:spPr>
          <a:xfrm>
            <a:off x="5266944" y="2112264"/>
            <a:ext cx="2514600" cy="411480"/>
          </a:xfrm>
          <a:prstGeom prst="rect">
            <a:avLst/>
          </a:prstGeom>
          <a:noFill/>
          <a:ln/>
        </p:spPr>
        <p:txBody>
          <a:bodyPr wrap="square" lIns="0" tIns="0" rIns="0" bIns="0" rtlCol="0" anchor="ctr"/>
          <a:lstStyle/>
          <a:p>
            <a:pPr marL="0" indent="0">
              <a:buNone/>
            </a:pPr>
            <a:r>
              <a:rPr lang="en-US" sz="1900" b="1" dirty="0">
                <a:solidFill>
                  <a:srgbClr val="0F172A"/>
                </a:solidFill>
                <a:latin typeface="Cambria" pitchFamily="34" charset="0"/>
                <a:ea typeface="Cambria" pitchFamily="34" charset="-122"/>
                <a:cs typeface="Cambria" pitchFamily="34" charset="-120"/>
              </a:rPr>
              <a:t>Manager</a:t>
            </a:r>
            <a:endParaRPr lang="en-US" sz="1900" dirty="0"/>
          </a:p>
        </p:txBody>
      </p:sp>
      <p:sp>
        <p:nvSpPr>
          <p:cNvPr id="15" name="Text 11"/>
          <p:cNvSpPr/>
          <p:nvPr/>
        </p:nvSpPr>
        <p:spPr>
          <a:xfrm>
            <a:off x="4645152" y="2788920"/>
            <a:ext cx="3044952" cy="2743200"/>
          </a:xfrm>
          <a:prstGeom prst="rect">
            <a:avLst/>
          </a:prstGeom>
          <a:noFill/>
          <a:ln/>
        </p:spPr>
        <p:txBody>
          <a:bodyPr wrap="square" lIns="0" tIns="0" rIns="0" bIns="0" rtlCol="0" anchor="t"/>
          <a:lstStyle/>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Everything available to an employee</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Review requests from direct reports</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Approve or reject requests</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See relevant team information</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Manage team announcements</a:t>
            </a:r>
            <a:endParaRPr lang="en-US" sz="1230" dirty="0"/>
          </a:p>
        </p:txBody>
      </p:sp>
      <p:sp>
        <p:nvSpPr>
          <p:cNvPr id="16" name="Shape 12"/>
          <p:cNvSpPr/>
          <p:nvPr/>
        </p:nvSpPr>
        <p:spPr>
          <a:xfrm>
            <a:off x="8156448" y="1783080"/>
            <a:ext cx="3611880" cy="3886200"/>
          </a:xfrm>
          <a:prstGeom prst="roundRect">
            <a:avLst>
              <a:gd name="adj" fmla="val 2532"/>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7" name="Shape 13"/>
          <p:cNvSpPr/>
          <p:nvPr/>
        </p:nvSpPr>
        <p:spPr>
          <a:xfrm>
            <a:off x="8430768" y="2057400"/>
            <a:ext cx="512064" cy="512064"/>
          </a:xfrm>
          <a:prstGeom prst="roundRect">
            <a:avLst>
              <a:gd name="adj" fmla="val 16071"/>
            </a:avLst>
          </a:prstGeom>
          <a:solidFill>
            <a:srgbClr val="EEF2FF"/>
          </a:solidFill>
          <a:ln/>
        </p:spPr>
        <p:txBody>
          <a:bodyPr/>
          <a:lstStyle/>
          <a:p>
            <a:endParaRPr lang="en-IN"/>
          </a:p>
        </p:txBody>
      </p:sp>
      <p:pic>
        <p:nvPicPr>
          <p:cNvPr id="18" name="Image 2" descr="preencoded.png"/>
          <p:cNvPicPr>
            <a:picLocks noChangeAspect="1"/>
          </p:cNvPicPr>
          <p:nvPr/>
        </p:nvPicPr>
        <p:blipFill>
          <a:blip r:embed="rId5"/>
          <a:stretch>
            <a:fillRect/>
          </a:stretch>
        </p:blipFill>
        <p:spPr>
          <a:xfrm>
            <a:off x="8543422" y="2170054"/>
            <a:ext cx="286756" cy="286756"/>
          </a:xfrm>
          <a:prstGeom prst="rect">
            <a:avLst/>
          </a:prstGeom>
        </p:spPr>
      </p:pic>
      <p:sp>
        <p:nvSpPr>
          <p:cNvPr id="19" name="Text 14"/>
          <p:cNvSpPr/>
          <p:nvPr/>
        </p:nvSpPr>
        <p:spPr>
          <a:xfrm>
            <a:off x="9070848" y="2112264"/>
            <a:ext cx="2514600" cy="411480"/>
          </a:xfrm>
          <a:prstGeom prst="rect">
            <a:avLst/>
          </a:prstGeom>
          <a:noFill/>
          <a:ln/>
        </p:spPr>
        <p:txBody>
          <a:bodyPr wrap="square" lIns="0" tIns="0" rIns="0" bIns="0" rtlCol="0" anchor="ctr"/>
          <a:lstStyle/>
          <a:p>
            <a:pPr marL="0" indent="0">
              <a:buNone/>
            </a:pPr>
            <a:r>
              <a:rPr lang="en-US" sz="1900" b="1" dirty="0">
                <a:solidFill>
                  <a:srgbClr val="0F172A"/>
                </a:solidFill>
                <a:latin typeface="Cambria" pitchFamily="34" charset="0"/>
                <a:ea typeface="Cambria" pitchFamily="34" charset="-122"/>
                <a:cs typeface="Cambria" pitchFamily="34" charset="-120"/>
              </a:rPr>
              <a:t>Administrator</a:t>
            </a:r>
            <a:endParaRPr lang="en-US" sz="1900" dirty="0"/>
          </a:p>
        </p:txBody>
      </p:sp>
      <p:sp>
        <p:nvSpPr>
          <p:cNvPr id="20" name="Text 15"/>
          <p:cNvSpPr/>
          <p:nvPr/>
        </p:nvSpPr>
        <p:spPr>
          <a:xfrm>
            <a:off x="8449056" y="2788920"/>
            <a:ext cx="3044952" cy="2743200"/>
          </a:xfrm>
          <a:prstGeom prst="rect">
            <a:avLst/>
          </a:prstGeom>
          <a:noFill/>
          <a:ln/>
        </p:spPr>
        <p:txBody>
          <a:bodyPr wrap="square" lIns="0" tIns="0" rIns="0" bIns="0" rtlCol="0" anchor="t"/>
          <a:lstStyle/>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Company-wide administration</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Employee and reporting-line management</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Leave and employment policies</a:t>
            </a:r>
            <a:endParaRPr lang="en-US" sz="1230" dirty="0"/>
          </a:p>
          <a:p>
            <a:pPr marL="127000" indent="-127000">
              <a:spcAft>
                <a:spcPts val="800"/>
              </a:spcAft>
              <a:buSzPct val="100000"/>
              <a:buChar char="•"/>
            </a:pPr>
            <a:r>
              <a:rPr lang="en-US" sz="1230" dirty="0">
                <a:solidFill>
                  <a:srgbClr val="0F172A"/>
                </a:solidFill>
                <a:latin typeface="Calibri" pitchFamily="34" charset="0"/>
                <a:ea typeface="Calibri" pitchFamily="34" charset="-122"/>
                <a:cs typeface="Calibri" pitchFamily="34" charset="-120"/>
              </a:rPr>
              <a:t>Organization-level visibility and settings</a:t>
            </a:r>
            <a:endParaRPr lang="en-US" sz="1230" dirty="0"/>
          </a:p>
        </p:txBody>
      </p:sp>
      <p:sp>
        <p:nvSpPr>
          <p:cNvPr id="21" name="Text 16"/>
          <p:cNvSpPr/>
          <p:nvPr/>
        </p:nvSpPr>
        <p:spPr>
          <a:xfrm>
            <a:off x="566928" y="5852160"/>
            <a:ext cx="10515600" cy="292608"/>
          </a:xfrm>
          <a:prstGeom prst="rect">
            <a:avLst/>
          </a:prstGeom>
          <a:noFill/>
          <a:ln/>
        </p:spPr>
        <p:txBody>
          <a:bodyPr wrap="square" lIns="0" tIns="0" rIns="0" bIns="0" rtlCol="0" anchor="ctr"/>
          <a:lstStyle/>
          <a:p>
            <a:pPr marL="0" indent="0">
              <a:buNone/>
            </a:pPr>
            <a:r>
              <a:rPr lang="en-US" sz="1150" i="1" dirty="0">
                <a:solidFill>
                  <a:srgbClr val="64748B"/>
                </a:solidFill>
                <a:latin typeface="Calibri" pitchFamily="34" charset="0"/>
                <a:ea typeface="Calibri" pitchFamily="34" charset="-122"/>
                <a:cs typeface="Calibri" pitchFamily="34" charset="-120"/>
              </a:rPr>
              <a:t>These roles and capabilities are already available in the current beta.</a:t>
            </a:r>
            <a:endParaRPr lang="en-US" sz="1150" dirty="0"/>
          </a:p>
        </p:txBody>
      </p:sp>
      <p:sp>
        <p:nvSpPr>
          <p:cNvPr id="22" name="Text 17"/>
          <p:cNvSpPr/>
          <p:nvPr/>
        </p:nvSpPr>
        <p:spPr>
          <a:xfrm>
            <a:off x="548640" y="6473952"/>
            <a:ext cx="2743200" cy="274320"/>
          </a:xfrm>
          <a:prstGeom prst="rect">
            <a:avLst/>
          </a:prstGeom>
          <a:noFill/>
          <a:ln/>
        </p:spPr>
        <p:txBody>
          <a:bodyPr wrap="square" lIns="0" tIns="0" rIns="0" bIns="0"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Orbit</a:t>
            </a: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23" name="Text 18"/>
          <p:cNvSpPr/>
          <p:nvPr/>
        </p:nvSpPr>
        <p:spPr>
          <a:xfrm>
            <a:off x="11277295" y="6473952"/>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marL="0" indent="0">
              <a:buNone/>
            </a:pPr>
            <a:r>
              <a:rPr lang="en-US" sz="1200" b="1" kern="0" spc="300" dirty="0">
                <a:solidFill>
                  <a:srgbClr val="4F46E5"/>
                </a:solidFill>
                <a:latin typeface="Calibri" pitchFamily="34" charset="0"/>
                <a:ea typeface="Calibri" pitchFamily="34" charset="-122"/>
                <a:cs typeface="Calibri" pitchFamily="34" charset="-120"/>
              </a:rPr>
              <a:t>PRODUCT TOUR</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marL="0" indent="0">
              <a:buNone/>
            </a:pPr>
            <a:r>
              <a:rPr lang="en-US" sz="3000" b="1" dirty="0">
                <a:solidFill>
                  <a:srgbClr val="0F172A"/>
                </a:solidFill>
                <a:latin typeface="Cambria" pitchFamily="34" charset="0"/>
                <a:ea typeface="Cambria" pitchFamily="34" charset="-122"/>
                <a:cs typeface="Cambria" pitchFamily="34" charset="-120"/>
              </a:rPr>
              <a:t>Leave, without the guesswork</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Know what you have before you request it.</a:t>
            </a:r>
            <a:endParaRPr lang="en-US" sz="1400" dirty="0"/>
          </a:p>
        </p:txBody>
      </p:sp>
      <p:sp>
        <p:nvSpPr>
          <p:cNvPr id="5" name="Shape 3"/>
          <p:cNvSpPr/>
          <p:nvPr/>
        </p:nvSpPr>
        <p:spPr>
          <a:xfrm>
            <a:off x="11341303" y="585216"/>
            <a:ext cx="146304" cy="146304"/>
          </a:xfrm>
          <a:prstGeom prst="diamond">
            <a:avLst/>
          </a:prstGeom>
          <a:solidFill>
            <a:srgbClr val="818CF8"/>
          </a:solidFill>
          <a:ln/>
        </p:spPr>
        <p:txBody>
          <a:bodyPr/>
          <a:lstStyle/>
          <a:p>
            <a:endParaRPr lang="en-IN"/>
          </a:p>
        </p:txBody>
      </p:sp>
      <p:sp>
        <p:nvSpPr>
          <p:cNvPr id="6" name="Shape 4"/>
          <p:cNvSpPr/>
          <p:nvPr/>
        </p:nvSpPr>
        <p:spPr>
          <a:xfrm>
            <a:off x="548640" y="1783080"/>
            <a:ext cx="5349240" cy="4160520"/>
          </a:xfrm>
          <a:prstGeom prst="roundRect">
            <a:avLst>
              <a:gd name="adj" fmla="val 2198"/>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7" name="Text 5"/>
          <p:cNvSpPr/>
          <p:nvPr/>
        </p:nvSpPr>
        <p:spPr>
          <a:xfrm>
            <a:off x="868680" y="2011680"/>
            <a:ext cx="4572000" cy="36576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The beta supports:</a:t>
            </a:r>
            <a:endParaRPr lang="en-US" sz="1400" dirty="0"/>
          </a:p>
        </p:txBody>
      </p:sp>
      <p:sp>
        <p:nvSpPr>
          <p:cNvPr id="8" name="Shape 6"/>
          <p:cNvSpPr/>
          <p:nvPr/>
        </p:nvSpPr>
        <p:spPr>
          <a:xfrm>
            <a:off x="886968" y="2487168"/>
            <a:ext cx="329184" cy="329184"/>
          </a:xfrm>
          <a:prstGeom prst="roundRect">
            <a:avLst>
              <a:gd name="adj" fmla="val 25000"/>
            </a:avLst>
          </a:prstGeom>
          <a:solidFill>
            <a:srgbClr val="ECFDF5"/>
          </a:solidFill>
          <a:ln/>
        </p:spPr>
        <p:txBody>
          <a:bodyPr/>
          <a:lstStyle/>
          <a:p>
            <a:endParaRPr lang="en-IN"/>
          </a:p>
        </p:txBody>
      </p:sp>
      <p:pic>
        <p:nvPicPr>
          <p:cNvPr id="9" name="Image 0" descr="preencoded.png"/>
          <p:cNvPicPr>
            <a:picLocks noChangeAspect="1"/>
          </p:cNvPicPr>
          <p:nvPr/>
        </p:nvPicPr>
        <p:blipFill>
          <a:blip r:embed="rId3"/>
          <a:stretch>
            <a:fillRect/>
          </a:stretch>
        </p:blipFill>
        <p:spPr>
          <a:xfrm>
            <a:off x="959388" y="2559588"/>
            <a:ext cx="184343" cy="184343"/>
          </a:xfrm>
          <a:prstGeom prst="rect">
            <a:avLst/>
          </a:prstGeom>
        </p:spPr>
      </p:pic>
      <p:sp>
        <p:nvSpPr>
          <p:cNvPr id="10" name="Text 7"/>
          <p:cNvSpPr/>
          <p:nvPr/>
        </p:nvSpPr>
        <p:spPr>
          <a:xfrm>
            <a:off x="1362456" y="2441448"/>
            <a:ext cx="4297680" cy="420624"/>
          </a:xfrm>
          <a:prstGeom prst="rect">
            <a:avLst/>
          </a:prstGeom>
          <a:noFill/>
          <a:ln/>
        </p:spPr>
        <p:txBody>
          <a:bodyPr wrap="square" lIns="0" tIns="0" rIns="0" bIns="0" rtlCol="0" anchor="ctr"/>
          <a:lstStyle/>
          <a:p>
            <a:pPr marL="0" indent="0">
              <a:buNone/>
            </a:pPr>
            <a:r>
              <a:rPr lang="en-US" sz="1300" dirty="0">
                <a:solidFill>
                  <a:srgbClr val="0F172A"/>
                </a:solidFill>
                <a:latin typeface="Calibri" pitchFamily="34" charset="0"/>
                <a:ea typeface="Calibri" pitchFamily="34" charset="-122"/>
                <a:cs typeface="Calibri" pitchFamily="34" charset="-120"/>
              </a:rPr>
              <a:t>Full-day leave</a:t>
            </a:r>
            <a:endParaRPr lang="en-US" sz="1300" dirty="0"/>
          </a:p>
        </p:txBody>
      </p:sp>
      <p:sp>
        <p:nvSpPr>
          <p:cNvPr id="11" name="Shape 8"/>
          <p:cNvSpPr/>
          <p:nvPr/>
        </p:nvSpPr>
        <p:spPr>
          <a:xfrm>
            <a:off x="886968" y="2962656"/>
            <a:ext cx="329184" cy="329184"/>
          </a:xfrm>
          <a:prstGeom prst="roundRect">
            <a:avLst>
              <a:gd name="adj" fmla="val 25000"/>
            </a:avLst>
          </a:prstGeom>
          <a:solidFill>
            <a:srgbClr val="ECFDF5"/>
          </a:solidFill>
          <a:ln/>
        </p:spPr>
        <p:txBody>
          <a:bodyPr/>
          <a:lstStyle/>
          <a:p>
            <a:endParaRPr lang="en-IN"/>
          </a:p>
        </p:txBody>
      </p:sp>
      <p:pic>
        <p:nvPicPr>
          <p:cNvPr id="12" name="Image 1" descr="preencoded.png"/>
          <p:cNvPicPr>
            <a:picLocks noChangeAspect="1"/>
          </p:cNvPicPr>
          <p:nvPr/>
        </p:nvPicPr>
        <p:blipFill>
          <a:blip r:embed="rId3"/>
          <a:stretch>
            <a:fillRect/>
          </a:stretch>
        </p:blipFill>
        <p:spPr>
          <a:xfrm>
            <a:off x="959388" y="3035076"/>
            <a:ext cx="184343" cy="184343"/>
          </a:xfrm>
          <a:prstGeom prst="rect">
            <a:avLst/>
          </a:prstGeom>
        </p:spPr>
      </p:pic>
      <p:sp>
        <p:nvSpPr>
          <p:cNvPr id="13" name="Text 9"/>
          <p:cNvSpPr/>
          <p:nvPr/>
        </p:nvSpPr>
        <p:spPr>
          <a:xfrm>
            <a:off x="1362456" y="2916936"/>
            <a:ext cx="4297680" cy="420624"/>
          </a:xfrm>
          <a:prstGeom prst="rect">
            <a:avLst/>
          </a:prstGeom>
          <a:noFill/>
          <a:ln/>
        </p:spPr>
        <p:txBody>
          <a:bodyPr wrap="square" lIns="0" tIns="0" rIns="0" bIns="0" rtlCol="0" anchor="ctr"/>
          <a:lstStyle/>
          <a:p>
            <a:pPr marL="0" indent="0">
              <a:buNone/>
            </a:pPr>
            <a:r>
              <a:rPr lang="en-US" sz="1300" dirty="0">
                <a:solidFill>
                  <a:srgbClr val="0F172A"/>
                </a:solidFill>
                <a:latin typeface="Calibri" pitchFamily="34" charset="0"/>
                <a:ea typeface="Calibri" pitchFamily="34" charset="-122"/>
                <a:cs typeface="Calibri" pitchFamily="34" charset="-120"/>
              </a:rPr>
              <a:t>Half-day leave</a:t>
            </a:r>
            <a:endParaRPr lang="en-US" sz="1300" dirty="0"/>
          </a:p>
        </p:txBody>
      </p:sp>
      <p:sp>
        <p:nvSpPr>
          <p:cNvPr id="14" name="Shape 10"/>
          <p:cNvSpPr/>
          <p:nvPr/>
        </p:nvSpPr>
        <p:spPr>
          <a:xfrm>
            <a:off x="886968" y="3438144"/>
            <a:ext cx="329184" cy="329184"/>
          </a:xfrm>
          <a:prstGeom prst="roundRect">
            <a:avLst>
              <a:gd name="adj" fmla="val 25000"/>
            </a:avLst>
          </a:prstGeom>
          <a:solidFill>
            <a:srgbClr val="ECFDF5"/>
          </a:solidFill>
          <a:ln/>
        </p:spPr>
        <p:txBody>
          <a:bodyPr/>
          <a:lstStyle/>
          <a:p>
            <a:endParaRPr lang="en-IN"/>
          </a:p>
        </p:txBody>
      </p:sp>
      <p:pic>
        <p:nvPicPr>
          <p:cNvPr id="15" name="Image 2" descr="preencoded.png"/>
          <p:cNvPicPr>
            <a:picLocks noChangeAspect="1"/>
          </p:cNvPicPr>
          <p:nvPr/>
        </p:nvPicPr>
        <p:blipFill>
          <a:blip r:embed="rId3"/>
          <a:stretch>
            <a:fillRect/>
          </a:stretch>
        </p:blipFill>
        <p:spPr>
          <a:xfrm>
            <a:off x="959388" y="3510564"/>
            <a:ext cx="184343" cy="184343"/>
          </a:xfrm>
          <a:prstGeom prst="rect">
            <a:avLst/>
          </a:prstGeom>
        </p:spPr>
      </p:pic>
      <p:sp>
        <p:nvSpPr>
          <p:cNvPr id="16" name="Text 11"/>
          <p:cNvSpPr/>
          <p:nvPr/>
        </p:nvSpPr>
        <p:spPr>
          <a:xfrm>
            <a:off x="1362456" y="3392424"/>
            <a:ext cx="4297680" cy="420624"/>
          </a:xfrm>
          <a:prstGeom prst="rect">
            <a:avLst/>
          </a:prstGeom>
          <a:noFill/>
          <a:ln/>
        </p:spPr>
        <p:txBody>
          <a:bodyPr wrap="square" lIns="0" tIns="0" rIns="0" bIns="0" rtlCol="0" anchor="ctr"/>
          <a:lstStyle/>
          <a:p>
            <a:pPr marL="0" indent="0">
              <a:buNone/>
            </a:pPr>
            <a:r>
              <a:rPr lang="en-US" sz="1300" dirty="0">
                <a:solidFill>
                  <a:srgbClr val="0F172A"/>
                </a:solidFill>
                <a:latin typeface="Calibri" pitchFamily="34" charset="0"/>
                <a:ea typeface="Calibri" pitchFamily="34" charset="-122"/>
                <a:cs typeface="Calibri" pitchFamily="34" charset="-120"/>
              </a:rPr>
              <a:t>Consecutive date ranges</a:t>
            </a:r>
            <a:endParaRPr lang="en-US" sz="1300" dirty="0"/>
          </a:p>
        </p:txBody>
      </p:sp>
      <p:sp>
        <p:nvSpPr>
          <p:cNvPr id="17" name="Shape 12"/>
          <p:cNvSpPr/>
          <p:nvPr/>
        </p:nvSpPr>
        <p:spPr>
          <a:xfrm>
            <a:off x="886968" y="3913632"/>
            <a:ext cx="329184" cy="329184"/>
          </a:xfrm>
          <a:prstGeom prst="roundRect">
            <a:avLst>
              <a:gd name="adj" fmla="val 25000"/>
            </a:avLst>
          </a:prstGeom>
          <a:solidFill>
            <a:srgbClr val="ECFDF5"/>
          </a:solidFill>
          <a:ln/>
        </p:spPr>
        <p:txBody>
          <a:bodyPr/>
          <a:lstStyle/>
          <a:p>
            <a:endParaRPr lang="en-IN"/>
          </a:p>
        </p:txBody>
      </p:sp>
      <p:pic>
        <p:nvPicPr>
          <p:cNvPr id="18" name="Image 3" descr="preencoded.png"/>
          <p:cNvPicPr>
            <a:picLocks noChangeAspect="1"/>
          </p:cNvPicPr>
          <p:nvPr/>
        </p:nvPicPr>
        <p:blipFill>
          <a:blip r:embed="rId3"/>
          <a:stretch>
            <a:fillRect/>
          </a:stretch>
        </p:blipFill>
        <p:spPr>
          <a:xfrm>
            <a:off x="959388" y="3986052"/>
            <a:ext cx="184343" cy="184343"/>
          </a:xfrm>
          <a:prstGeom prst="rect">
            <a:avLst/>
          </a:prstGeom>
        </p:spPr>
      </p:pic>
      <p:sp>
        <p:nvSpPr>
          <p:cNvPr id="19" name="Text 13"/>
          <p:cNvSpPr/>
          <p:nvPr/>
        </p:nvSpPr>
        <p:spPr>
          <a:xfrm>
            <a:off x="1362456" y="3867912"/>
            <a:ext cx="4297680" cy="420624"/>
          </a:xfrm>
          <a:prstGeom prst="rect">
            <a:avLst/>
          </a:prstGeom>
          <a:noFill/>
          <a:ln/>
        </p:spPr>
        <p:txBody>
          <a:bodyPr wrap="square" lIns="0" tIns="0" rIns="0" bIns="0" rtlCol="0" anchor="ctr"/>
          <a:lstStyle/>
          <a:p>
            <a:pPr marL="0" indent="0">
              <a:buNone/>
            </a:pPr>
            <a:r>
              <a:rPr lang="en-US" sz="1300" dirty="0">
                <a:solidFill>
                  <a:srgbClr val="0F172A"/>
                </a:solidFill>
                <a:latin typeface="Calibri" pitchFamily="34" charset="0"/>
                <a:ea typeface="Calibri" pitchFamily="34" charset="-122"/>
                <a:cs typeface="Calibri" pitchFamily="34" charset="-120"/>
              </a:rPr>
              <a:t>Selected / custom dates</a:t>
            </a:r>
            <a:endParaRPr lang="en-US" sz="1300" dirty="0"/>
          </a:p>
        </p:txBody>
      </p:sp>
      <p:sp>
        <p:nvSpPr>
          <p:cNvPr id="20" name="Shape 14"/>
          <p:cNvSpPr/>
          <p:nvPr/>
        </p:nvSpPr>
        <p:spPr>
          <a:xfrm>
            <a:off x="886968" y="4389120"/>
            <a:ext cx="329184" cy="329184"/>
          </a:xfrm>
          <a:prstGeom prst="roundRect">
            <a:avLst>
              <a:gd name="adj" fmla="val 25000"/>
            </a:avLst>
          </a:prstGeom>
          <a:solidFill>
            <a:srgbClr val="ECFDF5"/>
          </a:solidFill>
          <a:ln/>
        </p:spPr>
        <p:txBody>
          <a:bodyPr/>
          <a:lstStyle/>
          <a:p>
            <a:endParaRPr lang="en-IN"/>
          </a:p>
        </p:txBody>
      </p:sp>
      <p:pic>
        <p:nvPicPr>
          <p:cNvPr id="21" name="Image 4" descr="preencoded.png"/>
          <p:cNvPicPr>
            <a:picLocks noChangeAspect="1"/>
          </p:cNvPicPr>
          <p:nvPr/>
        </p:nvPicPr>
        <p:blipFill>
          <a:blip r:embed="rId3"/>
          <a:stretch>
            <a:fillRect/>
          </a:stretch>
        </p:blipFill>
        <p:spPr>
          <a:xfrm>
            <a:off x="959388" y="4461540"/>
            <a:ext cx="184343" cy="184343"/>
          </a:xfrm>
          <a:prstGeom prst="rect">
            <a:avLst/>
          </a:prstGeom>
        </p:spPr>
      </p:pic>
      <p:sp>
        <p:nvSpPr>
          <p:cNvPr id="22" name="Text 15"/>
          <p:cNvSpPr/>
          <p:nvPr/>
        </p:nvSpPr>
        <p:spPr>
          <a:xfrm>
            <a:off x="1362456" y="4343400"/>
            <a:ext cx="4297680" cy="420624"/>
          </a:xfrm>
          <a:prstGeom prst="rect">
            <a:avLst/>
          </a:prstGeom>
          <a:noFill/>
          <a:ln/>
        </p:spPr>
        <p:txBody>
          <a:bodyPr wrap="square" lIns="0" tIns="0" rIns="0" bIns="0" rtlCol="0" anchor="ctr"/>
          <a:lstStyle/>
          <a:p>
            <a:pPr marL="0" indent="0">
              <a:buNone/>
            </a:pPr>
            <a:r>
              <a:rPr lang="en-US" sz="1300" dirty="0">
                <a:solidFill>
                  <a:srgbClr val="0F172A"/>
                </a:solidFill>
                <a:latin typeface="Calibri" pitchFamily="34" charset="0"/>
                <a:ea typeface="Calibri" pitchFamily="34" charset="-122"/>
                <a:cs typeface="Calibri" pitchFamily="34" charset="-120"/>
              </a:rPr>
              <a:t>Different leave types</a:t>
            </a:r>
            <a:endParaRPr lang="en-US" sz="1300" dirty="0"/>
          </a:p>
        </p:txBody>
      </p:sp>
      <p:sp>
        <p:nvSpPr>
          <p:cNvPr id="23" name="Shape 16"/>
          <p:cNvSpPr/>
          <p:nvPr/>
        </p:nvSpPr>
        <p:spPr>
          <a:xfrm>
            <a:off x="886968" y="4864608"/>
            <a:ext cx="329184" cy="329184"/>
          </a:xfrm>
          <a:prstGeom prst="roundRect">
            <a:avLst>
              <a:gd name="adj" fmla="val 25000"/>
            </a:avLst>
          </a:prstGeom>
          <a:solidFill>
            <a:srgbClr val="ECFDF5"/>
          </a:solidFill>
          <a:ln/>
        </p:spPr>
        <p:txBody>
          <a:bodyPr/>
          <a:lstStyle/>
          <a:p>
            <a:endParaRPr lang="en-IN"/>
          </a:p>
        </p:txBody>
      </p:sp>
      <p:pic>
        <p:nvPicPr>
          <p:cNvPr id="24" name="Image 5" descr="preencoded.png"/>
          <p:cNvPicPr>
            <a:picLocks noChangeAspect="1"/>
          </p:cNvPicPr>
          <p:nvPr/>
        </p:nvPicPr>
        <p:blipFill>
          <a:blip r:embed="rId3"/>
          <a:stretch>
            <a:fillRect/>
          </a:stretch>
        </p:blipFill>
        <p:spPr>
          <a:xfrm>
            <a:off x="959388" y="4937028"/>
            <a:ext cx="184343" cy="184343"/>
          </a:xfrm>
          <a:prstGeom prst="rect">
            <a:avLst/>
          </a:prstGeom>
        </p:spPr>
      </p:pic>
      <p:sp>
        <p:nvSpPr>
          <p:cNvPr id="25" name="Text 17"/>
          <p:cNvSpPr/>
          <p:nvPr/>
        </p:nvSpPr>
        <p:spPr>
          <a:xfrm>
            <a:off x="1362456" y="4818888"/>
            <a:ext cx="4297680" cy="420624"/>
          </a:xfrm>
          <a:prstGeom prst="rect">
            <a:avLst/>
          </a:prstGeom>
          <a:noFill/>
          <a:ln/>
        </p:spPr>
        <p:txBody>
          <a:bodyPr wrap="square" lIns="0" tIns="0" rIns="0" bIns="0" rtlCol="0" anchor="ctr"/>
          <a:lstStyle/>
          <a:p>
            <a:pPr marL="0" indent="0">
              <a:buNone/>
            </a:pPr>
            <a:r>
              <a:rPr lang="en-US" sz="1300" dirty="0">
                <a:solidFill>
                  <a:srgbClr val="0F172A"/>
                </a:solidFill>
                <a:latin typeface="Calibri" pitchFamily="34" charset="0"/>
                <a:ea typeface="Calibri" pitchFamily="34" charset="-122"/>
                <a:cs typeface="Calibri" pitchFamily="34" charset="-120"/>
              </a:rPr>
              <a:t>Request status</a:t>
            </a:r>
            <a:endParaRPr lang="en-US" sz="1300" dirty="0"/>
          </a:p>
        </p:txBody>
      </p:sp>
      <p:sp>
        <p:nvSpPr>
          <p:cNvPr id="26" name="Shape 18"/>
          <p:cNvSpPr/>
          <p:nvPr/>
        </p:nvSpPr>
        <p:spPr>
          <a:xfrm>
            <a:off x="886968" y="5340096"/>
            <a:ext cx="329184" cy="329184"/>
          </a:xfrm>
          <a:prstGeom prst="roundRect">
            <a:avLst>
              <a:gd name="adj" fmla="val 25000"/>
            </a:avLst>
          </a:prstGeom>
          <a:solidFill>
            <a:srgbClr val="ECFDF5"/>
          </a:solidFill>
          <a:ln/>
        </p:spPr>
        <p:txBody>
          <a:bodyPr/>
          <a:lstStyle/>
          <a:p>
            <a:endParaRPr lang="en-IN"/>
          </a:p>
        </p:txBody>
      </p:sp>
      <p:pic>
        <p:nvPicPr>
          <p:cNvPr id="27" name="Image 6" descr="preencoded.png"/>
          <p:cNvPicPr>
            <a:picLocks noChangeAspect="1"/>
          </p:cNvPicPr>
          <p:nvPr/>
        </p:nvPicPr>
        <p:blipFill>
          <a:blip r:embed="rId3"/>
          <a:stretch>
            <a:fillRect/>
          </a:stretch>
        </p:blipFill>
        <p:spPr>
          <a:xfrm>
            <a:off x="959388" y="5412516"/>
            <a:ext cx="184343" cy="184343"/>
          </a:xfrm>
          <a:prstGeom prst="rect">
            <a:avLst/>
          </a:prstGeom>
        </p:spPr>
      </p:pic>
      <p:sp>
        <p:nvSpPr>
          <p:cNvPr id="28" name="Text 19"/>
          <p:cNvSpPr/>
          <p:nvPr/>
        </p:nvSpPr>
        <p:spPr>
          <a:xfrm>
            <a:off x="1362456" y="5294376"/>
            <a:ext cx="4297680" cy="420624"/>
          </a:xfrm>
          <a:prstGeom prst="rect">
            <a:avLst/>
          </a:prstGeom>
          <a:noFill/>
          <a:ln/>
        </p:spPr>
        <p:txBody>
          <a:bodyPr wrap="square" lIns="0" tIns="0" rIns="0" bIns="0" rtlCol="0" anchor="ctr"/>
          <a:lstStyle/>
          <a:p>
            <a:pPr marL="0" indent="0">
              <a:buNone/>
            </a:pPr>
            <a:r>
              <a:rPr lang="en-US" sz="1300" dirty="0">
                <a:solidFill>
                  <a:srgbClr val="0F172A"/>
                </a:solidFill>
                <a:latin typeface="Calibri" pitchFamily="34" charset="0"/>
                <a:ea typeface="Calibri" pitchFamily="34" charset="-122"/>
                <a:cs typeface="Calibri" pitchFamily="34" charset="-120"/>
              </a:rPr>
              <a:t>Available balances</a:t>
            </a:r>
            <a:endParaRPr lang="en-US" sz="1300" dirty="0"/>
          </a:p>
        </p:txBody>
      </p:sp>
      <p:sp>
        <p:nvSpPr>
          <p:cNvPr id="29" name="Shape 20"/>
          <p:cNvSpPr/>
          <p:nvPr/>
        </p:nvSpPr>
        <p:spPr>
          <a:xfrm>
            <a:off x="6263640" y="1783080"/>
            <a:ext cx="5349240" cy="1920240"/>
          </a:xfrm>
          <a:prstGeom prst="roundRect">
            <a:avLst>
              <a:gd name="adj" fmla="val 4762"/>
            </a:avLst>
          </a:prstGeom>
          <a:solidFill>
            <a:srgbClr val="EEF2FF"/>
          </a:solidFill>
          <a:ln w="12700">
            <a:solidFill>
              <a:srgbClr val="C7D2FE"/>
            </a:solidFill>
            <a:prstDash val="solid"/>
          </a:ln>
          <a:effectLst>
            <a:outerShdw blurRad="76200" dist="12700" dir="5400000" algn="bl" rotWithShape="0">
              <a:srgbClr val="94A3B8">
                <a:alpha val="18000"/>
              </a:srgbClr>
            </a:outerShdw>
          </a:effectLst>
        </p:spPr>
        <p:txBody>
          <a:bodyPr/>
          <a:lstStyle/>
          <a:p>
            <a:endParaRPr lang="en-IN"/>
          </a:p>
        </p:txBody>
      </p:sp>
      <p:sp>
        <p:nvSpPr>
          <p:cNvPr id="30" name="Shape 21"/>
          <p:cNvSpPr/>
          <p:nvPr/>
        </p:nvSpPr>
        <p:spPr>
          <a:xfrm>
            <a:off x="6583680" y="2057400"/>
            <a:ext cx="457200" cy="457200"/>
          </a:xfrm>
          <a:prstGeom prst="roundRect">
            <a:avLst>
              <a:gd name="adj" fmla="val 18000"/>
            </a:avLst>
          </a:prstGeom>
          <a:solidFill>
            <a:srgbClr val="E0E7FF"/>
          </a:solidFill>
          <a:ln/>
        </p:spPr>
        <p:txBody>
          <a:bodyPr/>
          <a:lstStyle/>
          <a:p>
            <a:endParaRPr lang="en-IN"/>
          </a:p>
        </p:txBody>
      </p:sp>
      <p:pic>
        <p:nvPicPr>
          <p:cNvPr id="31" name="Image 7" descr="preencoded.png"/>
          <p:cNvPicPr>
            <a:picLocks noChangeAspect="1"/>
          </p:cNvPicPr>
          <p:nvPr/>
        </p:nvPicPr>
        <p:blipFill>
          <a:blip r:embed="rId4"/>
          <a:stretch>
            <a:fillRect/>
          </a:stretch>
        </p:blipFill>
        <p:spPr>
          <a:xfrm>
            <a:off x="6684264" y="2157984"/>
            <a:ext cx="256032" cy="256032"/>
          </a:xfrm>
          <a:prstGeom prst="rect">
            <a:avLst/>
          </a:prstGeom>
        </p:spPr>
      </p:pic>
      <p:sp>
        <p:nvSpPr>
          <p:cNvPr id="32" name="Text 22"/>
          <p:cNvSpPr/>
          <p:nvPr/>
        </p:nvSpPr>
        <p:spPr>
          <a:xfrm>
            <a:off x="7187184" y="2075688"/>
            <a:ext cx="4206240" cy="384048"/>
          </a:xfrm>
          <a:prstGeom prst="rect">
            <a:avLst/>
          </a:prstGeom>
          <a:noFill/>
          <a:ln/>
        </p:spPr>
        <p:txBody>
          <a:bodyPr wrap="square" lIns="0" tIns="0" rIns="0" bIns="0" rtlCol="0" anchor="ctr"/>
          <a:lstStyle/>
          <a:p>
            <a:pPr marL="0" indent="0">
              <a:buNone/>
            </a:pPr>
            <a:r>
              <a:rPr lang="en-US" sz="1450" b="1" dirty="0">
                <a:solidFill>
                  <a:srgbClr val="0F172A"/>
                </a:solidFill>
                <a:latin typeface="Calibri" pitchFamily="34" charset="0"/>
                <a:ea typeface="Calibri" pitchFamily="34" charset="-122"/>
                <a:cs typeface="Calibri" pitchFamily="34" charset="-120"/>
              </a:rPr>
              <a:t>Balance moves only on approval</a:t>
            </a:r>
            <a:endParaRPr lang="en-US" sz="1450" dirty="0"/>
          </a:p>
        </p:txBody>
      </p:sp>
      <p:sp>
        <p:nvSpPr>
          <p:cNvPr id="33" name="Text 23"/>
          <p:cNvSpPr/>
          <p:nvPr/>
        </p:nvSpPr>
        <p:spPr>
          <a:xfrm>
            <a:off x="6583680" y="2560320"/>
            <a:ext cx="4709160" cy="1005840"/>
          </a:xfrm>
          <a:prstGeom prst="rect">
            <a:avLst/>
          </a:prstGeom>
          <a:noFill/>
          <a:ln/>
        </p:spPr>
        <p:txBody>
          <a:bodyPr wrap="square" lIns="0" tIns="0" rIns="0" bIns="0" rtlCol="0" anchor="t"/>
          <a:lstStyle/>
          <a:p>
            <a:pPr marL="0" indent="0">
              <a:buNone/>
            </a:pPr>
            <a:r>
              <a:rPr lang="en-US" sz="1200" dirty="0">
                <a:solidFill>
                  <a:srgbClr val="64748B"/>
                </a:solidFill>
                <a:latin typeface="Calibri" pitchFamily="34" charset="0"/>
                <a:ea typeface="Calibri" pitchFamily="34" charset="-122"/>
                <a:cs typeface="Calibri" pitchFamily="34" charset="-120"/>
              </a:rPr>
              <a:t>Employees see their leave information directly inside Orbit and submit requests from the same place. The balance is deducted when the request is approved.</a:t>
            </a:r>
            <a:endParaRPr lang="en-US" sz="1200" dirty="0"/>
          </a:p>
        </p:txBody>
      </p:sp>
      <p:sp>
        <p:nvSpPr>
          <p:cNvPr id="34" name="Shape 24"/>
          <p:cNvSpPr/>
          <p:nvPr/>
        </p:nvSpPr>
        <p:spPr>
          <a:xfrm>
            <a:off x="6263640" y="3931920"/>
            <a:ext cx="5349240" cy="2011680"/>
          </a:xfrm>
          <a:prstGeom prst="roundRect">
            <a:avLst>
              <a:gd name="adj" fmla="val 4545"/>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35" name="Shape 25"/>
          <p:cNvSpPr/>
          <p:nvPr/>
        </p:nvSpPr>
        <p:spPr>
          <a:xfrm>
            <a:off x="6583680" y="4206240"/>
            <a:ext cx="457200" cy="457200"/>
          </a:xfrm>
          <a:prstGeom prst="roundRect">
            <a:avLst>
              <a:gd name="adj" fmla="val 18000"/>
            </a:avLst>
          </a:prstGeom>
          <a:solidFill>
            <a:srgbClr val="EEF2FF"/>
          </a:solidFill>
          <a:ln/>
        </p:spPr>
        <p:txBody>
          <a:bodyPr/>
          <a:lstStyle/>
          <a:p>
            <a:endParaRPr lang="en-IN"/>
          </a:p>
        </p:txBody>
      </p:sp>
      <p:pic>
        <p:nvPicPr>
          <p:cNvPr id="36" name="Image 8" descr="preencoded.png"/>
          <p:cNvPicPr>
            <a:picLocks noChangeAspect="1"/>
          </p:cNvPicPr>
          <p:nvPr/>
        </p:nvPicPr>
        <p:blipFill>
          <a:blip r:embed="rId5"/>
          <a:stretch>
            <a:fillRect/>
          </a:stretch>
        </p:blipFill>
        <p:spPr>
          <a:xfrm>
            <a:off x="6684264" y="4306824"/>
            <a:ext cx="256032" cy="256032"/>
          </a:xfrm>
          <a:prstGeom prst="rect">
            <a:avLst/>
          </a:prstGeom>
        </p:spPr>
      </p:pic>
      <p:sp>
        <p:nvSpPr>
          <p:cNvPr id="37" name="Text 26"/>
          <p:cNvSpPr/>
          <p:nvPr/>
        </p:nvSpPr>
        <p:spPr>
          <a:xfrm>
            <a:off x="7187184" y="4224528"/>
            <a:ext cx="4206240" cy="384048"/>
          </a:xfrm>
          <a:prstGeom prst="rect">
            <a:avLst/>
          </a:prstGeom>
          <a:noFill/>
          <a:ln/>
        </p:spPr>
        <p:txBody>
          <a:bodyPr wrap="square" lIns="0" tIns="0" rIns="0" bIns="0" rtlCol="0" anchor="ctr"/>
          <a:lstStyle/>
          <a:p>
            <a:pPr marL="0" indent="0">
              <a:buNone/>
            </a:pPr>
            <a:r>
              <a:rPr lang="en-US" sz="1450" b="1" dirty="0">
                <a:solidFill>
                  <a:srgbClr val="0F172A"/>
                </a:solidFill>
                <a:latin typeface="Calibri" pitchFamily="34" charset="0"/>
                <a:ea typeface="Calibri" pitchFamily="34" charset="-122"/>
                <a:cs typeface="Calibri" pitchFamily="34" charset="-120"/>
              </a:rPr>
              <a:t>No guesswork</a:t>
            </a:r>
            <a:endParaRPr lang="en-US" sz="1450" dirty="0"/>
          </a:p>
        </p:txBody>
      </p:sp>
      <p:sp>
        <p:nvSpPr>
          <p:cNvPr id="38" name="Text 27"/>
          <p:cNvSpPr/>
          <p:nvPr/>
        </p:nvSpPr>
        <p:spPr>
          <a:xfrm>
            <a:off x="6583680" y="4709160"/>
            <a:ext cx="4709160" cy="1005840"/>
          </a:xfrm>
          <a:prstGeom prst="rect">
            <a:avLst/>
          </a:prstGeom>
          <a:noFill/>
          <a:ln/>
        </p:spPr>
        <p:txBody>
          <a:bodyPr wrap="square" lIns="0" tIns="0" rIns="0" bIns="0" rtlCol="0" anchor="t"/>
          <a:lstStyle/>
          <a:p>
            <a:pPr marL="0" indent="0">
              <a:spcAft>
                <a:spcPts val="600"/>
              </a:spcAft>
              <a:buNone/>
            </a:pPr>
            <a:r>
              <a:rPr lang="en-US" sz="1500" i="1" dirty="0">
                <a:solidFill>
                  <a:srgbClr val="4F46E5"/>
                </a:solidFill>
                <a:latin typeface="Cambria" pitchFamily="34" charset="0"/>
                <a:ea typeface="Cambria" pitchFamily="34" charset="-122"/>
                <a:cs typeface="Cambria" pitchFamily="34" charset="-120"/>
              </a:rPr>
              <a:t>No separate calculation.
</a:t>
            </a:r>
            <a:endParaRPr lang="en-US" sz="1500" dirty="0"/>
          </a:p>
          <a:p>
            <a:pPr marL="0" indent="0">
              <a:spcAft>
                <a:spcPts val="600"/>
              </a:spcAft>
              <a:buNone/>
            </a:pPr>
            <a:r>
              <a:rPr lang="en-US" sz="1500" i="1" dirty="0">
                <a:solidFill>
                  <a:srgbClr val="4F46E5"/>
                </a:solidFill>
                <a:latin typeface="Cambria" pitchFamily="34" charset="0"/>
                <a:ea typeface="Cambria" pitchFamily="34" charset="-122"/>
                <a:cs typeface="Cambria" pitchFamily="34" charset="-120"/>
              </a:rPr>
              <a:t>No searching through old messages.</a:t>
            </a:r>
            <a:endParaRPr lang="en-US" sz="1500" dirty="0"/>
          </a:p>
        </p:txBody>
      </p:sp>
      <p:sp>
        <p:nvSpPr>
          <p:cNvPr id="39" name="Text 28"/>
          <p:cNvSpPr/>
          <p:nvPr/>
        </p:nvSpPr>
        <p:spPr>
          <a:xfrm>
            <a:off x="548640" y="6473952"/>
            <a:ext cx="2743200" cy="274320"/>
          </a:xfrm>
          <a:prstGeom prst="rect">
            <a:avLst/>
          </a:prstGeom>
          <a:noFill/>
          <a:ln/>
        </p:spPr>
        <p:txBody>
          <a:bodyPr wrap="square" lIns="0" tIns="0" rIns="0" bIns="0"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Orbit</a:t>
            </a: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40" name="Text 29"/>
          <p:cNvSpPr/>
          <p:nvPr/>
        </p:nvSpPr>
        <p:spPr>
          <a:xfrm>
            <a:off x="11277295" y="6473952"/>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marL="0" indent="0">
              <a:buNone/>
            </a:pPr>
            <a:r>
              <a:rPr lang="en-US" sz="1200" b="1" kern="0" spc="300" dirty="0">
                <a:solidFill>
                  <a:srgbClr val="4F46E5"/>
                </a:solidFill>
                <a:latin typeface="Calibri" pitchFamily="34" charset="0"/>
                <a:ea typeface="Calibri" pitchFamily="34" charset="-122"/>
                <a:cs typeface="Calibri" pitchFamily="34" charset="-120"/>
              </a:rPr>
              <a:t>PRODUCT TOUR</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marL="0" indent="0">
              <a:buNone/>
            </a:pPr>
            <a:r>
              <a:rPr lang="en-US" sz="3000" b="1" dirty="0">
                <a:solidFill>
                  <a:srgbClr val="0F172A"/>
                </a:solidFill>
                <a:latin typeface="Cambria" pitchFamily="34" charset="0"/>
                <a:ea typeface="Cambria" pitchFamily="34" charset="-122"/>
                <a:cs typeface="Cambria" pitchFamily="34" charset="-120"/>
              </a:rPr>
              <a:t>Requests &amp; approvals</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One structured process for everyone.</a:t>
            </a:r>
            <a:endParaRPr lang="en-US" sz="1400" dirty="0"/>
          </a:p>
        </p:txBody>
      </p:sp>
      <p:sp>
        <p:nvSpPr>
          <p:cNvPr id="5" name="Shape 3"/>
          <p:cNvSpPr/>
          <p:nvPr/>
        </p:nvSpPr>
        <p:spPr>
          <a:xfrm>
            <a:off x="11341303" y="585216"/>
            <a:ext cx="146304" cy="146304"/>
          </a:xfrm>
          <a:prstGeom prst="diamond">
            <a:avLst/>
          </a:prstGeom>
          <a:solidFill>
            <a:srgbClr val="818CF8"/>
          </a:solidFill>
          <a:ln/>
        </p:spPr>
        <p:txBody>
          <a:bodyPr/>
          <a:lstStyle/>
          <a:p>
            <a:endParaRPr lang="en-IN"/>
          </a:p>
        </p:txBody>
      </p:sp>
      <p:sp>
        <p:nvSpPr>
          <p:cNvPr id="6" name="Shape 4"/>
          <p:cNvSpPr/>
          <p:nvPr/>
        </p:nvSpPr>
        <p:spPr>
          <a:xfrm>
            <a:off x="548640" y="1965960"/>
            <a:ext cx="3383280" cy="3017520"/>
          </a:xfrm>
          <a:prstGeom prst="roundRect">
            <a:avLst>
              <a:gd name="adj" fmla="val 3030"/>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7" name="Shape 5"/>
          <p:cNvSpPr/>
          <p:nvPr/>
        </p:nvSpPr>
        <p:spPr>
          <a:xfrm>
            <a:off x="822960" y="2240280"/>
            <a:ext cx="475488" cy="475488"/>
          </a:xfrm>
          <a:prstGeom prst="roundRect">
            <a:avLst>
              <a:gd name="adj" fmla="val 17308"/>
            </a:avLst>
          </a:prstGeom>
          <a:solidFill>
            <a:srgbClr val="EEF2FF"/>
          </a:solidFill>
          <a:ln/>
        </p:spPr>
        <p:txBody>
          <a:bodyPr/>
          <a:lstStyle/>
          <a:p>
            <a:endParaRPr lang="en-IN"/>
          </a:p>
        </p:txBody>
      </p:sp>
      <p:pic>
        <p:nvPicPr>
          <p:cNvPr id="8" name="Image 0" descr="preencoded.png"/>
          <p:cNvPicPr>
            <a:picLocks noChangeAspect="1"/>
          </p:cNvPicPr>
          <p:nvPr/>
        </p:nvPicPr>
        <p:blipFill>
          <a:blip r:embed="rId3"/>
          <a:stretch>
            <a:fillRect/>
          </a:stretch>
        </p:blipFill>
        <p:spPr>
          <a:xfrm>
            <a:off x="927567" y="2344887"/>
            <a:ext cx="266273" cy="266273"/>
          </a:xfrm>
          <a:prstGeom prst="rect">
            <a:avLst/>
          </a:prstGeom>
        </p:spPr>
      </p:pic>
      <p:sp>
        <p:nvSpPr>
          <p:cNvPr id="9" name="Text 6"/>
          <p:cNvSpPr/>
          <p:nvPr/>
        </p:nvSpPr>
        <p:spPr>
          <a:xfrm>
            <a:off x="822960" y="2880360"/>
            <a:ext cx="2834640" cy="411480"/>
          </a:xfrm>
          <a:prstGeom prst="rect">
            <a:avLst/>
          </a:prstGeom>
          <a:noFill/>
          <a:ln/>
        </p:spPr>
        <p:txBody>
          <a:bodyPr wrap="square" lIns="0" tIns="0" rIns="0" bIns="0" rtlCol="0" anchor="ctr"/>
          <a:lstStyle/>
          <a:p>
            <a:pPr marL="0" indent="0">
              <a:buNone/>
            </a:pPr>
            <a:r>
              <a:rPr lang="en-US" sz="1600" b="1" dirty="0">
                <a:solidFill>
                  <a:srgbClr val="0F172A"/>
                </a:solidFill>
                <a:latin typeface="Cambria" pitchFamily="34" charset="0"/>
                <a:ea typeface="Cambria" pitchFamily="34" charset="-122"/>
                <a:cs typeface="Cambria" pitchFamily="34" charset="-120"/>
              </a:rPr>
              <a:t>The employee submits</a:t>
            </a:r>
            <a:endParaRPr lang="en-US" sz="1600" dirty="0"/>
          </a:p>
        </p:txBody>
      </p:sp>
      <p:sp>
        <p:nvSpPr>
          <p:cNvPr id="10" name="Text 7"/>
          <p:cNvSpPr/>
          <p:nvPr/>
        </p:nvSpPr>
        <p:spPr>
          <a:xfrm>
            <a:off x="822960" y="3337560"/>
            <a:ext cx="2834640" cy="1463040"/>
          </a:xfrm>
          <a:prstGeom prst="rect">
            <a:avLst/>
          </a:prstGeom>
          <a:noFill/>
          <a:ln/>
        </p:spPr>
        <p:txBody>
          <a:bodyPr wrap="square" lIns="0" tIns="0" rIns="0" bIns="0" rtlCol="0" anchor="t"/>
          <a:lstStyle/>
          <a:p>
            <a:pPr marL="0" indent="0">
              <a:buNone/>
            </a:pPr>
            <a:r>
              <a:rPr lang="en-US" sz="1250" dirty="0">
                <a:solidFill>
                  <a:srgbClr val="64748B"/>
                </a:solidFill>
                <a:latin typeface="Calibri" pitchFamily="34" charset="0"/>
                <a:ea typeface="Calibri" pitchFamily="34" charset="-122"/>
                <a:cs typeface="Calibri" pitchFamily="34" charset="-120"/>
              </a:rPr>
              <a:t>The request is created in Orbit and goes straight to the relevant manager.</a:t>
            </a:r>
            <a:endParaRPr lang="en-US" sz="1250" dirty="0"/>
          </a:p>
        </p:txBody>
      </p:sp>
      <p:sp>
        <p:nvSpPr>
          <p:cNvPr id="11" name="Shape 8"/>
          <p:cNvSpPr/>
          <p:nvPr/>
        </p:nvSpPr>
        <p:spPr>
          <a:xfrm>
            <a:off x="4407408" y="1965960"/>
            <a:ext cx="3383280" cy="3017520"/>
          </a:xfrm>
          <a:prstGeom prst="roundRect">
            <a:avLst>
              <a:gd name="adj" fmla="val 3030"/>
            </a:avLst>
          </a:prstGeom>
          <a:solidFill>
            <a:srgbClr val="EEF2FF"/>
          </a:solidFill>
          <a:ln w="12700">
            <a:solidFill>
              <a:srgbClr val="C7D2FE"/>
            </a:solidFill>
            <a:prstDash val="solid"/>
          </a:ln>
          <a:effectLst>
            <a:outerShdw blurRad="76200" dist="12700" dir="5400000" algn="bl" rotWithShape="0">
              <a:srgbClr val="94A3B8">
                <a:alpha val="18000"/>
              </a:srgbClr>
            </a:outerShdw>
          </a:effectLst>
        </p:spPr>
        <p:txBody>
          <a:bodyPr/>
          <a:lstStyle/>
          <a:p>
            <a:endParaRPr lang="en-IN"/>
          </a:p>
        </p:txBody>
      </p:sp>
      <p:sp>
        <p:nvSpPr>
          <p:cNvPr id="12" name="Shape 9"/>
          <p:cNvSpPr/>
          <p:nvPr/>
        </p:nvSpPr>
        <p:spPr>
          <a:xfrm>
            <a:off x="4681728" y="2240280"/>
            <a:ext cx="475488" cy="475488"/>
          </a:xfrm>
          <a:prstGeom prst="roundRect">
            <a:avLst>
              <a:gd name="adj" fmla="val 17308"/>
            </a:avLst>
          </a:prstGeom>
          <a:solidFill>
            <a:srgbClr val="E0E7FF"/>
          </a:solidFill>
          <a:ln/>
        </p:spPr>
        <p:txBody>
          <a:bodyPr/>
          <a:lstStyle/>
          <a:p>
            <a:endParaRPr lang="en-IN"/>
          </a:p>
        </p:txBody>
      </p:sp>
      <p:pic>
        <p:nvPicPr>
          <p:cNvPr id="13" name="Image 1" descr="preencoded.png"/>
          <p:cNvPicPr>
            <a:picLocks noChangeAspect="1"/>
          </p:cNvPicPr>
          <p:nvPr/>
        </p:nvPicPr>
        <p:blipFill>
          <a:blip r:embed="rId4"/>
          <a:stretch>
            <a:fillRect/>
          </a:stretch>
        </p:blipFill>
        <p:spPr>
          <a:xfrm>
            <a:off x="4786335" y="2344887"/>
            <a:ext cx="266273" cy="266273"/>
          </a:xfrm>
          <a:prstGeom prst="rect">
            <a:avLst/>
          </a:prstGeom>
        </p:spPr>
      </p:pic>
      <p:sp>
        <p:nvSpPr>
          <p:cNvPr id="14" name="Text 10"/>
          <p:cNvSpPr/>
          <p:nvPr/>
        </p:nvSpPr>
        <p:spPr>
          <a:xfrm>
            <a:off x="4681728" y="2880360"/>
            <a:ext cx="2834640" cy="411480"/>
          </a:xfrm>
          <a:prstGeom prst="rect">
            <a:avLst/>
          </a:prstGeom>
          <a:noFill/>
          <a:ln/>
        </p:spPr>
        <p:txBody>
          <a:bodyPr wrap="square" lIns="0" tIns="0" rIns="0" bIns="0" rtlCol="0" anchor="ctr"/>
          <a:lstStyle/>
          <a:p>
            <a:pPr marL="0" indent="0">
              <a:buNone/>
            </a:pPr>
            <a:r>
              <a:rPr lang="en-US" sz="1600" b="1" dirty="0">
                <a:solidFill>
                  <a:srgbClr val="0F172A"/>
                </a:solidFill>
                <a:latin typeface="Cambria" pitchFamily="34" charset="0"/>
                <a:ea typeface="Cambria" pitchFamily="34" charset="-122"/>
                <a:cs typeface="Cambria" pitchFamily="34" charset="-120"/>
              </a:rPr>
              <a:t>The manager decides</a:t>
            </a:r>
            <a:endParaRPr lang="en-US" sz="1600" dirty="0"/>
          </a:p>
        </p:txBody>
      </p:sp>
      <p:sp>
        <p:nvSpPr>
          <p:cNvPr id="15" name="Text 11"/>
          <p:cNvSpPr/>
          <p:nvPr/>
        </p:nvSpPr>
        <p:spPr>
          <a:xfrm>
            <a:off x="4700016" y="3337560"/>
            <a:ext cx="2816352" cy="1463040"/>
          </a:xfrm>
          <a:prstGeom prst="rect">
            <a:avLst/>
          </a:prstGeom>
          <a:noFill/>
          <a:ln/>
        </p:spPr>
        <p:txBody>
          <a:bodyPr wrap="square" lIns="0" tIns="0" rIns="0" bIns="0" rtlCol="0" anchor="t"/>
          <a:lstStyle/>
          <a:p>
            <a:pPr marL="127000" indent="-127000">
              <a:spcAft>
                <a:spcPts val="700"/>
              </a:spcAft>
              <a:buSzPct val="100000"/>
              <a:buChar char="•"/>
            </a:pPr>
            <a:r>
              <a:rPr lang="en-US" sz="1250" dirty="0">
                <a:solidFill>
                  <a:srgbClr val="0F172A"/>
                </a:solidFill>
                <a:latin typeface="Calibri" pitchFamily="34" charset="0"/>
                <a:ea typeface="Calibri" pitchFamily="34" charset="-122"/>
                <a:cs typeface="Calibri" pitchFamily="34" charset="-120"/>
              </a:rPr>
              <a:t>Review the request</a:t>
            </a:r>
            <a:endParaRPr lang="en-US" sz="1250" dirty="0"/>
          </a:p>
          <a:p>
            <a:pPr marL="127000" indent="-127000">
              <a:spcAft>
                <a:spcPts val="700"/>
              </a:spcAft>
              <a:buSzPct val="100000"/>
              <a:buChar char="•"/>
            </a:pPr>
            <a:r>
              <a:rPr lang="en-US" sz="1250" dirty="0">
                <a:solidFill>
                  <a:srgbClr val="0F172A"/>
                </a:solidFill>
                <a:latin typeface="Calibri" pitchFamily="34" charset="0"/>
                <a:ea typeface="Calibri" pitchFamily="34" charset="-122"/>
                <a:cs typeface="Calibri" pitchFamily="34" charset="-120"/>
              </a:rPr>
              <a:t>Approve or reject it</a:t>
            </a:r>
            <a:endParaRPr lang="en-US" sz="1250" dirty="0"/>
          </a:p>
          <a:p>
            <a:pPr marL="127000" indent="-127000">
              <a:spcAft>
                <a:spcPts val="700"/>
              </a:spcAft>
              <a:buSzPct val="100000"/>
              <a:buChar char="•"/>
            </a:pPr>
            <a:r>
              <a:rPr lang="en-US" sz="1250" dirty="0">
                <a:solidFill>
                  <a:srgbClr val="0F172A"/>
                </a:solidFill>
                <a:latin typeface="Calibri" pitchFamily="34" charset="0"/>
                <a:ea typeface="Calibri" pitchFamily="34" charset="-122"/>
                <a:cs typeface="Calibri" pitchFamily="34" charset="-120"/>
              </a:rPr>
              <a:t>Provide context where necessary</a:t>
            </a:r>
            <a:endParaRPr lang="en-US" sz="1250" dirty="0"/>
          </a:p>
        </p:txBody>
      </p:sp>
      <p:sp>
        <p:nvSpPr>
          <p:cNvPr id="16" name="Shape 12"/>
          <p:cNvSpPr/>
          <p:nvPr/>
        </p:nvSpPr>
        <p:spPr>
          <a:xfrm>
            <a:off x="8266176" y="1965960"/>
            <a:ext cx="3383280" cy="3017520"/>
          </a:xfrm>
          <a:prstGeom prst="roundRect">
            <a:avLst>
              <a:gd name="adj" fmla="val 3030"/>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7" name="Shape 13"/>
          <p:cNvSpPr/>
          <p:nvPr/>
        </p:nvSpPr>
        <p:spPr>
          <a:xfrm>
            <a:off x="8540496" y="2240280"/>
            <a:ext cx="475488" cy="475488"/>
          </a:xfrm>
          <a:prstGeom prst="roundRect">
            <a:avLst>
              <a:gd name="adj" fmla="val 17308"/>
            </a:avLst>
          </a:prstGeom>
          <a:solidFill>
            <a:srgbClr val="EEF2FF"/>
          </a:solidFill>
          <a:ln/>
        </p:spPr>
        <p:txBody>
          <a:bodyPr/>
          <a:lstStyle/>
          <a:p>
            <a:endParaRPr lang="en-IN"/>
          </a:p>
        </p:txBody>
      </p:sp>
      <p:pic>
        <p:nvPicPr>
          <p:cNvPr id="18" name="Image 2" descr="preencoded.png"/>
          <p:cNvPicPr>
            <a:picLocks noChangeAspect="1"/>
          </p:cNvPicPr>
          <p:nvPr/>
        </p:nvPicPr>
        <p:blipFill>
          <a:blip r:embed="rId5"/>
          <a:stretch>
            <a:fillRect/>
          </a:stretch>
        </p:blipFill>
        <p:spPr>
          <a:xfrm>
            <a:off x="8645103" y="2344887"/>
            <a:ext cx="266273" cy="266273"/>
          </a:xfrm>
          <a:prstGeom prst="rect">
            <a:avLst/>
          </a:prstGeom>
        </p:spPr>
      </p:pic>
      <p:sp>
        <p:nvSpPr>
          <p:cNvPr id="19" name="Text 14"/>
          <p:cNvSpPr/>
          <p:nvPr/>
        </p:nvSpPr>
        <p:spPr>
          <a:xfrm>
            <a:off x="8540496" y="2880360"/>
            <a:ext cx="2834640" cy="411480"/>
          </a:xfrm>
          <a:prstGeom prst="rect">
            <a:avLst/>
          </a:prstGeom>
          <a:noFill/>
          <a:ln/>
        </p:spPr>
        <p:txBody>
          <a:bodyPr wrap="square" lIns="0" tIns="0" rIns="0" bIns="0" rtlCol="0" anchor="ctr"/>
          <a:lstStyle/>
          <a:p>
            <a:pPr marL="0" indent="0">
              <a:buNone/>
            </a:pPr>
            <a:r>
              <a:rPr lang="en-US" sz="1600" b="1" dirty="0">
                <a:solidFill>
                  <a:srgbClr val="0F172A"/>
                </a:solidFill>
                <a:latin typeface="Cambria" pitchFamily="34" charset="0"/>
                <a:ea typeface="Cambria" pitchFamily="34" charset="-122"/>
                <a:cs typeface="Cambria" pitchFamily="34" charset="-120"/>
              </a:rPr>
              <a:t>Everything updates</a:t>
            </a:r>
            <a:endParaRPr lang="en-US" sz="1600" dirty="0"/>
          </a:p>
        </p:txBody>
      </p:sp>
      <p:sp>
        <p:nvSpPr>
          <p:cNvPr id="20" name="Text 15"/>
          <p:cNvSpPr/>
          <p:nvPr/>
        </p:nvSpPr>
        <p:spPr>
          <a:xfrm>
            <a:off x="8540496" y="3337560"/>
            <a:ext cx="2834640" cy="1463040"/>
          </a:xfrm>
          <a:prstGeom prst="rect">
            <a:avLst/>
          </a:prstGeom>
          <a:noFill/>
          <a:ln/>
        </p:spPr>
        <p:txBody>
          <a:bodyPr wrap="square" lIns="0" tIns="0" rIns="0" bIns="0" rtlCol="0" anchor="t"/>
          <a:lstStyle/>
          <a:p>
            <a:pPr marL="0" indent="0">
              <a:buNone/>
            </a:pPr>
            <a:r>
              <a:rPr lang="en-US" sz="1250" dirty="0">
                <a:solidFill>
                  <a:srgbClr val="64748B"/>
                </a:solidFill>
                <a:latin typeface="Calibri" pitchFamily="34" charset="0"/>
                <a:ea typeface="Calibri" pitchFamily="34" charset="-122"/>
                <a:cs typeface="Calibri" pitchFamily="34" charset="-120"/>
              </a:rPr>
              <a:t>Once decided, the employee's status, notifications and balance information update automatically.</a:t>
            </a:r>
            <a:endParaRPr lang="en-US" sz="1250" dirty="0"/>
          </a:p>
        </p:txBody>
      </p:sp>
      <p:sp>
        <p:nvSpPr>
          <p:cNvPr id="21" name="Shape 16"/>
          <p:cNvSpPr/>
          <p:nvPr/>
        </p:nvSpPr>
        <p:spPr>
          <a:xfrm>
            <a:off x="4005072" y="3200400"/>
            <a:ext cx="347472" cy="502920"/>
          </a:xfrm>
          <a:prstGeom prst="rightArrow">
            <a:avLst/>
          </a:prstGeom>
          <a:solidFill>
            <a:srgbClr val="C7D2FE"/>
          </a:solidFill>
          <a:ln/>
        </p:spPr>
        <p:txBody>
          <a:bodyPr/>
          <a:lstStyle/>
          <a:p>
            <a:endParaRPr lang="en-IN"/>
          </a:p>
        </p:txBody>
      </p:sp>
      <p:sp>
        <p:nvSpPr>
          <p:cNvPr id="22" name="Shape 17"/>
          <p:cNvSpPr/>
          <p:nvPr/>
        </p:nvSpPr>
        <p:spPr>
          <a:xfrm>
            <a:off x="7863840" y="3200400"/>
            <a:ext cx="347472" cy="502920"/>
          </a:xfrm>
          <a:prstGeom prst="rightArrow">
            <a:avLst/>
          </a:prstGeom>
          <a:solidFill>
            <a:srgbClr val="C7D2FE"/>
          </a:solidFill>
          <a:ln/>
        </p:spPr>
        <p:txBody>
          <a:bodyPr/>
          <a:lstStyle/>
          <a:p>
            <a:endParaRPr lang="en-IN"/>
          </a:p>
        </p:txBody>
      </p:sp>
      <p:sp>
        <p:nvSpPr>
          <p:cNvPr id="23" name="Text 18"/>
          <p:cNvSpPr/>
          <p:nvPr/>
        </p:nvSpPr>
        <p:spPr>
          <a:xfrm>
            <a:off x="566928" y="5349240"/>
            <a:ext cx="10515600" cy="320040"/>
          </a:xfrm>
          <a:prstGeom prst="rect">
            <a:avLst/>
          </a:prstGeom>
          <a:noFill/>
          <a:ln/>
        </p:spPr>
        <p:txBody>
          <a:bodyPr wrap="square" lIns="0" tIns="0" rIns="0" bIns="0"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In the current beta, approvals are routed to the employee's direct manager.</a:t>
            </a:r>
            <a:endParaRPr lang="en-US" sz="1200" dirty="0"/>
          </a:p>
        </p:txBody>
      </p:sp>
      <p:sp>
        <p:nvSpPr>
          <p:cNvPr id="24" name="Text 19"/>
          <p:cNvSpPr/>
          <p:nvPr/>
        </p:nvSpPr>
        <p:spPr>
          <a:xfrm>
            <a:off x="548640" y="6473952"/>
            <a:ext cx="2743200" cy="274320"/>
          </a:xfrm>
          <a:prstGeom prst="rect">
            <a:avLst/>
          </a:prstGeom>
          <a:noFill/>
          <a:ln/>
        </p:spPr>
        <p:txBody>
          <a:bodyPr wrap="square" lIns="0" tIns="0" rIns="0" bIns="0"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Orbit</a:t>
            </a: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25" name="Text 20"/>
          <p:cNvSpPr/>
          <p:nvPr/>
        </p:nvSpPr>
        <p:spPr>
          <a:xfrm>
            <a:off x="11277295" y="6473952"/>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marL="0" indent="0">
              <a:buNone/>
            </a:pPr>
            <a:r>
              <a:rPr lang="en-US" sz="1200" b="1" kern="0" spc="300" dirty="0">
                <a:solidFill>
                  <a:srgbClr val="4F46E5"/>
                </a:solidFill>
                <a:latin typeface="Calibri" pitchFamily="34" charset="0"/>
                <a:ea typeface="Calibri" pitchFamily="34" charset="-122"/>
                <a:cs typeface="Calibri" pitchFamily="34" charset="-120"/>
              </a:rPr>
              <a:t>PRODUCT TOUR</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marL="0" indent="0">
              <a:buNone/>
            </a:pPr>
            <a:r>
              <a:rPr lang="en-US" sz="3000" b="1" dirty="0">
                <a:solidFill>
                  <a:srgbClr val="0F172A"/>
                </a:solidFill>
                <a:latin typeface="Cambria" pitchFamily="34" charset="0"/>
                <a:ea typeface="Cambria" pitchFamily="34" charset="-122"/>
                <a:cs typeface="Cambria" pitchFamily="34" charset="-120"/>
              </a:rPr>
              <a:t>The team calendar</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Know who is available before you ask.</a:t>
            </a:r>
            <a:endParaRPr lang="en-US" sz="1400" dirty="0"/>
          </a:p>
        </p:txBody>
      </p:sp>
      <p:sp>
        <p:nvSpPr>
          <p:cNvPr id="5" name="Shape 3"/>
          <p:cNvSpPr/>
          <p:nvPr/>
        </p:nvSpPr>
        <p:spPr>
          <a:xfrm>
            <a:off x="11341303" y="585216"/>
            <a:ext cx="146304" cy="146304"/>
          </a:xfrm>
          <a:prstGeom prst="diamond">
            <a:avLst/>
          </a:prstGeom>
          <a:solidFill>
            <a:srgbClr val="818CF8"/>
          </a:solidFill>
          <a:ln/>
        </p:spPr>
        <p:txBody>
          <a:bodyPr/>
          <a:lstStyle/>
          <a:p>
            <a:endParaRPr lang="en-IN"/>
          </a:p>
        </p:txBody>
      </p:sp>
      <p:sp>
        <p:nvSpPr>
          <p:cNvPr id="6" name="Shape 4"/>
          <p:cNvSpPr/>
          <p:nvPr/>
        </p:nvSpPr>
        <p:spPr>
          <a:xfrm>
            <a:off x="548640" y="1783080"/>
            <a:ext cx="4937760" cy="4160520"/>
          </a:xfrm>
          <a:prstGeom prst="roundRect">
            <a:avLst>
              <a:gd name="adj" fmla="val 2198"/>
            </a:avLst>
          </a:prstGeom>
          <a:solidFill>
            <a:srgbClr val="EEF2FF"/>
          </a:solidFill>
          <a:ln w="12700">
            <a:solidFill>
              <a:srgbClr val="C7D2FE"/>
            </a:solidFill>
            <a:prstDash val="solid"/>
          </a:ln>
          <a:effectLst>
            <a:outerShdw blurRad="76200" dist="12700" dir="5400000" algn="bl" rotWithShape="0">
              <a:srgbClr val="94A3B8">
                <a:alpha val="18000"/>
              </a:srgbClr>
            </a:outerShdw>
          </a:effectLst>
        </p:spPr>
        <p:txBody>
          <a:bodyPr/>
          <a:lstStyle/>
          <a:p>
            <a:endParaRPr lang="en-IN"/>
          </a:p>
        </p:txBody>
      </p:sp>
      <p:sp>
        <p:nvSpPr>
          <p:cNvPr id="7" name="Shape 5"/>
          <p:cNvSpPr/>
          <p:nvPr/>
        </p:nvSpPr>
        <p:spPr>
          <a:xfrm>
            <a:off x="896112" y="2103120"/>
            <a:ext cx="457200" cy="457200"/>
          </a:xfrm>
          <a:prstGeom prst="roundRect">
            <a:avLst>
              <a:gd name="adj" fmla="val 18000"/>
            </a:avLst>
          </a:prstGeom>
          <a:solidFill>
            <a:srgbClr val="E0E7FF"/>
          </a:solidFill>
          <a:ln/>
        </p:spPr>
        <p:txBody>
          <a:bodyPr/>
          <a:lstStyle/>
          <a:p>
            <a:endParaRPr lang="en-IN"/>
          </a:p>
        </p:txBody>
      </p:sp>
      <p:pic>
        <p:nvPicPr>
          <p:cNvPr id="8" name="Image 0" descr="preencoded.png"/>
          <p:cNvPicPr>
            <a:picLocks noChangeAspect="1"/>
          </p:cNvPicPr>
          <p:nvPr/>
        </p:nvPicPr>
        <p:blipFill>
          <a:blip r:embed="rId3"/>
          <a:stretch>
            <a:fillRect/>
          </a:stretch>
        </p:blipFill>
        <p:spPr>
          <a:xfrm>
            <a:off x="996696" y="2203704"/>
            <a:ext cx="256032" cy="256032"/>
          </a:xfrm>
          <a:prstGeom prst="rect">
            <a:avLst/>
          </a:prstGeom>
        </p:spPr>
      </p:pic>
      <p:sp>
        <p:nvSpPr>
          <p:cNvPr id="9" name="Text 6"/>
          <p:cNvSpPr/>
          <p:nvPr/>
        </p:nvSpPr>
        <p:spPr>
          <a:xfrm>
            <a:off x="914400" y="2788920"/>
            <a:ext cx="4206240" cy="822960"/>
          </a:xfrm>
          <a:prstGeom prst="rect">
            <a:avLst/>
          </a:prstGeom>
          <a:noFill/>
          <a:ln/>
        </p:spPr>
        <p:txBody>
          <a:bodyPr wrap="square" lIns="0" tIns="0" rIns="0" bIns="0" rtlCol="0" anchor="t"/>
          <a:lstStyle/>
          <a:p>
            <a:pPr marL="0" indent="0">
              <a:buNone/>
            </a:pPr>
            <a:r>
              <a:rPr lang="en-US" sz="1900" i="1" dirty="0">
                <a:solidFill>
                  <a:srgbClr val="0F172A"/>
                </a:solidFill>
                <a:latin typeface="Cambria" pitchFamily="34" charset="0"/>
                <a:ea typeface="Cambria" pitchFamily="34" charset="-122"/>
                <a:cs typeface="Cambria" pitchFamily="34" charset="-120"/>
              </a:rPr>
              <a:t>“Is this person working today?”</a:t>
            </a:r>
            <a:endParaRPr lang="en-US" sz="1900" dirty="0"/>
          </a:p>
        </p:txBody>
      </p:sp>
      <p:sp>
        <p:nvSpPr>
          <p:cNvPr id="10" name="Text 7"/>
          <p:cNvSpPr/>
          <p:nvPr/>
        </p:nvSpPr>
        <p:spPr>
          <a:xfrm>
            <a:off x="914400" y="3657600"/>
            <a:ext cx="4206240" cy="457200"/>
          </a:xfrm>
          <a:prstGeom prst="rect">
            <a:avLst/>
          </a:prstGeom>
          <a:noFill/>
          <a:ln/>
        </p:spPr>
        <p:txBody>
          <a:bodyPr wrap="square" lIns="0" tIns="0" rIns="0" bIns="0" rtlCol="0" anchor="ctr"/>
          <a:lstStyle/>
          <a:p>
            <a:pPr marL="0" indent="0">
              <a:buNone/>
            </a:pPr>
            <a:r>
              <a:rPr lang="en-US" sz="1350" dirty="0">
                <a:solidFill>
                  <a:srgbClr val="64748B"/>
                </a:solidFill>
                <a:latin typeface="Calibri" pitchFamily="34" charset="0"/>
                <a:ea typeface="Calibri" pitchFamily="34" charset="-122"/>
                <a:cs typeface="Calibri" pitchFamily="34" charset="-120"/>
              </a:rPr>
              <a:t>Instead of asking around — </a:t>
            </a:r>
            <a:r>
              <a:rPr lang="en-US" sz="1350" b="1" dirty="0">
                <a:solidFill>
                  <a:srgbClr val="4F46E5"/>
                </a:solidFill>
                <a:latin typeface="Calibri" pitchFamily="34" charset="0"/>
                <a:ea typeface="Calibri" pitchFamily="34" charset="-122"/>
                <a:cs typeface="Calibri" pitchFamily="34" charset="-120"/>
              </a:rPr>
              <a:t>check Orbit.</a:t>
            </a:r>
            <a:endParaRPr lang="en-US" sz="1350" dirty="0"/>
          </a:p>
        </p:txBody>
      </p:sp>
      <p:sp>
        <p:nvSpPr>
          <p:cNvPr id="11" name="Shape 8"/>
          <p:cNvSpPr/>
          <p:nvPr/>
        </p:nvSpPr>
        <p:spPr>
          <a:xfrm>
            <a:off x="914400" y="4434840"/>
            <a:ext cx="2011680" cy="0"/>
          </a:xfrm>
          <a:prstGeom prst="line">
            <a:avLst/>
          </a:prstGeom>
          <a:noFill/>
          <a:ln w="19050">
            <a:solidFill>
              <a:srgbClr val="C7D2FE"/>
            </a:solidFill>
            <a:prstDash val="solid"/>
          </a:ln>
        </p:spPr>
        <p:txBody>
          <a:bodyPr/>
          <a:lstStyle/>
          <a:p>
            <a:endParaRPr lang="en-IN"/>
          </a:p>
        </p:txBody>
      </p:sp>
      <p:sp>
        <p:nvSpPr>
          <p:cNvPr id="12" name="Text 9"/>
          <p:cNvSpPr/>
          <p:nvPr/>
        </p:nvSpPr>
        <p:spPr>
          <a:xfrm>
            <a:off x="914400" y="4663440"/>
            <a:ext cx="4206240" cy="822960"/>
          </a:xfrm>
          <a:prstGeom prst="rect">
            <a:avLst/>
          </a:prstGeom>
          <a:noFill/>
          <a:ln/>
        </p:spPr>
        <p:txBody>
          <a:bodyPr wrap="square" lIns="0" tIns="0" rIns="0" bIns="0" rtlCol="0" anchor="t"/>
          <a:lstStyle/>
          <a:p>
            <a:pPr marL="0" indent="0">
              <a:buNone/>
            </a:pPr>
            <a:r>
              <a:rPr lang="en-US" sz="1500" b="1" dirty="0">
                <a:solidFill>
                  <a:srgbClr val="4F46E5"/>
                </a:solidFill>
                <a:latin typeface="Cambria" pitchFamily="34" charset="0"/>
                <a:ea typeface="Cambria" pitchFamily="34" charset="-122"/>
                <a:cs typeface="Cambria" pitchFamily="34" charset="-120"/>
              </a:rPr>
              <a:t>Better planning through better visibility.</a:t>
            </a:r>
            <a:endParaRPr lang="en-US" sz="1500" dirty="0"/>
          </a:p>
        </p:txBody>
      </p:sp>
      <p:sp>
        <p:nvSpPr>
          <p:cNvPr id="13" name="Shape 10"/>
          <p:cNvSpPr/>
          <p:nvPr/>
        </p:nvSpPr>
        <p:spPr>
          <a:xfrm>
            <a:off x="5806440" y="1783080"/>
            <a:ext cx="5806440" cy="4160520"/>
          </a:xfrm>
          <a:prstGeom prst="roundRect">
            <a:avLst>
              <a:gd name="adj" fmla="val 2198"/>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4" name="Text 11"/>
          <p:cNvSpPr/>
          <p:nvPr/>
        </p:nvSpPr>
        <p:spPr>
          <a:xfrm>
            <a:off x="6126480" y="2057400"/>
            <a:ext cx="5212080" cy="365760"/>
          </a:xfrm>
          <a:prstGeom prst="rect">
            <a:avLst/>
          </a:prstGeom>
          <a:noFill/>
          <a:ln/>
        </p:spPr>
        <p:txBody>
          <a:bodyPr wrap="square" lIns="0" tIns="0" rIns="0" bIns="0" rtlCol="0" anchor="ctr"/>
          <a:lstStyle/>
          <a:p>
            <a:pPr marL="0" indent="0">
              <a:buNone/>
            </a:pPr>
            <a:r>
              <a:rPr lang="en-US" sz="1400" b="1" dirty="0">
                <a:solidFill>
                  <a:srgbClr val="0F172A"/>
                </a:solidFill>
                <a:latin typeface="Calibri" pitchFamily="34" charset="0"/>
                <a:ea typeface="Calibri" pitchFamily="34" charset="-122"/>
                <a:cs typeface="Calibri" pitchFamily="34" charset="-120"/>
              </a:rPr>
              <a:t>The calendar creates a shared view of the team:</a:t>
            </a:r>
            <a:endParaRPr lang="en-US" sz="1400" dirty="0"/>
          </a:p>
        </p:txBody>
      </p:sp>
      <p:sp>
        <p:nvSpPr>
          <p:cNvPr id="15" name="Shape 12"/>
          <p:cNvSpPr/>
          <p:nvPr/>
        </p:nvSpPr>
        <p:spPr>
          <a:xfrm>
            <a:off x="6144768" y="2651760"/>
            <a:ext cx="402336" cy="402336"/>
          </a:xfrm>
          <a:prstGeom prst="roundRect">
            <a:avLst>
              <a:gd name="adj" fmla="val 20455"/>
            </a:avLst>
          </a:prstGeom>
          <a:solidFill>
            <a:srgbClr val="EEF2FF"/>
          </a:solidFill>
          <a:ln/>
        </p:spPr>
        <p:txBody>
          <a:bodyPr/>
          <a:lstStyle/>
          <a:p>
            <a:endParaRPr lang="en-IN"/>
          </a:p>
        </p:txBody>
      </p:sp>
      <p:pic>
        <p:nvPicPr>
          <p:cNvPr id="16" name="Image 1" descr="preencoded.png"/>
          <p:cNvPicPr>
            <a:picLocks noChangeAspect="1"/>
          </p:cNvPicPr>
          <p:nvPr/>
        </p:nvPicPr>
        <p:blipFill>
          <a:blip r:embed="rId4"/>
          <a:stretch>
            <a:fillRect/>
          </a:stretch>
        </p:blipFill>
        <p:spPr>
          <a:xfrm>
            <a:off x="6233282" y="2740274"/>
            <a:ext cx="225308" cy="225308"/>
          </a:xfrm>
          <a:prstGeom prst="rect">
            <a:avLst/>
          </a:prstGeom>
        </p:spPr>
      </p:pic>
      <p:sp>
        <p:nvSpPr>
          <p:cNvPr id="17" name="Text 13"/>
          <p:cNvSpPr/>
          <p:nvPr/>
        </p:nvSpPr>
        <p:spPr>
          <a:xfrm>
            <a:off x="6693408" y="2615184"/>
            <a:ext cx="4754880" cy="502920"/>
          </a:xfrm>
          <a:prstGeom prst="rect">
            <a:avLst/>
          </a:prstGeom>
          <a:noFill/>
          <a:ln/>
        </p:spPr>
        <p:txBody>
          <a:bodyPr wrap="square" lIns="0" tIns="0" rIns="0" bIns="0" rtlCol="0" anchor="ctr"/>
          <a:lstStyle/>
          <a:p>
            <a:pPr marL="0" indent="0">
              <a:buNone/>
            </a:pPr>
            <a:r>
              <a:rPr lang="en-US" sz="1350" dirty="0">
                <a:solidFill>
                  <a:srgbClr val="0F172A"/>
                </a:solidFill>
                <a:latin typeface="Calibri" pitchFamily="34" charset="0"/>
                <a:ea typeface="Calibri" pitchFamily="34" charset="-122"/>
                <a:cs typeface="Calibri" pitchFamily="34" charset="-120"/>
              </a:rPr>
              <a:t>Personal requests and their status</a:t>
            </a:r>
            <a:endParaRPr lang="en-US" sz="1350" dirty="0"/>
          </a:p>
        </p:txBody>
      </p:sp>
      <p:sp>
        <p:nvSpPr>
          <p:cNvPr id="18" name="Shape 14"/>
          <p:cNvSpPr/>
          <p:nvPr/>
        </p:nvSpPr>
        <p:spPr>
          <a:xfrm>
            <a:off x="6144768" y="3429000"/>
            <a:ext cx="402336" cy="402336"/>
          </a:xfrm>
          <a:prstGeom prst="roundRect">
            <a:avLst>
              <a:gd name="adj" fmla="val 20455"/>
            </a:avLst>
          </a:prstGeom>
          <a:solidFill>
            <a:srgbClr val="ECFDF5"/>
          </a:solidFill>
          <a:ln/>
        </p:spPr>
        <p:txBody>
          <a:bodyPr/>
          <a:lstStyle/>
          <a:p>
            <a:endParaRPr lang="en-IN"/>
          </a:p>
        </p:txBody>
      </p:sp>
      <p:pic>
        <p:nvPicPr>
          <p:cNvPr id="19" name="Image 2" descr="preencoded.png"/>
          <p:cNvPicPr>
            <a:picLocks noChangeAspect="1"/>
          </p:cNvPicPr>
          <p:nvPr/>
        </p:nvPicPr>
        <p:blipFill>
          <a:blip r:embed="rId5"/>
          <a:stretch>
            <a:fillRect/>
          </a:stretch>
        </p:blipFill>
        <p:spPr>
          <a:xfrm>
            <a:off x="6233282" y="3517514"/>
            <a:ext cx="225308" cy="225308"/>
          </a:xfrm>
          <a:prstGeom prst="rect">
            <a:avLst/>
          </a:prstGeom>
        </p:spPr>
      </p:pic>
      <p:sp>
        <p:nvSpPr>
          <p:cNvPr id="20" name="Text 15"/>
          <p:cNvSpPr/>
          <p:nvPr/>
        </p:nvSpPr>
        <p:spPr>
          <a:xfrm>
            <a:off x="6693408" y="3392424"/>
            <a:ext cx="4754880" cy="502920"/>
          </a:xfrm>
          <a:prstGeom prst="rect">
            <a:avLst/>
          </a:prstGeom>
          <a:noFill/>
          <a:ln/>
        </p:spPr>
        <p:txBody>
          <a:bodyPr wrap="square" lIns="0" tIns="0" rIns="0" bIns="0" rtlCol="0" anchor="ctr"/>
          <a:lstStyle/>
          <a:p>
            <a:pPr marL="0" indent="0">
              <a:buNone/>
            </a:pPr>
            <a:r>
              <a:rPr lang="en-US" sz="1350" dirty="0">
                <a:solidFill>
                  <a:srgbClr val="0F172A"/>
                </a:solidFill>
                <a:latin typeface="Calibri" pitchFamily="34" charset="0"/>
                <a:ea typeface="Calibri" pitchFamily="34" charset="-122"/>
                <a:cs typeface="Calibri" pitchFamily="34" charset="-120"/>
              </a:rPr>
              <a:t>Approved company leave</a:t>
            </a:r>
            <a:endParaRPr lang="en-US" sz="1350" dirty="0"/>
          </a:p>
        </p:txBody>
      </p:sp>
      <p:sp>
        <p:nvSpPr>
          <p:cNvPr id="21" name="Shape 16"/>
          <p:cNvSpPr/>
          <p:nvPr/>
        </p:nvSpPr>
        <p:spPr>
          <a:xfrm>
            <a:off x="6144768" y="4206240"/>
            <a:ext cx="402336" cy="402336"/>
          </a:xfrm>
          <a:prstGeom prst="roundRect">
            <a:avLst>
              <a:gd name="adj" fmla="val 20455"/>
            </a:avLst>
          </a:prstGeom>
          <a:solidFill>
            <a:srgbClr val="EEF2FF"/>
          </a:solidFill>
          <a:ln/>
        </p:spPr>
        <p:txBody>
          <a:bodyPr/>
          <a:lstStyle/>
          <a:p>
            <a:endParaRPr lang="en-IN"/>
          </a:p>
        </p:txBody>
      </p:sp>
      <p:pic>
        <p:nvPicPr>
          <p:cNvPr id="22" name="Image 3" descr="preencoded.png"/>
          <p:cNvPicPr>
            <a:picLocks noChangeAspect="1"/>
          </p:cNvPicPr>
          <p:nvPr/>
        </p:nvPicPr>
        <p:blipFill>
          <a:blip r:embed="rId6"/>
          <a:stretch>
            <a:fillRect/>
          </a:stretch>
        </p:blipFill>
        <p:spPr>
          <a:xfrm>
            <a:off x="6233282" y="4294754"/>
            <a:ext cx="225308" cy="225308"/>
          </a:xfrm>
          <a:prstGeom prst="rect">
            <a:avLst/>
          </a:prstGeom>
        </p:spPr>
      </p:pic>
      <p:sp>
        <p:nvSpPr>
          <p:cNvPr id="23" name="Text 17"/>
          <p:cNvSpPr/>
          <p:nvPr/>
        </p:nvSpPr>
        <p:spPr>
          <a:xfrm>
            <a:off x="6693408" y="4169664"/>
            <a:ext cx="4754880" cy="502920"/>
          </a:xfrm>
          <a:prstGeom prst="rect">
            <a:avLst/>
          </a:prstGeom>
          <a:noFill/>
          <a:ln/>
        </p:spPr>
        <p:txBody>
          <a:bodyPr wrap="square" lIns="0" tIns="0" rIns="0" bIns="0" rtlCol="0" anchor="ctr"/>
          <a:lstStyle/>
          <a:p>
            <a:pPr marL="0" indent="0">
              <a:buNone/>
            </a:pPr>
            <a:r>
              <a:rPr lang="en-US" sz="1350" dirty="0">
                <a:solidFill>
                  <a:srgbClr val="0F172A"/>
                </a:solidFill>
                <a:latin typeface="Calibri" pitchFamily="34" charset="0"/>
                <a:ea typeface="Calibri" pitchFamily="34" charset="-122"/>
                <a:cs typeface="Calibri" pitchFamily="34" charset="-120"/>
              </a:rPr>
              <a:t>Monthly visibility</a:t>
            </a:r>
            <a:endParaRPr lang="en-US" sz="1350" dirty="0"/>
          </a:p>
        </p:txBody>
      </p:sp>
      <p:sp>
        <p:nvSpPr>
          <p:cNvPr id="24" name="Shape 18"/>
          <p:cNvSpPr/>
          <p:nvPr/>
        </p:nvSpPr>
        <p:spPr>
          <a:xfrm>
            <a:off x="6144768" y="4983480"/>
            <a:ext cx="402336" cy="402336"/>
          </a:xfrm>
          <a:prstGeom prst="roundRect">
            <a:avLst>
              <a:gd name="adj" fmla="val 20455"/>
            </a:avLst>
          </a:prstGeom>
          <a:solidFill>
            <a:srgbClr val="EEF2FF"/>
          </a:solidFill>
          <a:ln/>
        </p:spPr>
        <p:txBody>
          <a:bodyPr/>
          <a:lstStyle/>
          <a:p>
            <a:endParaRPr lang="en-IN"/>
          </a:p>
        </p:txBody>
      </p:sp>
      <p:pic>
        <p:nvPicPr>
          <p:cNvPr id="25" name="Image 4" descr="preencoded.png"/>
          <p:cNvPicPr>
            <a:picLocks noChangeAspect="1"/>
          </p:cNvPicPr>
          <p:nvPr/>
        </p:nvPicPr>
        <p:blipFill>
          <a:blip r:embed="rId7"/>
          <a:stretch>
            <a:fillRect/>
          </a:stretch>
        </p:blipFill>
        <p:spPr>
          <a:xfrm>
            <a:off x="6233282" y="5071994"/>
            <a:ext cx="225308" cy="225308"/>
          </a:xfrm>
          <a:prstGeom prst="rect">
            <a:avLst/>
          </a:prstGeom>
        </p:spPr>
      </p:pic>
      <p:sp>
        <p:nvSpPr>
          <p:cNvPr id="26" name="Text 19"/>
          <p:cNvSpPr/>
          <p:nvPr/>
        </p:nvSpPr>
        <p:spPr>
          <a:xfrm>
            <a:off x="6693408" y="4946904"/>
            <a:ext cx="4754880" cy="502920"/>
          </a:xfrm>
          <a:prstGeom prst="rect">
            <a:avLst/>
          </a:prstGeom>
          <a:noFill/>
          <a:ln/>
        </p:spPr>
        <p:txBody>
          <a:bodyPr wrap="square" lIns="0" tIns="0" rIns="0" bIns="0" rtlCol="0" anchor="ctr"/>
          <a:lstStyle/>
          <a:p>
            <a:pPr marL="0" indent="0">
              <a:buNone/>
            </a:pPr>
            <a:r>
              <a:rPr lang="en-US" sz="1350" dirty="0">
                <a:solidFill>
                  <a:srgbClr val="0F172A"/>
                </a:solidFill>
                <a:latin typeface="Calibri" pitchFamily="34" charset="0"/>
                <a:ea typeface="Calibri" pitchFamily="34" charset="-122"/>
                <a:cs typeface="Calibri" pitchFamily="34" charset="-120"/>
              </a:rPr>
              <a:t>Privacy of individual leave reasons</a:t>
            </a:r>
            <a:endParaRPr lang="en-US" sz="1350" dirty="0"/>
          </a:p>
        </p:txBody>
      </p:sp>
      <p:sp>
        <p:nvSpPr>
          <p:cNvPr id="27" name="Text 20"/>
          <p:cNvSpPr/>
          <p:nvPr/>
        </p:nvSpPr>
        <p:spPr>
          <a:xfrm>
            <a:off x="548640" y="6473952"/>
            <a:ext cx="2743200" cy="274320"/>
          </a:xfrm>
          <a:prstGeom prst="rect">
            <a:avLst/>
          </a:prstGeom>
          <a:noFill/>
          <a:ln/>
        </p:spPr>
        <p:txBody>
          <a:bodyPr wrap="square" lIns="0" tIns="0" rIns="0" bIns="0"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Orbit</a:t>
            </a: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28" name="Text 21"/>
          <p:cNvSpPr/>
          <p:nvPr/>
        </p:nvSpPr>
        <p:spPr>
          <a:xfrm>
            <a:off x="11277295" y="6473952"/>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marL="0" indent="0">
              <a:buNone/>
            </a:pPr>
            <a:r>
              <a:rPr lang="en-US" sz="1200" b="1" kern="0" spc="300" dirty="0">
                <a:solidFill>
                  <a:srgbClr val="4F46E5"/>
                </a:solidFill>
                <a:latin typeface="Calibri" pitchFamily="34" charset="0"/>
                <a:ea typeface="Calibri" pitchFamily="34" charset="-122"/>
                <a:cs typeface="Calibri" pitchFamily="34" charset="-120"/>
              </a:rPr>
              <a:t>PRODUCT TOUR</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marL="0" indent="0">
              <a:buNone/>
            </a:pPr>
            <a:r>
              <a:rPr lang="en-US" sz="3000" b="1" dirty="0">
                <a:solidFill>
                  <a:srgbClr val="0F172A"/>
                </a:solidFill>
                <a:latin typeface="Cambria" pitchFamily="34" charset="0"/>
                <a:ea typeface="Cambria" pitchFamily="34" charset="-122"/>
                <a:cs typeface="Cambria" pitchFamily="34" charset="-120"/>
              </a:rPr>
              <a:t>Notifications &amp; announcements</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Important information should not get lost.</a:t>
            </a:r>
            <a:endParaRPr lang="en-US" sz="1400" dirty="0"/>
          </a:p>
        </p:txBody>
      </p:sp>
      <p:sp>
        <p:nvSpPr>
          <p:cNvPr id="5" name="Shape 3"/>
          <p:cNvSpPr/>
          <p:nvPr/>
        </p:nvSpPr>
        <p:spPr>
          <a:xfrm>
            <a:off x="11341303" y="585216"/>
            <a:ext cx="146304" cy="146304"/>
          </a:xfrm>
          <a:prstGeom prst="diamond">
            <a:avLst/>
          </a:prstGeom>
          <a:solidFill>
            <a:srgbClr val="818CF8"/>
          </a:solidFill>
          <a:ln/>
        </p:spPr>
        <p:txBody>
          <a:bodyPr/>
          <a:lstStyle/>
          <a:p>
            <a:endParaRPr lang="en-IN"/>
          </a:p>
        </p:txBody>
      </p:sp>
      <p:sp>
        <p:nvSpPr>
          <p:cNvPr id="6" name="Shape 4"/>
          <p:cNvSpPr/>
          <p:nvPr/>
        </p:nvSpPr>
        <p:spPr>
          <a:xfrm>
            <a:off x="548640" y="1783080"/>
            <a:ext cx="5349240" cy="3566160"/>
          </a:xfrm>
          <a:prstGeom prst="roundRect">
            <a:avLst>
              <a:gd name="adj" fmla="val 2564"/>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7" name="Shape 5"/>
          <p:cNvSpPr/>
          <p:nvPr/>
        </p:nvSpPr>
        <p:spPr>
          <a:xfrm>
            <a:off x="868680" y="2057400"/>
            <a:ext cx="475488" cy="475488"/>
          </a:xfrm>
          <a:prstGeom prst="roundRect">
            <a:avLst>
              <a:gd name="adj" fmla="val 17308"/>
            </a:avLst>
          </a:prstGeom>
          <a:solidFill>
            <a:srgbClr val="EEF2FF"/>
          </a:solidFill>
          <a:ln/>
        </p:spPr>
        <p:txBody>
          <a:bodyPr/>
          <a:lstStyle/>
          <a:p>
            <a:endParaRPr lang="en-IN"/>
          </a:p>
        </p:txBody>
      </p:sp>
      <p:pic>
        <p:nvPicPr>
          <p:cNvPr id="8" name="Image 0" descr="preencoded.png"/>
          <p:cNvPicPr>
            <a:picLocks noChangeAspect="1"/>
          </p:cNvPicPr>
          <p:nvPr/>
        </p:nvPicPr>
        <p:blipFill>
          <a:blip r:embed="rId3"/>
          <a:stretch>
            <a:fillRect/>
          </a:stretch>
        </p:blipFill>
        <p:spPr>
          <a:xfrm>
            <a:off x="973287" y="2162007"/>
            <a:ext cx="266273" cy="266273"/>
          </a:xfrm>
          <a:prstGeom prst="rect">
            <a:avLst/>
          </a:prstGeom>
        </p:spPr>
      </p:pic>
      <p:sp>
        <p:nvSpPr>
          <p:cNvPr id="9" name="Text 6"/>
          <p:cNvSpPr/>
          <p:nvPr/>
        </p:nvSpPr>
        <p:spPr>
          <a:xfrm>
            <a:off x="1481328" y="2093976"/>
            <a:ext cx="4023360" cy="411480"/>
          </a:xfrm>
          <a:prstGeom prst="rect">
            <a:avLst/>
          </a:prstGeom>
          <a:noFill/>
          <a:ln/>
        </p:spPr>
        <p:txBody>
          <a:bodyPr wrap="square" lIns="0" tIns="0" rIns="0" bIns="0" rtlCol="0" anchor="ctr"/>
          <a:lstStyle/>
          <a:p>
            <a:pPr marL="0" indent="0">
              <a:buNone/>
            </a:pPr>
            <a:r>
              <a:rPr lang="en-US" sz="1800" b="1" dirty="0">
                <a:solidFill>
                  <a:srgbClr val="0F172A"/>
                </a:solidFill>
                <a:latin typeface="Cambria" pitchFamily="34" charset="0"/>
                <a:ea typeface="Cambria" pitchFamily="34" charset="-122"/>
                <a:cs typeface="Cambria" pitchFamily="34" charset="-120"/>
              </a:rPr>
              <a:t>Central notifications</a:t>
            </a:r>
            <a:endParaRPr lang="en-US" sz="1800" dirty="0"/>
          </a:p>
        </p:txBody>
      </p:sp>
      <p:sp>
        <p:nvSpPr>
          <p:cNvPr id="10" name="Text 7"/>
          <p:cNvSpPr/>
          <p:nvPr/>
        </p:nvSpPr>
        <p:spPr>
          <a:xfrm>
            <a:off x="914400" y="2743200"/>
            <a:ext cx="4617720" cy="2377440"/>
          </a:xfrm>
          <a:prstGeom prst="rect">
            <a:avLst/>
          </a:prstGeom>
          <a:noFill/>
          <a:ln/>
        </p:spPr>
        <p:txBody>
          <a:bodyPr wrap="square" lIns="0" tIns="0" rIns="0" bIns="0" rtlCol="0" anchor="t"/>
          <a:lstStyle/>
          <a:p>
            <a:pPr marL="127000" indent="-127000">
              <a:spcAft>
                <a:spcPts val="1000"/>
              </a:spcAft>
              <a:buSzPct val="100000"/>
              <a:buChar char="•"/>
            </a:pPr>
            <a:r>
              <a:rPr lang="en-US" sz="1300" dirty="0">
                <a:solidFill>
                  <a:srgbClr val="0F172A"/>
                </a:solidFill>
                <a:latin typeface="Calibri" pitchFamily="34" charset="0"/>
                <a:ea typeface="Calibri" pitchFamily="34" charset="-122"/>
                <a:cs typeface="Calibri" pitchFamily="34" charset="-120"/>
              </a:rPr>
              <a:t>Requests requiring action</a:t>
            </a:r>
            <a:endParaRPr lang="en-US" sz="1300" dirty="0"/>
          </a:p>
          <a:p>
            <a:pPr marL="127000" indent="-127000">
              <a:spcAft>
                <a:spcPts val="1000"/>
              </a:spcAft>
              <a:buSzPct val="100000"/>
              <a:buChar char="•"/>
            </a:pPr>
            <a:r>
              <a:rPr lang="en-US" sz="1300" dirty="0">
                <a:solidFill>
                  <a:srgbClr val="0F172A"/>
                </a:solidFill>
                <a:latin typeface="Calibri" pitchFamily="34" charset="0"/>
                <a:ea typeface="Calibri" pitchFamily="34" charset="-122"/>
                <a:cs typeface="Calibri" pitchFamily="34" charset="-120"/>
              </a:rPr>
              <a:t>Request decisions</a:t>
            </a:r>
            <a:endParaRPr lang="en-US" sz="1300" dirty="0"/>
          </a:p>
          <a:p>
            <a:pPr marL="127000" indent="-127000">
              <a:spcAft>
                <a:spcPts val="1000"/>
              </a:spcAft>
              <a:buSzPct val="100000"/>
              <a:buChar char="•"/>
            </a:pPr>
            <a:r>
              <a:rPr lang="en-US" sz="1300" dirty="0">
                <a:solidFill>
                  <a:srgbClr val="0F172A"/>
                </a:solidFill>
                <a:latin typeface="Calibri" pitchFamily="34" charset="0"/>
                <a:ea typeface="Calibri" pitchFamily="34" charset="-122"/>
                <a:cs typeface="Calibri" pitchFamily="34" charset="-120"/>
              </a:rPr>
              <a:t>Upcoming approved time off</a:t>
            </a:r>
            <a:endParaRPr lang="en-US" sz="1300" dirty="0"/>
          </a:p>
          <a:p>
            <a:pPr marL="127000" indent="-127000">
              <a:spcAft>
                <a:spcPts val="1000"/>
              </a:spcAft>
              <a:buSzPct val="100000"/>
              <a:buChar char="•"/>
            </a:pPr>
            <a:r>
              <a:rPr lang="en-US" sz="1300" dirty="0">
                <a:solidFill>
                  <a:srgbClr val="0F172A"/>
                </a:solidFill>
                <a:latin typeface="Calibri" pitchFamily="34" charset="0"/>
                <a:ea typeface="Calibri" pitchFamily="34" charset="-122"/>
                <a:cs typeface="Calibri" pitchFamily="34" charset="-120"/>
              </a:rPr>
              <a:t>Important notifications</a:t>
            </a:r>
            <a:endParaRPr lang="en-US" sz="1300" dirty="0"/>
          </a:p>
        </p:txBody>
      </p:sp>
      <p:sp>
        <p:nvSpPr>
          <p:cNvPr id="11" name="Shape 8"/>
          <p:cNvSpPr/>
          <p:nvPr/>
        </p:nvSpPr>
        <p:spPr>
          <a:xfrm>
            <a:off x="6263640" y="1783080"/>
            <a:ext cx="5349240" cy="3566160"/>
          </a:xfrm>
          <a:prstGeom prst="roundRect">
            <a:avLst>
              <a:gd name="adj" fmla="val 2564"/>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2" name="Shape 9"/>
          <p:cNvSpPr/>
          <p:nvPr/>
        </p:nvSpPr>
        <p:spPr>
          <a:xfrm>
            <a:off x="6583680" y="2057400"/>
            <a:ext cx="475488" cy="475488"/>
          </a:xfrm>
          <a:prstGeom prst="roundRect">
            <a:avLst>
              <a:gd name="adj" fmla="val 17308"/>
            </a:avLst>
          </a:prstGeom>
          <a:solidFill>
            <a:srgbClr val="EEF2FF"/>
          </a:solidFill>
          <a:ln/>
        </p:spPr>
        <p:txBody>
          <a:bodyPr/>
          <a:lstStyle/>
          <a:p>
            <a:endParaRPr lang="en-IN"/>
          </a:p>
        </p:txBody>
      </p:sp>
      <p:pic>
        <p:nvPicPr>
          <p:cNvPr id="13" name="Image 1" descr="preencoded.png"/>
          <p:cNvPicPr>
            <a:picLocks noChangeAspect="1"/>
          </p:cNvPicPr>
          <p:nvPr/>
        </p:nvPicPr>
        <p:blipFill>
          <a:blip r:embed="rId4"/>
          <a:stretch>
            <a:fillRect/>
          </a:stretch>
        </p:blipFill>
        <p:spPr>
          <a:xfrm>
            <a:off x="6688287" y="2162007"/>
            <a:ext cx="266273" cy="266273"/>
          </a:xfrm>
          <a:prstGeom prst="rect">
            <a:avLst/>
          </a:prstGeom>
        </p:spPr>
      </p:pic>
      <p:sp>
        <p:nvSpPr>
          <p:cNvPr id="14" name="Text 10"/>
          <p:cNvSpPr/>
          <p:nvPr/>
        </p:nvSpPr>
        <p:spPr>
          <a:xfrm>
            <a:off x="7196328" y="2093976"/>
            <a:ext cx="4023360" cy="411480"/>
          </a:xfrm>
          <a:prstGeom prst="rect">
            <a:avLst/>
          </a:prstGeom>
          <a:noFill/>
          <a:ln/>
        </p:spPr>
        <p:txBody>
          <a:bodyPr wrap="square" lIns="0" tIns="0" rIns="0" bIns="0" rtlCol="0" anchor="ctr"/>
          <a:lstStyle/>
          <a:p>
            <a:pPr marL="0" indent="0">
              <a:buNone/>
            </a:pPr>
            <a:r>
              <a:rPr lang="en-US" sz="1800" b="1" dirty="0">
                <a:solidFill>
                  <a:srgbClr val="0F172A"/>
                </a:solidFill>
                <a:latin typeface="Cambria" pitchFamily="34" charset="0"/>
                <a:ea typeface="Cambria" pitchFamily="34" charset="-122"/>
                <a:cs typeface="Cambria" pitchFamily="34" charset="-120"/>
              </a:rPr>
              <a:t>Announcements</a:t>
            </a:r>
            <a:endParaRPr lang="en-US" sz="1800" dirty="0"/>
          </a:p>
        </p:txBody>
      </p:sp>
      <p:sp>
        <p:nvSpPr>
          <p:cNvPr id="15" name="Text 11"/>
          <p:cNvSpPr/>
          <p:nvPr/>
        </p:nvSpPr>
        <p:spPr>
          <a:xfrm>
            <a:off x="6583680" y="2743200"/>
            <a:ext cx="4709160" cy="1463040"/>
          </a:xfrm>
          <a:prstGeom prst="rect">
            <a:avLst/>
          </a:prstGeom>
          <a:noFill/>
          <a:ln/>
        </p:spPr>
        <p:txBody>
          <a:bodyPr wrap="square" lIns="0" tIns="0" rIns="0" bIns="0" rtlCol="0" anchor="t"/>
          <a:lstStyle/>
          <a:p>
            <a:pPr marL="0" indent="0">
              <a:buNone/>
            </a:pPr>
            <a:r>
              <a:rPr lang="en-US" sz="1300" dirty="0">
                <a:solidFill>
                  <a:srgbClr val="64748B"/>
                </a:solidFill>
                <a:latin typeface="Calibri" pitchFamily="34" charset="0"/>
                <a:ea typeface="Calibri" pitchFamily="34" charset="-122"/>
                <a:cs typeface="Calibri" pitchFamily="34" charset="-120"/>
              </a:rPr>
              <a:t>Announcements can be shared with relevant groups or teams — so operational updates reach exactly the people they concern.</a:t>
            </a:r>
            <a:endParaRPr lang="en-US" sz="1300" dirty="0"/>
          </a:p>
        </p:txBody>
      </p:sp>
      <p:sp>
        <p:nvSpPr>
          <p:cNvPr id="16" name="Shape 12"/>
          <p:cNvSpPr/>
          <p:nvPr/>
        </p:nvSpPr>
        <p:spPr>
          <a:xfrm>
            <a:off x="548640" y="5532120"/>
            <a:ext cx="11064240" cy="658368"/>
          </a:xfrm>
          <a:prstGeom prst="roundRect">
            <a:avLst>
              <a:gd name="adj" fmla="val 13889"/>
            </a:avLst>
          </a:prstGeom>
          <a:solidFill>
            <a:srgbClr val="EEF2FF"/>
          </a:solidFill>
          <a:ln w="12700">
            <a:solidFill>
              <a:srgbClr val="C7D2FE"/>
            </a:solidFill>
            <a:prstDash val="solid"/>
          </a:ln>
          <a:effectLst>
            <a:outerShdw blurRad="76200" dist="12700" dir="5400000" algn="bl" rotWithShape="0">
              <a:srgbClr val="94A3B8">
                <a:alpha val="18000"/>
              </a:srgbClr>
            </a:outerShdw>
          </a:effectLst>
        </p:spPr>
        <p:txBody>
          <a:bodyPr/>
          <a:lstStyle/>
          <a:p>
            <a:endParaRPr lang="en-IN"/>
          </a:p>
        </p:txBody>
      </p:sp>
      <p:sp>
        <p:nvSpPr>
          <p:cNvPr id="17" name="Text 13"/>
          <p:cNvSpPr/>
          <p:nvPr/>
        </p:nvSpPr>
        <p:spPr>
          <a:xfrm>
            <a:off x="914400" y="5532120"/>
            <a:ext cx="10332720" cy="658368"/>
          </a:xfrm>
          <a:prstGeom prst="rect">
            <a:avLst/>
          </a:prstGeom>
          <a:noFill/>
          <a:ln/>
        </p:spPr>
        <p:txBody>
          <a:bodyPr wrap="square" lIns="0" tIns="0" rIns="0" bIns="0" rtlCol="0" anchor="ctr"/>
          <a:lstStyle/>
          <a:p>
            <a:pPr marL="0" indent="0">
              <a:buNone/>
            </a:pPr>
            <a:r>
              <a:rPr lang="en-US" sz="1250" b="1" dirty="0">
                <a:solidFill>
                  <a:srgbClr val="4F46E5"/>
                </a:solidFill>
                <a:latin typeface="Calibri" pitchFamily="34" charset="0"/>
                <a:ea typeface="Calibri" pitchFamily="34" charset="-122"/>
                <a:cs typeface="Calibri" pitchFamily="34" charset="-120"/>
              </a:rPr>
              <a:t>Important operational information gets a dedicated place — instead of relying entirely on scattered communication channels.</a:t>
            </a:r>
            <a:endParaRPr lang="en-US" sz="1250" dirty="0"/>
          </a:p>
        </p:txBody>
      </p:sp>
      <p:sp>
        <p:nvSpPr>
          <p:cNvPr id="18" name="Text 14"/>
          <p:cNvSpPr/>
          <p:nvPr/>
        </p:nvSpPr>
        <p:spPr>
          <a:xfrm>
            <a:off x="548640" y="6473952"/>
            <a:ext cx="2743200" cy="274320"/>
          </a:xfrm>
          <a:prstGeom prst="rect">
            <a:avLst/>
          </a:prstGeom>
          <a:noFill/>
          <a:ln/>
        </p:spPr>
        <p:txBody>
          <a:bodyPr wrap="square" lIns="0" tIns="0" rIns="0" bIns="0"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Orbit</a:t>
            </a: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19" name="Text 15"/>
          <p:cNvSpPr/>
          <p:nvPr/>
        </p:nvSpPr>
        <p:spPr>
          <a:xfrm>
            <a:off x="11277295" y="6473952"/>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marL="0" indent="0">
              <a:buNone/>
            </a:pPr>
            <a:r>
              <a:rPr lang="en-US" sz="1200" b="1" kern="0" spc="300" dirty="0">
                <a:solidFill>
                  <a:srgbClr val="4F46E5"/>
                </a:solidFill>
                <a:latin typeface="Calibri" pitchFamily="34" charset="0"/>
                <a:ea typeface="Calibri" pitchFamily="34" charset="-122"/>
                <a:cs typeface="Calibri" pitchFamily="34" charset="-120"/>
              </a:rPr>
              <a:t>PRODUCT TOUR</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marL="0" indent="0">
              <a:buNone/>
            </a:pPr>
            <a:r>
              <a:rPr lang="en-US" sz="3000" b="1" dirty="0">
                <a:solidFill>
                  <a:srgbClr val="0F172A"/>
                </a:solidFill>
                <a:latin typeface="Cambria" pitchFamily="34" charset="0"/>
                <a:ea typeface="Cambria" pitchFamily="34" charset="-122"/>
                <a:cs typeface="Cambria" pitchFamily="34" charset="-120"/>
              </a:rPr>
              <a:t>Your profile &amp; documents</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Your employee information, in one place.</a:t>
            </a:r>
            <a:endParaRPr lang="en-US" sz="1400" dirty="0"/>
          </a:p>
        </p:txBody>
      </p:sp>
      <p:sp>
        <p:nvSpPr>
          <p:cNvPr id="5" name="Shape 3"/>
          <p:cNvSpPr/>
          <p:nvPr/>
        </p:nvSpPr>
        <p:spPr>
          <a:xfrm>
            <a:off x="11341303" y="585216"/>
            <a:ext cx="146304" cy="146304"/>
          </a:xfrm>
          <a:prstGeom prst="diamond">
            <a:avLst/>
          </a:prstGeom>
          <a:solidFill>
            <a:srgbClr val="818CF8"/>
          </a:solidFill>
          <a:ln/>
        </p:spPr>
        <p:txBody>
          <a:bodyPr/>
          <a:lstStyle/>
          <a:p>
            <a:endParaRPr lang="en-IN"/>
          </a:p>
        </p:txBody>
      </p:sp>
      <p:sp>
        <p:nvSpPr>
          <p:cNvPr id="6" name="Shape 4"/>
          <p:cNvSpPr/>
          <p:nvPr/>
        </p:nvSpPr>
        <p:spPr>
          <a:xfrm>
            <a:off x="548640" y="1783080"/>
            <a:ext cx="5349240" cy="4160520"/>
          </a:xfrm>
          <a:prstGeom prst="roundRect">
            <a:avLst>
              <a:gd name="adj" fmla="val 2198"/>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7" name="Shape 5"/>
          <p:cNvSpPr/>
          <p:nvPr/>
        </p:nvSpPr>
        <p:spPr>
          <a:xfrm>
            <a:off x="868680" y="2057400"/>
            <a:ext cx="475488" cy="475488"/>
          </a:xfrm>
          <a:prstGeom prst="roundRect">
            <a:avLst>
              <a:gd name="adj" fmla="val 17308"/>
            </a:avLst>
          </a:prstGeom>
          <a:solidFill>
            <a:srgbClr val="EEF2FF"/>
          </a:solidFill>
          <a:ln/>
        </p:spPr>
        <p:txBody>
          <a:bodyPr/>
          <a:lstStyle/>
          <a:p>
            <a:endParaRPr lang="en-IN"/>
          </a:p>
        </p:txBody>
      </p:sp>
      <p:pic>
        <p:nvPicPr>
          <p:cNvPr id="8" name="Image 0" descr="preencoded.png"/>
          <p:cNvPicPr>
            <a:picLocks noChangeAspect="1"/>
          </p:cNvPicPr>
          <p:nvPr/>
        </p:nvPicPr>
        <p:blipFill>
          <a:blip r:embed="rId3"/>
          <a:stretch>
            <a:fillRect/>
          </a:stretch>
        </p:blipFill>
        <p:spPr>
          <a:xfrm>
            <a:off x="973287" y="2162007"/>
            <a:ext cx="266273" cy="266273"/>
          </a:xfrm>
          <a:prstGeom prst="rect">
            <a:avLst/>
          </a:prstGeom>
        </p:spPr>
      </p:pic>
      <p:sp>
        <p:nvSpPr>
          <p:cNvPr id="9" name="Text 6"/>
          <p:cNvSpPr/>
          <p:nvPr/>
        </p:nvSpPr>
        <p:spPr>
          <a:xfrm>
            <a:off x="1481328" y="2093976"/>
            <a:ext cx="4114800" cy="411480"/>
          </a:xfrm>
          <a:prstGeom prst="rect">
            <a:avLst/>
          </a:prstGeom>
          <a:noFill/>
          <a:ln/>
        </p:spPr>
        <p:txBody>
          <a:bodyPr wrap="square" lIns="0" tIns="0" rIns="0" bIns="0" rtlCol="0" anchor="ctr"/>
          <a:lstStyle/>
          <a:p>
            <a:pPr marL="0" indent="0">
              <a:buNone/>
            </a:pPr>
            <a:r>
              <a:rPr lang="en-US" sz="1800" b="1" dirty="0">
                <a:solidFill>
                  <a:srgbClr val="0F172A"/>
                </a:solidFill>
                <a:latin typeface="Cambria" pitchFamily="34" charset="0"/>
                <a:ea typeface="Cambria" pitchFamily="34" charset="-122"/>
                <a:cs typeface="Cambria" pitchFamily="34" charset="-120"/>
              </a:rPr>
              <a:t>A central employee profile</a:t>
            </a:r>
            <a:endParaRPr lang="en-US" sz="1800" dirty="0"/>
          </a:p>
        </p:txBody>
      </p:sp>
      <p:sp>
        <p:nvSpPr>
          <p:cNvPr id="10" name="Shape 7"/>
          <p:cNvSpPr/>
          <p:nvPr/>
        </p:nvSpPr>
        <p:spPr>
          <a:xfrm>
            <a:off x="886968" y="2743200"/>
            <a:ext cx="329184" cy="329184"/>
          </a:xfrm>
          <a:prstGeom prst="roundRect">
            <a:avLst>
              <a:gd name="adj" fmla="val 25000"/>
            </a:avLst>
          </a:prstGeom>
          <a:solidFill>
            <a:srgbClr val="EEF2FF"/>
          </a:solidFill>
          <a:ln/>
        </p:spPr>
        <p:txBody>
          <a:bodyPr/>
          <a:lstStyle/>
          <a:p>
            <a:endParaRPr lang="en-IN"/>
          </a:p>
        </p:txBody>
      </p:sp>
      <p:pic>
        <p:nvPicPr>
          <p:cNvPr id="11" name="Image 1" descr="preencoded.png"/>
          <p:cNvPicPr>
            <a:picLocks noChangeAspect="1"/>
          </p:cNvPicPr>
          <p:nvPr/>
        </p:nvPicPr>
        <p:blipFill>
          <a:blip r:embed="rId4"/>
          <a:stretch>
            <a:fillRect/>
          </a:stretch>
        </p:blipFill>
        <p:spPr>
          <a:xfrm>
            <a:off x="959388" y="2815620"/>
            <a:ext cx="184343" cy="184343"/>
          </a:xfrm>
          <a:prstGeom prst="rect">
            <a:avLst/>
          </a:prstGeom>
        </p:spPr>
      </p:pic>
      <p:sp>
        <p:nvSpPr>
          <p:cNvPr id="12" name="Text 8"/>
          <p:cNvSpPr/>
          <p:nvPr/>
        </p:nvSpPr>
        <p:spPr>
          <a:xfrm>
            <a:off x="1362456" y="2697480"/>
            <a:ext cx="4206240" cy="420624"/>
          </a:xfrm>
          <a:prstGeom prst="rect">
            <a:avLst/>
          </a:prstGeom>
          <a:noFill/>
          <a:ln/>
        </p:spPr>
        <p:txBody>
          <a:bodyPr wrap="square" lIns="0" tIns="0" rIns="0" bIns="0" rtlCol="0" anchor="ctr"/>
          <a:lstStyle/>
          <a:p>
            <a:pPr marL="0" indent="0">
              <a:buNone/>
            </a:pPr>
            <a:r>
              <a:rPr lang="en-US" sz="1300" dirty="0">
                <a:solidFill>
                  <a:srgbClr val="0F172A"/>
                </a:solidFill>
                <a:latin typeface="Calibri" pitchFamily="34" charset="0"/>
                <a:ea typeface="Calibri" pitchFamily="34" charset="-122"/>
                <a:cs typeface="Calibri" pitchFamily="34" charset="-120"/>
              </a:rPr>
              <a:t>Employee details</a:t>
            </a:r>
            <a:endParaRPr lang="en-US" sz="1300" dirty="0"/>
          </a:p>
        </p:txBody>
      </p:sp>
      <p:sp>
        <p:nvSpPr>
          <p:cNvPr id="13" name="Shape 9"/>
          <p:cNvSpPr/>
          <p:nvPr/>
        </p:nvSpPr>
        <p:spPr>
          <a:xfrm>
            <a:off x="886968" y="3246120"/>
            <a:ext cx="329184" cy="329184"/>
          </a:xfrm>
          <a:prstGeom prst="roundRect">
            <a:avLst>
              <a:gd name="adj" fmla="val 25000"/>
            </a:avLst>
          </a:prstGeom>
          <a:solidFill>
            <a:srgbClr val="EEF2FF"/>
          </a:solidFill>
          <a:ln/>
        </p:spPr>
        <p:txBody>
          <a:bodyPr/>
          <a:lstStyle/>
          <a:p>
            <a:endParaRPr lang="en-IN"/>
          </a:p>
        </p:txBody>
      </p:sp>
      <p:pic>
        <p:nvPicPr>
          <p:cNvPr id="14" name="Image 2" descr="preencoded.png"/>
          <p:cNvPicPr>
            <a:picLocks noChangeAspect="1"/>
          </p:cNvPicPr>
          <p:nvPr/>
        </p:nvPicPr>
        <p:blipFill>
          <a:blip r:embed="rId4"/>
          <a:stretch>
            <a:fillRect/>
          </a:stretch>
        </p:blipFill>
        <p:spPr>
          <a:xfrm>
            <a:off x="959388" y="3318540"/>
            <a:ext cx="184343" cy="184343"/>
          </a:xfrm>
          <a:prstGeom prst="rect">
            <a:avLst/>
          </a:prstGeom>
        </p:spPr>
      </p:pic>
      <p:sp>
        <p:nvSpPr>
          <p:cNvPr id="15" name="Text 10"/>
          <p:cNvSpPr/>
          <p:nvPr/>
        </p:nvSpPr>
        <p:spPr>
          <a:xfrm>
            <a:off x="1362456" y="3200400"/>
            <a:ext cx="4206240" cy="420624"/>
          </a:xfrm>
          <a:prstGeom prst="rect">
            <a:avLst/>
          </a:prstGeom>
          <a:noFill/>
          <a:ln/>
        </p:spPr>
        <p:txBody>
          <a:bodyPr wrap="square" lIns="0" tIns="0" rIns="0" bIns="0" rtlCol="0" anchor="ctr"/>
          <a:lstStyle/>
          <a:p>
            <a:pPr marL="0" indent="0">
              <a:buNone/>
            </a:pPr>
            <a:r>
              <a:rPr lang="en-US" sz="1300" dirty="0">
                <a:solidFill>
                  <a:srgbClr val="0F172A"/>
                </a:solidFill>
                <a:latin typeface="Calibri" pitchFamily="34" charset="0"/>
                <a:ea typeface="Calibri" pitchFamily="34" charset="-122"/>
                <a:cs typeface="Calibri" pitchFamily="34" charset="-120"/>
              </a:rPr>
              <a:t>Employment information</a:t>
            </a:r>
            <a:endParaRPr lang="en-US" sz="1300" dirty="0"/>
          </a:p>
        </p:txBody>
      </p:sp>
      <p:sp>
        <p:nvSpPr>
          <p:cNvPr id="16" name="Shape 11"/>
          <p:cNvSpPr/>
          <p:nvPr/>
        </p:nvSpPr>
        <p:spPr>
          <a:xfrm>
            <a:off x="886968" y="3749040"/>
            <a:ext cx="329184" cy="329184"/>
          </a:xfrm>
          <a:prstGeom prst="roundRect">
            <a:avLst>
              <a:gd name="adj" fmla="val 25000"/>
            </a:avLst>
          </a:prstGeom>
          <a:solidFill>
            <a:srgbClr val="EEF2FF"/>
          </a:solidFill>
          <a:ln/>
        </p:spPr>
        <p:txBody>
          <a:bodyPr/>
          <a:lstStyle/>
          <a:p>
            <a:endParaRPr lang="en-IN"/>
          </a:p>
        </p:txBody>
      </p:sp>
      <p:pic>
        <p:nvPicPr>
          <p:cNvPr id="17" name="Image 3" descr="preencoded.png"/>
          <p:cNvPicPr>
            <a:picLocks noChangeAspect="1"/>
          </p:cNvPicPr>
          <p:nvPr/>
        </p:nvPicPr>
        <p:blipFill>
          <a:blip r:embed="rId4"/>
          <a:stretch>
            <a:fillRect/>
          </a:stretch>
        </p:blipFill>
        <p:spPr>
          <a:xfrm>
            <a:off x="959388" y="3821460"/>
            <a:ext cx="184343" cy="184343"/>
          </a:xfrm>
          <a:prstGeom prst="rect">
            <a:avLst/>
          </a:prstGeom>
        </p:spPr>
      </p:pic>
      <p:sp>
        <p:nvSpPr>
          <p:cNvPr id="18" name="Text 12"/>
          <p:cNvSpPr/>
          <p:nvPr/>
        </p:nvSpPr>
        <p:spPr>
          <a:xfrm>
            <a:off x="1362456" y="3703320"/>
            <a:ext cx="4206240" cy="420624"/>
          </a:xfrm>
          <a:prstGeom prst="rect">
            <a:avLst/>
          </a:prstGeom>
          <a:noFill/>
          <a:ln/>
        </p:spPr>
        <p:txBody>
          <a:bodyPr wrap="square" lIns="0" tIns="0" rIns="0" bIns="0" rtlCol="0" anchor="ctr"/>
          <a:lstStyle/>
          <a:p>
            <a:pPr marL="0" indent="0">
              <a:buNone/>
            </a:pPr>
            <a:r>
              <a:rPr lang="en-US" sz="1300" dirty="0">
                <a:solidFill>
                  <a:srgbClr val="0F172A"/>
                </a:solidFill>
                <a:latin typeface="Calibri" pitchFamily="34" charset="0"/>
                <a:ea typeface="Calibri" pitchFamily="34" charset="-122"/>
                <a:cs typeface="Calibri" pitchFamily="34" charset="-120"/>
              </a:rPr>
              <a:t>ID documents</a:t>
            </a:r>
            <a:endParaRPr lang="en-US" sz="1300" dirty="0"/>
          </a:p>
        </p:txBody>
      </p:sp>
      <p:sp>
        <p:nvSpPr>
          <p:cNvPr id="19" name="Shape 13"/>
          <p:cNvSpPr/>
          <p:nvPr/>
        </p:nvSpPr>
        <p:spPr>
          <a:xfrm>
            <a:off x="886968" y="4251960"/>
            <a:ext cx="329184" cy="329184"/>
          </a:xfrm>
          <a:prstGeom prst="roundRect">
            <a:avLst>
              <a:gd name="adj" fmla="val 25000"/>
            </a:avLst>
          </a:prstGeom>
          <a:solidFill>
            <a:srgbClr val="EEF2FF"/>
          </a:solidFill>
          <a:ln/>
        </p:spPr>
        <p:txBody>
          <a:bodyPr/>
          <a:lstStyle/>
          <a:p>
            <a:endParaRPr lang="en-IN"/>
          </a:p>
        </p:txBody>
      </p:sp>
      <p:pic>
        <p:nvPicPr>
          <p:cNvPr id="20" name="Image 4" descr="preencoded.png"/>
          <p:cNvPicPr>
            <a:picLocks noChangeAspect="1"/>
          </p:cNvPicPr>
          <p:nvPr/>
        </p:nvPicPr>
        <p:blipFill>
          <a:blip r:embed="rId4"/>
          <a:stretch>
            <a:fillRect/>
          </a:stretch>
        </p:blipFill>
        <p:spPr>
          <a:xfrm>
            <a:off x="959388" y="4324380"/>
            <a:ext cx="184343" cy="184343"/>
          </a:xfrm>
          <a:prstGeom prst="rect">
            <a:avLst/>
          </a:prstGeom>
        </p:spPr>
      </p:pic>
      <p:sp>
        <p:nvSpPr>
          <p:cNvPr id="21" name="Text 14"/>
          <p:cNvSpPr/>
          <p:nvPr/>
        </p:nvSpPr>
        <p:spPr>
          <a:xfrm>
            <a:off x="1362456" y="4206240"/>
            <a:ext cx="4206240" cy="420624"/>
          </a:xfrm>
          <a:prstGeom prst="rect">
            <a:avLst/>
          </a:prstGeom>
          <a:noFill/>
          <a:ln/>
        </p:spPr>
        <p:txBody>
          <a:bodyPr wrap="square" lIns="0" tIns="0" rIns="0" bIns="0" rtlCol="0" anchor="ctr"/>
          <a:lstStyle/>
          <a:p>
            <a:pPr marL="0" indent="0">
              <a:buNone/>
            </a:pPr>
            <a:r>
              <a:rPr lang="en-US" sz="1300" dirty="0">
                <a:solidFill>
                  <a:srgbClr val="0F172A"/>
                </a:solidFill>
                <a:latin typeface="Calibri" pitchFamily="34" charset="0"/>
                <a:ea typeface="Calibri" pitchFamily="34" charset="-122"/>
                <a:cs typeface="Calibri" pitchFamily="34" charset="-120"/>
              </a:rPr>
              <a:t>Certificates</a:t>
            </a:r>
            <a:endParaRPr lang="en-US" sz="1300" dirty="0"/>
          </a:p>
        </p:txBody>
      </p:sp>
      <p:sp>
        <p:nvSpPr>
          <p:cNvPr id="22" name="Shape 15"/>
          <p:cNvSpPr/>
          <p:nvPr/>
        </p:nvSpPr>
        <p:spPr>
          <a:xfrm>
            <a:off x="886968" y="4754880"/>
            <a:ext cx="329184" cy="329184"/>
          </a:xfrm>
          <a:prstGeom prst="roundRect">
            <a:avLst>
              <a:gd name="adj" fmla="val 25000"/>
            </a:avLst>
          </a:prstGeom>
          <a:solidFill>
            <a:srgbClr val="EEF2FF"/>
          </a:solidFill>
          <a:ln/>
        </p:spPr>
        <p:txBody>
          <a:bodyPr/>
          <a:lstStyle/>
          <a:p>
            <a:endParaRPr lang="en-IN"/>
          </a:p>
        </p:txBody>
      </p:sp>
      <p:pic>
        <p:nvPicPr>
          <p:cNvPr id="23" name="Image 5" descr="preencoded.png"/>
          <p:cNvPicPr>
            <a:picLocks noChangeAspect="1"/>
          </p:cNvPicPr>
          <p:nvPr/>
        </p:nvPicPr>
        <p:blipFill>
          <a:blip r:embed="rId4"/>
          <a:stretch>
            <a:fillRect/>
          </a:stretch>
        </p:blipFill>
        <p:spPr>
          <a:xfrm>
            <a:off x="959388" y="4827300"/>
            <a:ext cx="184343" cy="184343"/>
          </a:xfrm>
          <a:prstGeom prst="rect">
            <a:avLst/>
          </a:prstGeom>
        </p:spPr>
      </p:pic>
      <p:sp>
        <p:nvSpPr>
          <p:cNvPr id="24" name="Text 16"/>
          <p:cNvSpPr/>
          <p:nvPr/>
        </p:nvSpPr>
        <p:spPr>
          <a:xfrm>
            <a:off x="1362456" y="4709160"/>
            <a:ext cx="4206240" cy="420624"/>
          </a:xfrm>
          <a:prstGeom prst="rect">
            <a:avLst/>
          </a:prstGeom>
          <a:noFill/>
          <a:ln/>
        </p:spPr>
        <p:txBody>
          <a:bodyPr wrap="square" lIns="0" tIns="0" rIns="0" bIns="0" rtlCol="0" anchor="ctr"/>
          <a:lstStyle/>
          <a:p>
            <a:pPr marL="0" indent="0">
              <a:buNone/>
            </a:pPr>
            <a:r>
              <a:rPr lang="en-US" sz="1300" dirty="0">
                <a:solidFill>
                  <a:srgbClr val="0F172A"/>
                </a:solidFill>
                <a:latin typeface="Calibri" pitchFamily="34" charset="0"/>
                <a:ea typeface="Calibri" pitchFamily="34" charset="-122"/>
                <a:cs typeface="Calibri" pitchFamily="34" charset="-120"/>
              </a:rPr>
              <a:t>Contracts</a:t>
            </a:r>
            <a:endParaRPr lang="en-US" sz="1300" dirty="0"/>
          </a:p>
        </p:txBody>
      </p:sp>
      <p:sp>
        <p:nvSpPr>
          <p:cNvPr id="25" name="Shape 17"/>
          <p:cNvSpPr/>
          <p:nvPr/>
        </p:nvSpPr>
        <p:spPr>
          <a:xfrm>
            <a:off x="886968" y="5257800"/>
            <a:ext cx="329184" cy="329184"/>
          </a:xfrm>
          <a:prstGeom prst="roundRect">
            <a:avLst>
              <a:gd name="adj" fmla="val 25000"/>
            </a:avLst>
          </a:prstGeom>
          <a:solidFill>
            <a:srgbClr val="EEF2FF"/>
          </a:solidFill>
          <a:ln/>
        </p:spPr>
        <p:txBody>
          <a:bodyPr/>
          <a:lstStyle/>
          <a:p>
            <a:endParaRPr lang="en-IN"/>
          </a:p>
        </p:txBody>
      </p:sp>
      <p:pic>
        <p:nvPicPr>
          <p:cNvPr id="26" name="Image 6" descr="preencoded.png"/>
          <p:cNvPicPr>
            <a:picLocks noChangeAspect="1"/>
          </p:cNvPicPr>
          <p:nvPr/>
        </p:nvPicPr>
        <p:blipFill>
          <a:blip r:embed="rId4"/>
          <a:stretch>
            <a:fillRect/>
          </a:stretch>
        </p:blipFill>
        <p:spPr>
          <a:xfrm>
            <a:off x="959388" y="5330220"/>
            <a:ext cx="184343" cy="184343"/>
          </a:xfrm>
          <a:prstGeom prst="rect">
            <a:avLst/>
          </a:prstGeom>
        </p:spPr>
      </p:pic>
      <p:sp>
        <p:nvSpPr>
          <p:cNvPr id="27" name="Text 18"/>
          <p:cNvSpPr/>
          <p:nvPr/>
        </p:nvSpPr>
        <p:spPr>
          <a:xfrm>
            <a:off x="1362456" y="5212080"/>
            <a:ext cx="4206240" cy="420624"/>
          </a:xfrm>
          <a:prstGeom prst="rect">
            <a:avLst/>
          </a:prstGeom>
          <a:noFill/>
          <a:ln/>
        </p:spPr>
        <p:txBody>
          <a:bodyPr wrap="square" lIns="0" tIns="0" rIns="0" bIns="0" rtlCol="0" anchor="ctr"/>
          <a:lstStyle/>
          <a:p>
            <a:pPr marL="0" indent="0">
              <a:buNone/>
            </a:pPr>
            <a:r>
              <a:rPr lang="en-US" sz="1300" dirty="0">
                <a:solidFill>
                  <a:srgbClr val="0F172A"/>
                </a:solidFill>
                <a:latin typeface="Calibri" pitchFamily="34" charset="0"/>
                <a:ea typeface="Calibri" pitchFamily="34" charset="-122"/>
                <a:cs typeface="Calibri" pitchFamily="34" charset="-120"/>
              </a:rPr>
              <a:t>Other HR records</a:t>
            </a:r>
            <a:endParaRPr lang="en-US" sz="1300" dirty="0"/>
          </a:p>
        </p:txBody>
      </p:sp>
      <p:sp>
        <p:nvSpPr>
          <p:cNvPr id="28" name="Shape 19"/>
          <p:cNvSpPr/>
          <p:nvPr/>
        </p:nvSpPr>
        <p:spPr>
          <a:xfrm>
            <a:off x="6263640" y="1783080"/>
            <a:ext cx="5349240" cy="4160520"/>
          </a:xfrm>
          <a:prstGeom prst="roundRect">
            <a:avLst>
              <a:gd name="adj" fmla="val 2198"/>
            </a:avLst>
          </a:prstGeom>
          <a:solidFill>
            <a:srgbClr val="EEF2FF"/>
          </a:solidFill>
          <a:ln w="12700">
            <a:solidFill>
              <a:srgbClr val="C7D2FE"/>
            </a:solidFill>
            <a:prstDash val="solid"/>
          </a:ln>
          <a:effectLst>
            <a:outerShdw blurRad="76200" dist="12700" dir="5400000" algn="bl" rotWithShape="0">
              <a:srgbClr val="94A3B8">
                <a:alpha val="18000"/>
              </a:srgbClr>
            </a:outerShdw>
          </a:effectLst>
        </p:spPr>
        <p:txBody>
          <a:bodyPr/>
          <a:lstStyle/>
          <a:p>
            <a:endParaRPr lang="en-IN"/>
          </a:p>
        </p:txBody>
      </p:sp>
      <p:sp>
        <p:nvSpPr>
          <p:cNvPr id="29" name="Shape 20"/>
          <p:cNvSpPr/>
          <p:nvPr/>
        </p:nvSpPr>
        <p:spPr>
          <a:xfrm>
            <a:off x="6583680" y="2057400"/>
            <a:ext cx="475488" cy="475488"/>
          </a:xfrm>
          <a:prstGeom prst="roundRect">
            <a:avLst>
              <a:gd name="adj" fmla="val 17308"/>
            </a:avLst>
          </a:prstGeom>
          <a:solidFill>
            <a:srgbClr val="E0E7FF"/>
          </a:solidFill>
          <a:ln/>
        </p:spPr>
        <p:txBody>
          <a:bodyPr/>
          <a:lstStyle/>
          <a:p>
            <a:endParaRPr lang="en-IN"/>
          </a:p>
        </p:txBody>
      </p:sp>
      <p:pic>
        <p:nvPicPr>
          <p:cNvPr id="30" name="Image 7" descr="preencoded.png"/>
          <p:cNvPicPr>
            <a:picLocks noChangeAspect="1"/>
          </p:cNvPicPr>
          <p:nvPr/>
        </p:nvPicPr>
        <p:blipFill>
          <a:blip r:embed="rId5"/>
          <a:stretch>
            <a:fillRect/>
          </a:stretch>
        </p:blipFill>
        <p:spPr>
          <a:xfrm>
            <a:off x="6688287" y="2162007"/>
            <a:ext cx="266273" cy="266273"/>
          </a:xfrm>
          <a:prstGeom prst="rect">
            <a:avLst/>
          </a:prstGeom>
        </p:spPr>
      </p:pic>
      <p:sp>
        <p:nvSpPr>
          <p:cNvPr id="31" name="Text 21"/>
          <p:cNvSpPr/>
          <p:nvPr/>
        </p:nvSpPr>
        <p:spPr>
          <a:xfrm>
            <a:off x="7196328" y="2093976"/>
            <a:ext cx="4023360" cy="411480"/>
          </a:xfrm>
          <a:prstGeom prst="rect">
            <a:avLst/>
          </a:prstGeom>
          <a:noFill/>
          <a:ln/>
        </p:spPr>
        <p:txBody>
          <a:bodyPr wrap="square" lIns="0" tIns="0" rIns="0" bIns="0" rtlCol="0" anchor="ctr"/>
          <a:lstStyle/>
          <a:p>
            <a:pPr marL="0" indent="0">
              <a:buNone/>
            </a:pPr>
            <a:r>
              <a:rPr lang="en-US" sz="1800" b="1" dirty="0">
                <a:solidFill>
                  <a:srgbClr val="0F172A"/>
                </a:solidFill>
                <a:latin typeface="Cambria" pitchFamily="34" charset="0"/>
                <a:ea typeface="Cambria" pitchFamily="34" charset="-122"/>
                <a:cs typeface="Cambria" pitchFamily="34" charset="-120"/>
              </a:rPr>
              <a:t>Access is controlled</a:t>
            </a:r>
            <a:endParaRPr lang="en-US" sz="1800" dirty="0"/>
          </a:p>
        </p:txBody>
      </p:sp>
      <p:sp>
        <p:nvSpPr>
          <p:cNvPr id="32" name="Text 22"/>
          <p:cNvSpPr/>
          <p:nvPr/>
        </p:nvSpPr>
        <p:spPr>
          <a:xfrm>
            <a:off x="6583680" y="2743200"/>
            <a:ext cx="4709160" cy="914400"/>
          </a:xfrm>
          <a:prstGeom prst="rect">
            <a:avLst/>
          </a:prstGeom>
          <a:noFill/>
          <a:ln/>
        </p:spPr>
        <p:txBody>
          <a:bodyPr wrap="square" lIns="0" tIns="0" rIns="0" bIns="0" rtlCol="0" anchor="t"/>
          <a:lstStyle/>
          <a:p>
            <a:pPr marL="0" indent="0">
              <a:buNone/>
            </a:pPr>
            <a:r>
              <a:rPr lang="en-US" sz="1350" dirty="0">
                <a:solidFill>
                  <a:srgbClr val="0F172A"/>
                </a:solidFill>
                <a:latin typeface="Calibri" pitchFamily="34" charset="0"/>
                <a:ea typeface="Calibri" pitchFamily="34" charset="-122"/>
                <a:cs typeface="Calibri" pitchFamily="34" charset="-120"/>
              </a:rPr>
              <a:t>Who can see what is determined by the employee's role and their relationship to the information.</a:t>
            </a:r>
            <a:endParaRPr lang="en-US" sz="1350" dirty="0"/>
          </a:p>
        </p:txBody>
      </p:sp>
      <p:sp>
        <p:nvSpPr>
          <p:cNvPr id="33" name="Text 23"/>
          <p:cNvSpPr/>
          <p:nvPr/>
        </p:nvSpPr>
        <p:spPr>
          <a:xfrm>
            <a:off x="6583680" y="3749040"/>
            <a:ext cx="4709160" cy="1188720"/>
          </a:xfrm>
          <a:prstGeom prst="rect">
            <a:avLst/>
          </a:prstGeom>
          <a:noFill/>
          <a:ln/>
        </p:spPr>
        <p:txBody>
          <a:bodyPr wrap="square" lIns="0" tIns="0" rIns="0" bIns="0" rtlCol="0" anchor="t"/>
          <a:lstStyle/>
          <a:p>
            <a:pPr marL="0" indent="0">
              <a:buNone/>
            </a:pPr>
            <a:r>
              <a:rPr lang="en-US" sz="1250" dirty="0">
                <a:solidFill>
                  <a:srgbClr val="64748B"/>
                </a:solidFill>
                <a:latin typeface="Calibri" pitchFamily="34" charset="0"/>
                <a:ea typeface="Calibri" pitchFamily="34" charset="-122"/>
                <a:cs typeface="Calibri" pitchFamily="34" charset="-120"/>
              </a:rPr>
              <a:t>Personal information stays personal. Documents are visible only to the people who genuinely need them — not to the wider company.</a:t>
            </a:r>
            <a:endParaRPr lang="en-US" sz="1250" dirty="0"/>
          </a:p>
        </p:txBody>
      </p:sp>
      <p:sp>
        <p:nvSpPr>
          <p:cNvPr id="34" name="Text 24"/>
          <p:cNvSpPr/>
          <p:nvPr/>
        </p:nvSpPr>
        <p:spPr>
          <a:xfrm>
            <a:off x="548640" y="6473952"/>
            <a:ext cx="2743200" cy="274320"/>
          </a:xfrm>
          <a:prstGeom prst="rect">
            <a:avLst/>
          </a:prstGeom>
          <a:noFill/>
          <a:ln/>
        </p:spPr>
        <p:txBody>
          <a:bodyPr wrap="square" lIns="0" tIns="0" rIns="0" bIns="0"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Orbit</a:t>
            </a: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35" name="Text 25"/>
          <p:cNvSpPr/>
          <p:nvPr/>
        </p:nvSpPr>
        <p:spPr>
          <a:xfrm>
            <a:off x="11277295" y="6473952"/>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marL="0" indent="0">
              <a:buNone/>
            </a:pPr>
            <a:r>
              <a:rPr lang="en-US" sz="1200" b="1" kern="0" spc="300" dirty="0">
                <a:solidFill>
                  <a:srgbClr val="4F46E5"/>
                </a:solidFill>
                <a:latin typeface="Calibri" pitchFamily="34" charset="0"/>
                <a:ea typeface="Calibri" pitchFamily="34" charset="-122"/>
                <a:cs typeface="Calibri" pitchFamily="34" charset="-120"/>
              </a:rPr>
              <a:t>THE OPERATIONAL CHANGE</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marL="0" indent="0">
              <a:buNone/>
            </a:pPr>
            <a:r>
              <a:rPr lang="en-US" sz="3000" b="1" dirty="0">
                <a:solidFill>
                  <a:srgbClr val="0F172A"/>
                </a:solidFill>
                <a:latin typeface="Cambria" pitchFamily="34" charset="0"/>
                <a:ea typeface="Cambria" pitchFamily="34" charset="-122"/>
                <a:cs typeface="Cambria" pitchFamily="34" charset="-120"/>
              </a:rPr>
              <a:t>Orbit only works if we use it</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The calendar is only useful when the information inside it is reliable.</a:t>
            </a:r>
            <a:endParaRPr lang="en-US" sz="1400" dirty="0"/>
          </a:p>
        </p:txBody>
      </p:sp>
      <p:sp>
        <p:nvSpPr>
          <p:cNvPr id="5" name="Shape 3"/>
          <p:cNvSpPr/>
          <p:nvPr/>
        </p:nvSpPr>
        <p:spPr>
          <a:xfrm>
            <a:off x="11341303" y="585216"/>
            <a:ext cx="146304" cy="146304"/>
          </a:xfrm>
          <a:prstGeom prst="diamond">
            <a:avLst/>
          </a:prstGeom>
          <a:solidFill>
            <a:srgbClr val="818CF8"/>
          </a:solidFill>
          <a:ln/>
        </p:spPr>
        <p:txBody>
          <a:bodyPr/>
          <a:lstStyle/>
          <a:p>
            <a:endParaRPr lang="en-IN"/>
          </a:p>
        </p:txBody>
      </p:sp>
      <p:sp>
        <p:nvSpPr>
          <p:cNvPr id="6" name="Shape 4"/>
          <p:cNvSpPr/>
          <p:nvPr/>
        </p:nvSpPr>
        <p:spPr>
          <a:xfrm>
            <a:off x="1280160" y="1874520"/>
            <a:ext cx="5852160" cy="621792"/>
          </a:xfrm>
          <a:prstGeom prst="roundRect">
            <a:avLst>
              <a:gd name="adj" fmla="val 14706"/>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7" name="Text 5"/>
          <p:cNvSpPr/>
          <p:nvPr/>
        </p:nvSpPr>
        <p:spPr>
          <a:xfrm>
            <a:off x="1600200" y="1874520"/>
            <a:ext cx="5394960" cy="621792"/>
          </a:xfrm>
          <a:prstGeom prst="rect">
            <a:avLst/>
          </a:prstGeom>
          <a:noFill/>
          <a:ln/>
        </p:spPr>
        <p:txBody>
          <a:bodyPr wrap="square" lIns="0" tIns="0" rIns="0" bIns="0" rtlCol="0" anchor="ctr"/>
          <a:lstStyle/>
          <a:p>
            <a:pPr marL="0" indent="0">
              <a:buNone/>
            </a:pPr>
            <a:r>
              <a:rPr lang="en-US" sz="1450" b="1" dirty="0">
                <a:solidFill>
                  <a:srgbClr val="0F172A"/>
                </a:solidFill>
                <a:latin typeface="Calibri" pitchFamily="34" charset="0"/>
                <a:ea typeface="Calibri" pitchFamily="34" charset="-122"/>
                <a:cs typeface="Calibri" pitchFamily="34" charset="-120"/>
              </a:rPr>
              <a:t>Check your leave balance</a:t>
            </a:r>
            <a:endParaRPr lang="en-US" sz="1450" dirty="0"/>
          </a:p>
        </p:txBody>
      </p:sp>
      <p:sp>
        <p:nvSpPr>
          <p:cNvPr id="8" name="Shape 6"/>
          <p:cNvSpPr/>
          <p:nvPr/>
        </p:nvSpPr>
        <p:spPr>
          <a:xfrm>
            <a:off x="7315200" y="2002536"/>
            <a:ext cx="457200" cy="365760"/>
          </a:xfrm>
          <a:prstGeom prst="rightArrow">
            <a:avLst/>
          </a:prstGeom>
          <a:solidFill>
            <a:srgbClr val="C7D2FE"/>
          </a:solidFill>
          <a:ln/>
        </p:spPr>
        <p:txBody>
          <a:bodyPr/>
          <a:lstStyle/>
          <a:p>
            <a:endParaRPr lang="en-IN"/>
          </a:p>
        </p:txBody>
      </p:sp>
      <p:sp>
        <p:nvSpPr>
          <p:cNvPr id="9" name="Shape 7"/>
          <p:cNvSpPr/>
          <p:nvPr/>
        </p:nvSpPr>
        <p:spPr>
          <a:xfrm>
            <a:off x="7955280" y="1929384"/>
            <a:ext cx="2011680" cy="512064"/>
          </a:xfrm>
          <a:prstGeom prst="roundRect">
            <a:avLst>
              <a:gd name="adj" fmla="val 21429"/>
            </a:avLst>
          </a:prstGeom>
          <a:solidFill>
            <a:srgbClr val="4F46E5"/>
          </a:solidFill>
          <a:ln/>
        </p:spPr>
        <p:txBody>
          <a:bodyPr/>
          <a:lstStyle/>
          <a:p>
            <a:endParaRPr lang="en-IN"/>
          </a:p>
        </p:txBody>
      </p:sp>
      <p:sp>
        <p:nvSpPr>
          <p:cNvPr id="10" name="Text 8"/>
          <p:cNvSpPr/>
          <p:nvPr/>
        </p:nvSpPr>
        <p:spPr>
          <a:xfrm>
            <a:off x="7955280" y="1929384"/>
            <a:ext cx="2011680" cy="512064"/>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Orbit</a:t>
            </a:r>
            <a:endParaRPr lang="en-US" sz="1500" dirty="0"/>
          </a:p>
        </p:txBody>
      </p:sp>
      <p:sp>
        <p:nvSpPr>
          <p:cNvPr id="11" name="Shape 9"/>
          <p:cNvSpPr/>
          <p:nvPr/>
        </p:nvSpPr>
        <p:spPr>
          <a:xfrm>
            <a:off x="1280160" y="2633472"/>
            <a:ext cx="5852160" cy="621792"/>
          </a:xfrm>
          <a:prstGeom prst="roundRect">
            <a:avLst>
              <a:gd name="adj" fmla="val 14706"/>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2" name="Text 10"/>
          <p:cNvSpPr/>
          <p:nvPr/>
        </p:nvSpPr>
        <p:spPr>
          <a:xfrm>
            <a:off x="1600200" y="2633472"/>
            <a:ext cx="5394960" cy="621792"/>
          </a:xfrm>
          <a:prstGeom prst="rect">
            <a:avLst/>
          </a:prstGeom>
          <a:noFill/>
          <a:ln/>
        </p:spPr>
        <p:txBody>
          <a:bodyPr wrap="square" lIns="0" tIns="0" rIns="0" bIns="0" rtlCol="0" anchor="ctr"/>
          <a:lstStyle/>
          <a:p>
            <a:pPr marL="0" indent="0">
              <a:buNone/>
            </a:pPr>
            <a:r>
              <a:rPr lang="en-US" sz="1450" b="1" dirty="0">
                <a:solidFill>
                  <a:srgbClr val="0F172A"/>
                </a:solidFill>
                <a:latin typeface="Calibri" pitchFamily="34" charset="0"/>
                <a:ea typeface="Calibri" pitchFamily="34" charset="-122"/>
                <a:cs typeface="Calibri" pitchFamily="34" charset="-120"/>
              </a:rPr>
              <a:t>Request leave</a:t>
            </a:r>
            <a:endParaRPr lang="en-US" sz="1450" dirty="0"/>
          </a:p>
        </p:txBody>
      </p:sp>
      <p:sp>
        <p:nvSpPr>
          <p:cNvPr id="13" name="Shape 11"/>
          <p:cNvSpPr/>
          <p:nvPr/>
        </p:nvSpPr>
        <p:spPr>
          <a:xfrm>
            <a:off x="7315200" y="2761488"/>
            <a:ext cx="457200" cy="365760"/>
          </a:xfrm>
          <a:prstGeom prst="rightArrow">
            <a:avLst/>
          </a:prstGeom>
          <a:solidFill>
            <a:srgbClr val="C7D2FE"/>
          </a:solidFill>
          <a:ln/>
        </p:spPr>
        <p:txBody>
          <a:bodyPr/>
          <a:lstStyle/>
          <a:p>
            <a:endParaRPr lang="en-IN"/>
          </a:p>
        </p:txBody>
      </p:sp>
      <p:sp>
        <p:nvSpPr>
          <p:cNvPr id="14" name="Shape 12"/>
          <p:cNvSpPr/>
          <p:nvPr/>
        </p:nvSpPr>
        <p:spPr>
          <a:xfrm>
            <a:off x="7955280" y="2688336"/>
            <a:ext cx="2011680" cy="512064"/>
          </a:xfrm>
          <a:prstGeom prst="roundRect">
            <a:avLst>
              <a:gd name="adj" fmla="val 21429"/>
            </a:avLst>
          </a:prstGeom>
          <a:solidFill>
            <a:srgbClr val="4F46E5"/>
          </a:solidFill>
          <a:ln/>
        </p:spPr>
        <p:txBody>
          <a:bodyPr/>
          <a:lstStyle/>
          <a:p>
            <a:endParaRPr lang="en-IN"/>
          </a:p>
        </p:txBody>
      </p:sp>
      <p:sp>
        <p:nvSpPr>
          <p:cNvPr id="15" name="Text 13"/>
          <p:cNvSpPr/>
          <p:nvPr/>
        </p:nvSpPr>
        <p:spPr>
          <a:xfrm>
            <a:off x="7955280" y="2688336"/>
            <a:ext cx="2011680" cy="512064"/>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Orbit</a:t>
            </a:r>
            <a:endParaRPr lang="en-US" sz="1500" dirty="0"/>
          </a:p>
        </p:txBody>
      </p:sp>
      <p:sp>
        <p:nvSpPr>
          <p:cNvPr id="16" name="Shape 14"/>
          <p:cNvSpPr/>
          <p:nvPr/>
        </p:nvSpPr>
        <p:spPr>
          <a:xfrm>
            <a:off x="1280160" y="3392424"/>
            <a:ext cx="5852160" cy="621792"/>
          </a:xfrm>
          <a:prstGeom prst="roundRect">
            <a:avLst>
              <a:gd name="adj" fmla="val 14706"/>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7" name="Text 15"/>
          <p:cNvSpPr/>
          <p:nvPr/>
        </p:nvSpPr>
        <p:spPr>
          <a:xfrm>
            <a:off x="1600200" y="3392424"/>
            <a:ext cx="5394960" cy="621792"/>
          </a:xfrm>
          <a:prstGeom prst="rect">
            <a:avLst/>
          </a:prstGeom>
          <a:noFill/>
          <a:ln/>
        </p:spPr>
        <p:txBody>
          <a:bodyPr wrap="square" lIns="0" tIns="0" rIns="0" bIns="0" rtlCol="0" anchor="ctr"/>
          <a:lstStyle/>
          <a:p>
            <a:pPr marL="0" indent="0">
              <a:buNone/>
            </a:pPr>
            <a:r>
              <a:rPr lang="en-US" sz="1450" b="1" dirty="0">
                <a:solidFill>
                  <a:srgbClr val="0F172A"/>
                </a:solidFill>
                <a:latin typeface="Calibri" pitchFamily="34" charset="0"/>
                <a:ea typeface="Calibri" pitchFamily="34" charset="-122"/>
                <a:cs typeface="Calibri" pitchFamily="34" charset="-120"/>
              </a:rPr>
              <a:t>Request WFH / working arrangement</a:t>
            </a:r>
            <a:endParaRPr lang="en-US" sz="1450" dirty="0"/>
          </a:p>
        </p:txBody>
      </p:sp>
      <p:sp>
        <p:nvSpPr>
          <p:cNvPr id="18" name="Shape 16"/>
          <p:cNvSpPr/>
          <p:nvPr/>
        </p:nvSpPr>
        <p:spPr>
          <a:xfrm>
            <a:off x="7315200" y="3520440"/>
            <a:ext cx="457200" cy="365760"/>
          </a:xfrm>
          <a:prstGeom prst="rightArrow">
            <a:avLst/>
          </a:prstGeom>
          <a:solidFill>
            <a:srgbClr val="C7D2FE"/>
          </a:solidFill>
          <a:ln/>
        </p:spPr>
        <p:txBody>
          <a:bodyPr/>
          <a:lstStyle/>
          <a:p>
            <a:endParaRPr lang="en-IN"/>
          </a:p>
        </p:txBody>
      </p:sp>
      <p:sp>
        <p:nvSpPr>
          <p:cNvPr id="19" name="Shape 17"/>
          <p:cNvSpPr/>
          <p:nvPr/>
        </p:nvSpPr>
        <p:spPr>
          <a:xfrm>
            <a:off x="7955280" y="3447288"/>
            <a:ext cx="2011680" cy="512064"/>
          </a:xfrm>
          <a:prstGeom prst="roundRect">
            <a:avLst>
              <a:gd name="adj" fmla="val 21429"/>
            </a:avLst>
          </a:prstGeom>
          <a:solidFill>
            <a:srgbClr val="4F46E5"/>
          </a:solidFill>
          <a:ln/>
        </p:spPr>
        <p:txBody>
          <a:bodyPr/>
          <a:lstStyle/>
          <a:p>
            <a:endParaRPr lang="en-IN"/>
          </a:p>
        </p:txBody>
      </p:sp>
      <p:sp>
        <p:nvSpPr>
          <p:cNvPr id="20" name="Text 18"/>
          <p:cNvSpPr/>
          <p:nvPr/>
        </p:nvSpPr>
        <p:spPr>
          <a:xfrm>
            <a:off x="7955280" y="3447288"/>
            <a:ext cx="2011680" cy="512064"/>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Orbit</a:t>
            </a:r>
            <a:endParaRPr lang="en-US" sz="1500" dirty="0"/>
          </a:p>
        </p:txBody>
      </p:sp>
      <p:sp>
        <p:nvSpPr>
          <p:cNvPr id="21" name="Shape 19"/>
          <p:cNvSpPr/>
          <p:nvPr/>
        </p:nvSpPr>
        <p:spPr>
          <a:xfrm>
            <a:off x="1280160" y="4151376"/>
            <a:ext cx="5852160" cy="621792"/>
          </a:xfrm>
          <a:prstGeom prst="roundRect">
            <a:avLst>
              <a:gd name="adj" fmla="val 14706"/>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22" name="Text 20"/>
          <p:cNvSpPr/>
          <p:nvPr/>
        </p:nvSpPr>
        <p:spPr>
          <a:xfrm>
            <a:off x="1600200" y="4151376"/>
            <a:ext cx="5394960" cy="621792"/>
          </a:xfrm>
          <a:prstGeom prst="rect">
            <a:avLst/>
          </a:prstGeom>
          <a:noFill/>
          <a:ln/>
        </p:spPr>
        <p:txBody>
          <a:bodyPr wrap="square" lIns="0" tIns="0" rIns="0" bIns="0" rtlCol="0" anchor="ctr"/>
          <a:lstStyle/>
          <a:p>
            <a:pPr marL="0" indent="0">
              <a:buNone/>
            </a:pPr>
            <a:r>
              <a:rPr lang="en-US" sz="1450" b="1" dirty="0">
                <a:solidFill>
                  <a:srgbClr val="0F172A"/>
                </a:solidFill>
                <a:latin typeface="Calibri" pitchFamily="34" charset="0"/>
                <a:ea typeface="Calibri" pitchFamily="34" charset="-122"/>
                <a:cs typeface="Calibri" pitchFamily="34" charset="-120"/>
              </a:rPr>
              <a:t>Check who is away</a:t>
            </a:r>
            <a:endParaRPr lang="en-US" sz="1450" dirty="0"/>
          </a:p>
        </p:txBody>
      </p:sp>
      <p:sp>
        <p:nvSpPr>
          <p:cNvPr id="23" name="Shape 21"/>
          <p:cNvSpPr/>
          <p:nvPr/>
        </p:nvSpPr>
        <p:spPr>
          <a:xfrm>
            <a:off x="7315200" y="4279392"/>
            <a:ext cx="457200" cy="365760"/>
          </a:xfrm>
          <a:prstGeom prst="rightArrow">
            <a:avLst/>
          </a:prstGeom>
          <a:solidFill>
            <a:srgbClr val="C7D2FE"/>
          </a:solidFill>
          <a:ln/>
        </p:spPr>
        <p:txBody>
          <a:bodyPr/>
          <a:lstStyle/>
          <a:p>
            <a:endParaRPr lang="en-IN"/>
          </a:p>
        </p:txBody>
      </p:sp>
      <p:sp>
        <p:nvSpPr>
          <p:cNvPr id="24" name="Shape 22"/>
          <p:cNvSpPr/>
          <p:nvPr/>
        </p:nvSpPr>
        <p:spPr>
          <a:xfrm>
            <a:off x="7955280" y="4206240"/>
            <a:ext cx="2011680" cy="512064"/>
          </a:xfrm>
          <a:prstGeom prst="roundRect">
            <a:avLst>
              <a:gd name="adj" fmla="val 21429"/>
            </a:avLst>
          </a:prstGeom>
          <a:solidFill>
            <a:srgbClr val="4F46E5"/>
          </a:solidFill>
          <a:ln/>
        </p:spPr>
        <p:txBody>
          <a:bodyPr/>
          <a:lstStyle/>
          <a:p>
            <a:endParaRPr lang="en-IN"/>
          </a:p>
        </p:txBody>
      </p:sp>
      <p:sp>
        <p:nvSpPr>
          <p:cNvPr id="25" name="Text 23"/>
          <p:cNvSpPr/>
          <p:nvPr/>
        </p:nvSpPr>
        <p:spPr>
          <a:xfrm>
            <a:off x="7955280" y="4206240"/>
            <a:ext cx="2011680" cy="512064"/>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Orbit</a:t>
            </a:r>
            <a:endParaRPr lang="en-US" sz="1500" dirty="0"/>
          </a:p>
        </p:txBody>
      </p:sp>
      <p:sp>
        <p:nvSpPr>
          <p:cNvPr id="26" name="Shape 24"/>
          <p:cNvSpPr/>
          <p:nvPr/>
        </p:nvSpPr>
        <p:spPr>
          <a:xfrm>
            <a:off x="1280160" y="4910328"/>
            <a:ext cx="5852160" cy="621792"/>
          </a:xfrm>
          <a:prstGeom prst="roundRect">
            <a:avLst>
              <a:gd name="adj" fmla="val 14706"/>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27" name="Text 25"/>
          <p:cNvSpPr/>
          <p:nvPr/>
        </p:nvSpPr>
        <p:spPr>
          <a:xfrm>
            <a:off x="1600200" y="4910328"/>
            <a:ext cx="5394960" cy="621792"/>
          </a:xfrm>
          <a:prstGeom prst="rect">
            <a:avLst/>
          </a:prstGeom>
          <a:noFill/>
          <a:ln/>
        </p:spPr>
        <p:txBody>
          <a:bodyPr wrap="square" lIns="0" tIns="0" rIns="0" bIns="0" rtlCol="0" anchor="ctr"/>
          <a:lstStyle/>
          <a:p>
            <a:pPr marL="0" indent="0">
              <a:buNone/>
            </a:pPr>
            <a:r>
              <a:rPr lang="en-US" sz="1450" b="1" dirty="0">
                <a:solidFill>
                  <a:srgbClr val="0F172A"/>
                </a:solidFill>
                <a:latin typeface="Calibri" pitchFamily="34" charset="0"/>
                <a:ea typeface="Calibri" pitchFamily="34" charset="-122"/>
                <a:cs typeface="Calibri" pitchFamily="34" charset="-120"/>
              </a:rPr>
              <a:t>Check your request status</a:t>
            </a:r>
            <a:endParaRPr lang="en-US" sz="1450" dirty="0"/>
          </a:p>
        </p:txBody>
      </p:sp>
      <p:sp>
        <p:nvSpPr>
          <p:cNvPr id="28" name="Shape 26"/>
          <p:cNvSpPr/>
          <p:nvPr/>
        </p:nvSpPr>
        <p:spPr>
          <a:xfrm>
            <a:off x="7315200" y="5038344"/>
            <a:ext cx="457200" cy="365760"/>
          </a:xfrm>
          <a:prstGeom prst="rightArrow">
            <a:avLst/>
          </a:prstGeom>
          <a:solidFill>
            <a:srgbClr val="C7D2FE"/>
          </a:solidFill>
          <a:ln/>
        </p:spPr>
        <p:txBody>
          <a:bodyPr/>
          <a:lstStyle/>
          <a:p>
            <a:endParaRPr lang="en-IN"/>
          </a:p>
        </p:txBody>
      </p:sp>
      <p:sp>
        <p:nvSpPr>
          <p:cNvPr id="29" name="Shape 27"/>
          <p:cNvSpPr/>
          <p:nvPr/>
        </p:nvSpPr>
        <p:spPr>
          <a:xfrm>
            <a:off x="7955280" y="4965192"/>
            <a:ext cx="2011680" cy="512064"/>
          </a:xfrm>
          <a:prstGeom prst="roundRect">
            <a:avLst>
              <a:gd name="adj" fmla="val 21429"/>
            </a:avLst>
          </a:prstGeom>
          <a:solidFill>
            <a:srgbClr val="4F46E5"/>
          </a:solidFill>
          <a:ln/>
        </p:spPr>
        <p:txBody>
          <a:bodyPr/>
          <a:lstStyle/>
          <a:p>
            <a:endParaRPr lang="en-IN"/>
          </a:p>
        </p:txBody>
      </p:sp>
      <p:sp>
        <p:nvSpPr>
          <p:cNvPr id="30" name="Text 28"/>
          <p:cNvSpPr/>
          <p:nvPr/>
        </p:nvSpPr>
        <p:spPr>
          <a:xfrm>
            <a:off x="7955280" y="4965192"/>
            <a:ext cx="2011680" cy="512064"/>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Orbit</a:t>
            </a:r>
            <a:endParaRPr lang="en-US" sz="1500" dirty="0"/>
          </a:p>
        </p:txBody>
      </p:sp>
      <p:sp>
        <p:nvSpPr>
          <p:cNvPr id="31" name="Shape 29"/>
          <p:cNvSpPr/>
          <p:nvPr/>
        </p:nvSpPr>
        <p:spPr>
          <a:xfrm>
            <a:off x="548640" y="5760720"/>
            <a:ext cx="11064240" cy="566928"/>
          </a:xfrm>
          <a:prstGeom prst="roundRect">
            <a:avLst>
              <a:gd name="adj" fmla="val 16129"/>
            </a:avLst>
          </a:prstGeom>
          <a:solidFill>
            <a:srgbClr val="FFFBEB"/>
          </a:solidFill>
          <a:ln w="12700">
            <a:solidFill>
              <a:srgbClr val="FDE68A"/>
            </a:solidFill>
            <a:prstDash val="solid"/>
          </a:ln>
          <a:effectLst>
            <a:outerShdw blurRad="76200" dist="12700" dir="5400000" algn="bl" rotWithShape="0">
              <a:srgbClr val="94A3B8">
                <a:alpha val="18000"/>
              </a:srgbClr>
            </a:outerShdw>
          </a:effectLst>
        </p:spPr>
        <p:txBody>
          <a:bodyPr/>
          <a:lstStyle/>
          <a:p>
            <a:endParaRPr lang="en-IN"/>
          </a:p>
        </p:txBody>
      </p:sp>
      <p:sp>
        <p:nvSpPr>
          <p:cNvPr id="32" name="Text 30"/>
          <p:cNvSpPr/>
          <p:nvPr/>
        </p:nvSpPr>
        <p:spPr>
          <a:xfrm>
            <a:off x="914400" y="5760720"/>
            <a:ext cx="10332720" cy="566928"/>
          </a:xfrm>
          <a:prstGeom prst="rect">
            <a:avLst/>
          </a:prstGeom>
          <a:noFill/>
          <a:ln/>
        </p:spPr>
        <p:txBody>
          <a:bodyPr wrap="square" lIns="0" tIns="0" rIns="0" bIns="0" rtlCol="0" anchor="ctr"/>
          <a:lstStyle/>
          <a:p>
            <a:pPr marL="0" indent="0">
              <a:buNone/>
            </a:pPr>
            <a:r>
              <a:rPr lang="en-US" sz="1250" b="1" dirty="0">
                <a:solidFill>
                  <a:srgbClr val="92400E"/>
                </a:solidFill>
                <a:latin typeface="Calibri" pitchFamily="34" charset="0"/>
                <a:ea typeface="Calibri" pitchFamily="34" charset="-122"/>
                <a:cs typeface="Calibri" pitchFamily="34" charset="-120"/>
              </a:rPr>
              <a:t>Orbit becomes the standard source for these processes — rather than maintaining parallel information through informal channels.</a:t>
            </a:r>
            <a:endParaRPr lang="en-US" sz="1250" dirty="0"/>
          </a:p>
        </p:txBody>
      </p:sp>
      <p:sp>
        <p:nvSpPr>
          <p:cNvPr id="33" name="Text 31"/>
          <p:cNvSpPr/>
          <p:nvPr/>
        </p:nvSpPr>
        <p:spPr>
          <a:xfrm>
            <a:off x="548640" y="6473952"/>
            <a:ext cx="2743200" cy="274320"/>
          </a:xfrm>
          <a:prstGeom prst="rect">
            <a:avLst/>
          </a:prstGeom>
          <a:noFill/>
          <a:ln/>
        </p:spPr>
        <p:txBody>
          <a:bodyPr wrap="square" lIns="0" tIns="0" rIns="0" bIns="0"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Orbit</a:t>
            </a: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34" name="Text 32"/>
          <p:cNvSpPr/>
          <p:nvPr/>
        </p:nvSpPr>
        <p:spPr>
          <a:xfrm>
            <a:off x="11277295" y="6473952"/>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marL="0" indent="0">
              <a:buNone/>
            </a:pPr>
            <a:r>
              <a:rPr lang="en-US" sz="1200" b="1" kern="0" spc="300" dirty="0">
                <a:solidFill>
                  <a:srgbClr val="4F46E5"/>
                </a:solidFill>
                <a:latin typeface="Calibri" pitchFamily="34" charset="0"/>
                <a:ea typeface="Calibri" pitchFamily="34" charset="-122"/>
                <a:cs typeface="Calibri" pitchFamily="34" charset="-120"/>
              </a:rPr>
              <a:t>THE OPERATIONAL CHANGE</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marL="0" indent="0">
              <a:buNone/>
            </a:pPr>
            <a:r>
              <a:rPr lang="en-US" sz="3000" b="1" dirty="0">
                <a:solidFill>
                  <a:srgbClr val="0F172A"/>
                </a:solidFill>
                <a:latin typeface="Cambria" pitchFamily="34" charset="0"/>
                <a:ea typeface="Cambria" pitchFamily="34" charset="-122"/>
                <a:cs typeface="Cambria" pitchFamily="34" charset="-120"/>
              </a:rPr>
              <a:t>Why this matters</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Structure benefits everyone.</a:t>
            </a:r>
            <a:endParaRPr lang="en-US" sz="1400" dirty="0"/>
          </a:p>
        </p:txBody>
      </p:sp>
      <p:sp>
        <p:nvSpPr>
          <p:cNvPr id="5" name="Shape 3"/>
          <p:cNvSpPr/>
          <p:nvPr/>
        </p:nvSpPr>
        <p:spPr>
          <a:xfrm>
            <a:off x="11341303" y="585216"/>
            <a:ext cx="146304" cy="146304"/>
          </a:xfrm>
          <a:prstGeom prst="diamond">
            <a:avLst/>
          </a:prstGeom>
          <a:solidFill>
            <a:srgbClr val="818CF8"/>
          </a:solidFill>
          <a:ln/>
        </p:spPr>
        <p:txBody>
          <a:bodyPr/>
          <a:lstStyle/>
          <a:p>
            <a:endParaRPr lang="en-IN"/>
          </a:p>
        </p:txBody>
      </p:sp>
      <p:sp>
        <p:nvSpPr>
          <p:cNvPr id="6" name="Shape 4"/>
          <p:cNvSpPr/>
          <p:nvPr/>
        </p:nvSpPr>
        <p:spPr>
          <a:xfrm>
            <a:off x="548640" y="1828800"/>
            <a:ext cx="3657600" cy="1920240"/>
          </a:xfrm>
          <a:prstGeom prst="roundRect">
            <a:avLst>
              <a:gd name="adj" fmla="val 4762"/>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7" name="Shape 5"/>
          <p:cNvSpPr/>
          <p:nvPr/>
        </p:nvSpPr>
        <p:spPr>
          <a:xfrm>
            <a:off x="804672" y="2066544"/>
            <a:ext cx="438912" cy="438912"/>
          </a:xfrm>
          <a:prstGeom prst="roundRect">
            <a:avLst>
              <a:gd name="adj" fmla="val 18750"/>
            </a:avLst>
          </a:prstGeom>
          <a:solidFill>
            <a:srgbClr val="EEF2FF"/>
          </a:solidFill>
          <a:ln/>
        </p:spPr>
        <p:txBody>
          <a:bodyPr/>
          <a:lstStyle/>
          <a:p>
            <a:endParaRPr lang="en-IN"/>
          </a:p>
        </p:txBody>
      </p:sp>
      <p:pic>
        <p:nvPicPr>
          <p:cNvPr id="8" name="Image 0" descr="preencoded.png"/>
          <p:cNvPicPr>
            <a:picLocks noChangeAspect="1"/>
          </p:cNvPicPr>
          <p:nvPr/>
        </p:nvPicPr>
        <p:blipFill>
          <a:blip r:embed="rId3"/>
          <a:stretch>
            <a:fillRect/>
          </a:stretch>
        </p:blipFill>
        <p:spPr>
          <a:xfrm>
            <a:off x="901233" y="2163105"/>
            <a:ext cx="245791" cy="245791"/>
          </a:xfrm>
          <a:prstGeom prst="rect">
            <a:avLst/>
          </a:prstGeom>
        </p:spPr>
      </p:pic>
      <p:sp>
        <p:nvSpPr>
          <p:cNvPr id="9" name="Text 6"/>
          <p:cNvSpPr/>
          <p:nvPr/>
        </p:nvSpPr>
        <p:spPr>
          <a:xfrm>
            <a:off x="804672" y="2651760"/>
            <a:ext cx="3145536" cy="457200"/>
          </a:xfrm>
          <a:prstGeom prst="rect">
            <a:avLst/>
          </a:prstGeom>
          <a:noFill/>
          <a:ln/>
        </p:spPr>
        <p:txBody>
          <a:bodyPr wrap="square" lIns="0" tIns="0" rIns="0" bIns="0" rtlCol="0" anchor="t"/>
          <a:lstStyle/>
          <a:p>
            <a:pPr marL="0" indent="0">
              <a:buNone/>
            </a:pPr>
            <a:r>
              <a:rPr lang="en-US" sz="1450" b="1" dirty="0">
                <a:solidFill>
                  <a:srgbClr val="0F172A"/>
                </a:solidFill>
                <a:latin typeface="Cambria" pitchFamily="34" charset="0"/>
                <a:ea typeface="Cambria" pitchFamily="34" charset="-122"/>
                <a:cs typeface="Cambria" pitchFamily="34" charset="-120"/>
              </a:rPr>
              <a:t>For employees</a:t>
            </a:r>
            <a:endParaRPr lang="en-US" sz="1450" dirty="0"/>
          </a:p>
        </p:txBody>
      </p:sp>
      <p:sp>
        <p:nvSpPr>
          <p:cNvPr id="10" name="Text 7"/>
          <p:cNvSpPr/>
          <p:nvPr/>
        </p:nvSpPr>
        <p:spPr>
          <a:xfrm>
            <a:off x="804672" y="3108960"/>
            <a:ext cx="3145536" cy="594360"/>
          </a:xfrm>
          <a:prstGeom prst="rect">
            <a:avLst/>
          </a:prstGeom>
          <a:noFill/>
          <a:ln/>
        </p:spPr>
        <p:txBody>
          <a:bodyPr wrap="square" lIns="0" tIns="0" rIns="0" bIns="0" rtlCol="0" anchor="t"/>
          <a:lstStyle/>
          <a:p>
            <a:pPr marL="0" indent="0">
              <a:buNone/>
            </a:pPr>
            <a:r>
              <a:rPr lang="en-US" sz="1180" dirty="0">
                <a:solidFill>
                  <a:srgbClr val="64748B"/>
                </a:solidFill>
                <a:latin typeface="Calibri" pitchFamily="34" charset="0"/>
                <a:ea typeface="Calibri" pitchFamily="34" charset="-122"/>
                <a:cs typeface="Calibri" pitchFamily="34" charset="-120"/>
              </a:rPr>
              <a:t>Clear balances, clear requests and less uncertainty.</a:t>
            </a:r>
            <a:endParaRPr lang="en-US" sz="1180" dirty="0"/>
          </a:p>
        </p:txBody>
      </p:sp>
      <p:sp>
        <p:nvSpPr>
          <p:cNvPr id="11" name="Shape 8"/>
          <p:cNvSpPr/>
          <p:nvPr/>
        </p:nvSpPr>
        <p:spPr>
          <a:xfrm>
            <a:off x="4370832" y="1828800"/>
            <a:ext cx="3657600" cy="1920240"/>
          </a:xfrm>
          <a:prstGeom prst="roundRect">
            <a:avLst>
              <a:gd name="adj" fmla="val 4762"/>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2" name="Shape 9"/>
          <p:cNvSpPr/>
          <p:nvPr/>
        </p:nvSpPr>
        <p:spPr>
          <a:xfrm>
            <a:off x="4626864" y="2066544"/>
            <a:ext cx="438912" cy="438912"/>
          </a:xfrm>
          <a:prstGeom prst="roundRect">
            <a:avLst>
              <a:gd name="adj" fmla="val 18750"/>
            </a:avLst>
          </a:prstGeom>
          <a:solidFill>
            <a:srgbClr val="EEF2FF"/>
          </a:solidFill>
          <a:ln/>
        </p:spPr>
        <p:txBody>
          <a:bodyPr/>
          <a:lstStyle/>
          <a:p>
            <a:endParaRPr lang="en-IN"/>
          </a:p>
        </p:txBody>
      </p:sp>
      <p:pic>
        <p:nvPicPr>
          <p:cNvPr id="13" name="Image 1" descr="preencoded.png"/>
          <p:cNvPicPr>
            <a:picLocks noChangeAspect="1"/>
          </p:cNvPicPr>
          <p:nvPr/>
        </p:nvPicPr>
        <p:blipFill>
          <a:blip r:embed="rId4"/>
          <a:stretch>
            <a:fillRect/>
          </a:stretch>
        </p:blipFill>
        <p:spPr>
          <a:xfrm>
            <a:off x="4723425" y="2163105"/>
            <a:ext cx="245791" cy="245791"/>
          </a:xfrm>
          <a:prstGeom prst="rect">
            <a:avLst/>
          </a:prstGeom>
        </p:spPr>
      </p:pic>
      <p:sp>
        <p:nvSpPr>
          <p:cNvPr id="14" name="Text 10"/>
          <p:cNvSpPr/>
          <p:nvPr/>
        </p:nvSpPr>
        <p:spPr>
          <a:xfrm>
            <a:off x="4626864" y="2651760"/>
            <a:ext cx="3145536" cy="457200"/>
          </a:xfrm>
          <a:prstGeom prst="rect">
            <a:avLst/>
          </a:prstGeom>
          <a:noFill/>
          <a:ln/>
        </p:spPr>
        <p:txBody>
          <a:bodyPr wrap="square" lIns="0" tIns="0" rIns="0" bIns="0" rtlCol="0" anchor="t"/>
          <a:lstStyle/>
          <a:p>
            <a:pPr marL="0" indent="0">
              <a:buNone/>
            </a:pPr>
            <a:r>
              <a:rPr lang="en-US" sz="1450" b="1" dirty="0">
                <a:solidFill>
                  <a:srgbClr val="0F172A"/>
                </a:solidFill>
                <a:latin typeface="Cambria" pitchFamily="34" charset="0"/>
                <a:ea typeface="Cambria" pitchFamily="34" charset="-122"/>
                <a:cs typeface="Cambria" pitchFamily="34" charset="-120"/>
              </a:rPr>
              <a:t>For managers</a:t>
            </a:r>
            <a:endParaRPr lang="en-US" sz="1450" dirty="0"/>
          </a:p>
        </p:txBody>
      </p:sp>
      <p:sp>
        <p:nvSpPr>
          <p:cNvPr id="15" name="Text 11"/>
          <p:cNvSpPr/>
          <p:nvPr/>
        </p:nvSpPr>
        <p:spPr>
          <a:xfrm>
            <a:off x="4626864" y="3108960"/>
            <a:ext cx="3145536" cy="594360"/>
          </a:xfrm>
          <a:prstGeom prst="rect">
            <a:avLst/>
          </a:prstGeom>
          <a:noFill/>
          <a:ln/>
        </p:spPr>
        <p:txBody>
          <a:bodyPr wrap="square" lIns="0" tIns="0" rIns="0" bIns="0" rtlCol="0" anchor="t"/>
          <a:lstStyle/>
          <a:p>
            <a:pPr marL="0" indent="0">
              <a:buNone/>
            </a:pPr>
            <a:r>
              <a:rPr lang="en-US" sz="1180" dirty="0">
                <a:solidFill>
                  <a:srgbClr val="64748B"/>
                </a:solidFill>
                <a:latin typeface="Calibri" pitchFamily="34" charset="0"/>
                <a:ea typeface="Calibri" pitchFamily="34" charset="-122"/>
                <a:cs typeface="Calibri" pitchFamily="34" charset="-120"/>
              </a:rPr>
              <a:t>Better visibility of team availability and upcoming absences.</a:t>
            </a:r>
            <a:endParaRPr lang="en-US" sz="1180" dirty="0"/>
          </a:p>
        </p:txBody>
      </p:sp>
      <p:sp>
        <p:nvSpPr>
          <p:cNvPr id="16" name="Shape 12"/>
          <p:cNvSpPr/>
          <p:nvPr/>
        </p:nvSpPr>
        <p:spPr>
          <a:xfrm>
            <a:off x="8193024" y="1828800"/>
            <a:ext cx="3657600" cy="1920240"/>
          </a:xfrm>
          <a:prstGeom prst="roundRect">
            <a:avLst>
              <a:gd name="adj" fmla="val 4762"/>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7" name="Shape 13"/>
          <p:cNvSpPr/>
          <p:nvPr/>
        </p:nvSpPr>
        <p:spPr>
          <a:xfrm>
            <a:off x="8449056" y="2066544"/>
            <a:ext cx="438912" cy="438912"/>
          </a:xfrm>
          <a:prstGeom prst="roundRect">
            <a:avLst>
              <a:gd name="adj" fmla="val 18750"/>
            </a:avLst>
          </a:prstGeom>
          <a:solidFill>
            <a:srgbClr val="EEF2FF"/>
          </a:solidFill>
          <a:ln/>
        </p:spPr>
        <p:txBody>
          <a:bodyPr/>
          <a:lstStyle/>
          <a:p>
            <a:endParaRPr lang="en-IN"/>
          </a:p>
        </p:txBody>
      </p:sp>
      <p:pic>
        <p:nvPicPr>
          <p:cNvPr id="18" name="Image 2" descr="preencoded.png"/>
          <p:cNvPicPr>
            <a:picLocks noChangeAspect="1"/>
          </p:cNvPicPr>
          <p:nvPr/>
        </p:nvPicPr>
        <p:blipFill>
          <a:blip r:embed="rId5"/>
          <a:stretch>
            <a:fillRect/>
          </a:stretch>
        </p:blipFill>
        <p:spPr>
          <a:xfrm>
            <a:off x="8545617" y="2163105"/>
            <a:ext cx="245791" cy="245791"/>
          </a:xfrm>
          <a:prstGeom prst="rect">
            <a:avLst/>
          </a:prstGeom>
        </p:spPr>
      </p:pic>
      <p:sp>
        <p:nvSpPr>
          <p:cNvPr id="19" name="Text 14"/>
          <p:cNvSpPr/>
          <p:nvPr/>
        </p:nvSpPr>
        <p:spPr>
          <a:xfrm>
            <a:off x="8449056" y="2651760"/>
            <a:ext cx="3145536" cy="457200"/>
          </a:xfrm>
          <a:prstGeom prst="rect">
            <a:avLst/>
          </a:prstGeom>
          <a:noFill/>
          <a:ln/>
        </p:spPr>
        <p:txBody>
          <a:bodyPr wrap="square" lIns="0" tIns="0" rIns="0" bIns="0" rtlCol="0" anchor="t"/>
          <a:lstStyle/>
          <a:p>
            <a:pPr marL="0" indent="0">
              <a:buNone/>
            </a:pPr>
            <a:r>
              <a:rPr lang="en-US" sz="1450" b="1" dirty="0">
                <a:solidFill>
                  <a:srgbClr val="0F172A"/>
                </a:solidFill>
                <a:latin typeface="Cambria" pitchFamily="34" charset="0"/>
                <a:ea typeface="Cambria" pitchFamily="34" charset="-122"/>
                <a:cs typeface="Cambria" pitchFamily="34" charset="-120"/>
              </a:rPr>
              <a:t>For teams</a:t>
            </a:r>
            <a:endParaRPr lang="en-US" sz="1450" dirty="0"/>
          </a:p>
        </p:txBody>
      </p:sp>
      <p:sp>
        <p:nvSpPr>
          <p:cNvPr id="20" name="Text 15"/>
          <p:cNvSpPr/>
          <p:nvPr/>
        </p:nvSpPr>
        <p:spPr>
          <a:xfrm>
            <a:off x="8449056" y="3108960"/>
            <a:ext cx="3145536" cy="594360"/>
          </a:xfrm>
          <a:prstGeom prst="rect">
            <a:avLst/>
          </a:prstGeom>
          <a:noFill/>
          <a:ln/>
        </p:spPr>
        <p:txBody>
          <a:bodyPr wrap="square" lIns="0" tIns="0" rIns="0" bIns="0" rtlCol="0" anchor="t"/>
          <a:lstStyle/>
          <a:p>
            <a:pPr marL="0" indent="0">
              <a:buNone/>
            </a:pPr>
            <a:r>
              <a:rPr lang="en-US" sz="1180" dirty="0">
                <a:solidFill>
                  <a:srgbClr val="64748B"/>
                </a:solidFill>
                <a:latin typeface="Calibri" pitchFamily="34" charset="0"/>
                <a:ea typeface="Calibri" pitchFamily="34" charset="-122"/>
                <a:cs typeface="Calibri" pitchFamily="34" charset="-120"/>
              </a:rPr>
              <a:t>Easier scheduling and coordination.</a:t>
            </a:r>
            <a:endParaRPr lang="en-US" sz="1180" dirty="0"/>
          </a:p>
        </p:txBody>
      </p:sp>
      <p:sp>
        <p:nvSpPr>
          <p:cNvPr id="21" name="Shape 16"/>
          <p:cNvSpPr/>
          <p:nvPr/>
        </p:nvSpPr>
        <p:spPr>
          <a:xfrm>
            <a:off x="548640" y="4005072"/>
            <a:ext cx="3657600" cy="1920240"/>
          </a:xfrm>
          <a:prstGeom prst="roundRect">
            <a:avLst>
              <a:gd name="adj" fmla="val 4762"/>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22" name="Shape 17"/>
          <p:cNvSpPr/>
          <p:nvPr/>
        </p:nvSpPr>
        <p:spPr>
          <a:xfrm>
            <a:off x="804672" y="4242816"/>
            <a:ext cx="438912" cy="438912"/>
          </a:xfrm>
          <a:prstGeom prst="roundRect">
            <a:avLst>
              <a:gd name="adj" fmla="val 18750"/>
            </a:avLst>
          </a:prstGeom>
          <a:solidFill>
            <a:srgbClr val="EEF2FF"/>
          </a:solidFill>
          <a:ln/>
        </p:spPr>
        <p:txBody>
          <a:bodyPr/>
          <a:lstStyle/>
          <a:p>
            <a:endParaRPr lang="en-IN"/>
          </a:p>
        </p:txBody>
      </p:sp>
      <p:pic>
        <p:nvPicPr>
          <p:cNvPr id="23" name="Image 3" descr="preencoded.png"/>
          <p:cNvPicPr>
            <a:picLocks noChangeAspect="1"/>
          </p:cNvPicPr>
          <p:nvPr/>
        </p:nvPicPr>
        <p:blipFill>
          <a:blip r:embed="rId6"/>
          <a:stretch>
            <a:fillRect/>
          </a:stretch>
        </p:blipFill>
        <p:spPr>
          <a:xfrm>
            <a:off x="901233" y="4339377"/>
            <a:ext cx="245791" cy="245791"/>
          </a:xfrm>
          <a:prstGeom prst="rect">
            <a:avLst/>
          </a:prstGeom>
        </p:spPr>
      </p:pic>
      <p:sp>
        <p:nvSpPr>
          <p:cNvPr id="24" name="Text 18"/>
          <p:cNvSpPr/>
          <p:nvPr/>
        </p:nvSpPr>
        <p:spPr>
          <a:xfrm>
            <a:off x="804672" y="4828032"/>
            <a:ext cx="3145536" cy="457200"/>
          </a:xfrm>
          <a:prstGeom prst="rect">
            <a:avLst/>
          </a:prstGeom>
          <a:noFill/>
          <a:ln/>
        </p:spPr>
        <p:txBody>
          <a:bodyPr wrap="square" lIns="0" tIns="0" rIns="0" bIns="0" rtlCol="0" anchor="t"/>
          <a:lstStyle/>
          <a:p>
            <a:pPr marL="0" indent="0">
              <a:buNone/>
            </a:pPr>
            <a:r>
              <a:rPr lang="en-US" sz="1450" b="1" dirty="0">
                <a:solidFill>
                  <a:srgbClr val="0F172A"/>
                </a:solidFill>
                <a:latin typeface="Cambria" pitchFamily="34" charset="0"/>
                <a:ea typeface="Cambria" pitchFamily="34" charset="-122"/>
                <a:cs typeface="Cambria" pitchFamily="34" charset="-120"/>
              </a:rPr>
              <a:t>For an international organization</a:t>
            </a:r>
            <a:endParaRPr lang="en-US" sz="1450" dirty="0"/>
          </a:p>
        </p:txBody>
      </p:sp>
      <p:sp>
        <p:nvSpPr>
          <p:cNvPr id="25" name="Text 19"/>
          <p:cNvSpPr/>
          <p:nvPr/>
        </p:nvSpPr>
        <p:spPr>
          <a:xfrm>
            <a:off x="804672" y="5285232"/>
            <a:ext cx="3145536" cy="594360"/>
          </a:xfrm>
          <a:prstGeom prst="rect">
            <a:avLst/>
          </a:prstGeom>
          <a:noFill/>
          <a:ln/>
        </p:spPr>
        <p:txBody>
          <a:bodyPr wrap="square" lIns="0" tIns="0" rIns="0" bIns="0" rtlCol="0" anchor="t"/>
          <a:lstStyle/>
          <a:p>
            <a:pPr marL="0" indent="0">
              <a:buNone/>
            </a:pPr>
            <a:r>
              <a:rPr lang="en-US" sz="1180" dirty="0">
                <a:solidFill>
                  <a:srgbClr val="64748B"/>
                </a:solidFill>
                <a:latin typeface="Calibri" pitchFamily="34" charset="0"/>
                <a:ea typeface="Calibri" pitchFamily="34" charset="-122"/>
                <a:cs typeface="Calibri" pitchFamily="34" charset="-120"/>
              </a:rPr>
              <a:t>Better understanding of when and where colleagues are working.</a:t>
            </a:r>
            <a:endParaRPr lang="en-US" sz="1180" dirty="0"/>
          </a:p>
        </p:txBody>
      </p:sp>
      <p:sp>
        <p:nvSpPr>
          <p:cNvPr id="26" name="Shape 20"/>
          <p:cNvSpPr/>
          <p:nvPr/>
        </p:nvSpPr>
        <p:spPr>
          <a:xfrm>
            <a:off x="4370832" y="4005072"/>
            <a:ext cx="3657600" cy="1920240"/>
          </a:xfrm>
          <a:prstGeom prst="roundRect">
            <a:avLst>
              <a:gd name="adj" fmla="val 4762"/>
            </a:avLst>
          </a:prstGeom>
          <a:solidFill>
            <a:srgbClr val="EEF2FF"/>
          </a:solidFill>
          <a:ln w="12700">
            <a:solidFill>
              <a:srgbClr val="C7D2FE"/>
            </a:solidFill>
            <a:prstDash val="solid"/>
          </a:ln>
          <a:effectLst>
            <a:outerShdw blurRad="76200" dist="12700" dir="5400000" algn="bl" rotWithShape="0">
              <a:srgbClr val="94A3B8">
                <a:alpha val="18000"/>
              </a:srgbClr>
            </a:outerShdw>
          </a:effectLst>
        </p:spPr>
        <p:txBody>
          <a:bodyPr/>
          <a:lstStyle/>
          <a:p>
            <a:endParaRPr lang="en-IN"/>
          </a:p>
        </p:txBody>
      </p:sp>
      <p:sp>
        <p:nvSpPr>
          <p:cNvPr id="27" name="Shape 21"/>
          <p:cNvSpPr/>
          <p:nvPr/>
        </p:nvSpPr>
        <p:spPr>
          <a:xfrm>
            <a:off x="4626864" y="4242816"/>
            <a:ext cx="438912" cy="438912"/>
          </a:xfrm>
          <a:prstGeom prst="roundRect">
            <a:avLst>
              <a:gd name="adj" fmla="val 18750"/>
            </a:avLst>
          </a:prstGeom>
          <a:solidFill>
            <a:srgbClr val="E0E7FF"/>
          </a:solidFill>
          <a:ln/>
        </p:spPr>
        <p:txBody>
          <a:bodyPr/>
          <a:lstStyle/>
          <a:p>
            <a:endParaRPr lang="en-IN"/>
          </a:p>
        </p:txBody>
      </p:sp>
      <p:pic>
        <p:nvPicPr>
          <p:cNvPr id="28" name="Image 4" descr="preencoded.png"/>
          <p:cNvPicPr>
            <a:picLocks noChangeAspect="1"/>
          </p:cNvPicPr>
          <p:nvPr/>
        </p:nvPicPr>
        <p:blipFill>
          <a:blip r:embed="rId7"/>
          <a:stretch>
            <a:fillRect/>
          </a:stretch>
        </p:blipFill>
        <p:spPr>
          <a:xfrm>
            <a:off x="4723425" y="4339377"/>
            <a:ext cx="245791" cy="245791"/>
          </a:xfrm>
          <a:prstGeom prst="rect">
            <a:avLst/>
          </a:prstGeom>
        </p:spPr>
      </p:pic>
      <p:sp>
        <p:nvSpPr>
          <p:cNvPr id="29" name="Text 22"/>
          <p:cNvSpPr/>
          <p:nvPr/>
        </p:nvSpPr>
        <p:spPr>
          <a:xfrm>
            <a:off x="4626864" y="4828032"/>
            <a:ext cx="3145536" cy="457200"/>
          </a:xfrm>
          <a:prstGeom prst="rect">
            <a:avLst/>
          </a:prstGeom>
          <a:noFill/>
          <a:ln/>
        </p:spPr>
        <p:txBody>
          <a:bodyPr wrap="square" lIns="0" tIns="0" rIns="0" bIns="0" rtlCol="0" anchor="t"/>
          <a:lstStyle/>
          <a:p>
            <a:pPr marL="0" indent="0">
              <a:buNone/>
            </a:pPr>
            <a:r>
              <a:rPr lang="en-US" sz="1450" b="1" dirty="0">
                <a:solidFill>
                  <a:srgbClr val="0F172A"/>
                </a:solidFill>
                <a:latin typeface="Cambria" pitchFamily="34" charset="0"/>
                <a:ea typeface="Cambria" pitchFamily="34" charset="-122"/>
                <a:cs typeface="Cambria" pitchFamily="34" charset="-120"/>
              </a:rPr>
              <a:t>For the company</a:t>
            </a:r>
            <a:endParaRPr lang="en-US" sz="1450" dirty="0"/>
          </a:p>
        </p:txBody>
      </p:sp>
      <p:sp>
        <p:nvSpPr>
          <p:cNvPr id="30" name="Text 23"/>
          <p:cNvSpPr/>
          <p:nvPr/>
        </p:nvSpPr>
        <p:spPr>
          <a:xfrm>
            <a:off x="4626864" y="5285232"/>
            <a:ext cx="3145536" cy="594360"/>
          </a:xfrm>
          <a:prstGeom prst="rect">
            <a:avLst/>
          </a:prstGeom>
          <a:noFill/>
          <a:ln/>
        </p:spPr>
        <p:txBody>
          <a:bodyPr wrap="square" lIns="0" tIns="0" rIns="0" bIns="0" rtlCol="0" anchor="t"/>
          <a:lstStyle/>
          <a:p>
            <a:pPr marL="0" indent="0">
              <a:buNone/>
            </a:pPr>
            <a:r>
              <a:rPr lang="en-US" sz="1180" dirty="0">
                <a:solidFill>
                  <a:srgbClr val="64748B"/>
                </a:solidFill>
                <a:latin typeface="Calibri" pitchFamily="34" charset="0"/>
                <a:ea typeface="Calibri" pitchFamily="34" charset="-122"/>
                <a:cs typeface="Calibri" pitchFamily="34" charset="-120"/>
              </a:rPr>
              <a:t>One consistent record instead of fragmented information.</a:t>
            </a:r>
            <a:endParaRPr lang="en-US" sz="1180" dirty="0"/>
          </a:p>
        </p:txBody>
      </p:sp>
      <p:sp>
        <p:nvSpPr>
          <p:cNvPr id="31" name="Text 24"/>
          <p:cNvSpPr/>
          <p:nvPr/>
        </p:nvSpPr>
        <p:spPr>
          <a:xfrm>
            <a:off x="548640" y="6473952"/>
            <a:ext cx="2743200" cy="274320"/>
          </a:xfrm>
          <a:prstGeom prst="rect">
            <a:avLst/>
          </a:prstGeom>
          <a:noFill/>
          <a:ln/>
        </p:spPr>
        <p:txBody>
          <a:bodyPr wrap="square" lIns="0" tIns="0" rIns="0" bIns="0"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Orbit</a:t>
            </a: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32" name="Text 25"/>
          <p:cNvSpPr/>
          <p:nvPr/>
        </p:nvSpPr>
        <p:spPr>
          <a:xfrm>
            <a:off x="11277295" y="6473952"/>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marL="0" indent="0">
              <a:buNone/>
            </a:pPr>
            <a:r>
              <a:rPr lang="en-US" sz="1200" b="1" kern="0" spc="300" dirty="0">
                <a:solidFill>
                  <a:srgbClr val="4F46E5"/>
                </a:solidFill>
                <a:latin typeface="Calibri" pitchFamily="34" charset="0"/>
                <a:ea typeface="Calibri" pitchFamily="34" charset="-122"/>
                <a:cs typeface="Calibri" pitchFamily="34" charset="-120"/>
              </a:rPr>
              <a:t>THE BIGGER VISION</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marL="0" indent="0">
              <a:buNone/>
            </a:pPr>
            <a:r>
              <a:rPr lang="en-US" sz="3000" b="1" dirty="0">
                <a:solidFill>
                  <a:srgbClr val="0F172A"/>
                </a:solidFill>
                <a:latin typeface="Cambria" pitchFamily="34" charset="0"/>
                <a:ea typeface="Cambria" pitchFamily="34" charset="-122"/>
                <a:cs typeface="Cambria" pitchFamily="34" charset="-120"/>
              </a:rPr>
              <a:t>Orbit is not just a leave application</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The beta is the starting point — the long-term objective is the central employee workspace.</a:t>
            </a:r>
            <a:endParaRPr lang="en-US" sz="1400" dirty="0"/>
          </a:p>
        </p:txBody>
      </p:sp>
      <p:sp>
        <p:nvSpPr>
          <p:cNvPr id="5" name="Shape 3"/>
          <p:cNvSpPr/>
          <p:nvPr/>
        </p:nvSpPr>
        <p:spPr>
          <a:xfrm>
            <a:off x="11341303" y="585216"/>
            <a:ext cx="146304" cy="146304"/>
          </a:xfrm>
          <a:prstGeom prst="diamond">
            <a:avLst/>
          </a:prstGeom>
          <a:solidFill>
            <a:srgbClr val="818CF8"/>
          </a:solidFill>
          <a:ln/>
        </p:spPr>
        <p:txBody>
          <a:bodyPr/>
          <a:lstStyle/>
          <a:p>
            <a:endParaRPr lang="en-IN"/>
          </a:p>
        </p:txBody>
      </p:sp>
      <p:sp>
        <p:nvSpPr>
          <p:cNvPr id="6" name="Shape 4"/>
          <p:cNvSpPr/>
          <p:nvPr/>
        </p:nvSpPr>
        <p:spPr>
          <a:xfrm>
            <a:off x="548640" y="1783080"/>
            <a:ext cx="3657600" cy="1783080"/>
          </a:xfrm>
          <a:prstGeom prst="roundRect">
            <a:avLst>
              <a:gd name="adj" fmla="val 5128"/>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7" name="Shape 5"/>
          <p:cNvSpPr/>
          <p:nvPr/>
        </p:nvSpPr>
        <p:spPr>
          <a:xfrm>
            <a:off x="804672" y="2002536"/>
            <a:ext cx="420624" cy="420624"/>
          </a:xfrm>
          <a:prstGeom prst="roundRect">
            <a:avLst>
              <a:gd name="adj" fmla="val 19565"/>
            </a:avLst>
          </a:prstGeom>
          <a:solidFill>
            <a:srgbClr val="EEF2FF"/>
          </a:solidFill>
          <a:ln/>
        </p:spPr>
        <p:txBody>
          <a:bodyPr/>
          <a:lstStyle/>
          <a:p>
            <a:endParaRPr lang="en-IN"/>
          </a:p>
        </p:txBody>
      </p:sp>
      <p:pic>
        <p:nvPicPr>
          <p:cNvPr id="8" name="Image 0" descr="preencoded.png"/>
          <p:cNvPicPr>
            <a:picLocks noChangeAspect="1"/>
          </p:cNvPicPr>
          <p:nvPr/>
        </p:nvPicPr>
        <p:blipFill>
          <a:blip r:embed="rId3"/>
          <a:stretch>
            <a:fillRect/>
          </a:stretch>
        </p:blipFill>
        <p:spPr>
          <a:xfrm>
            <a:off x="897209" y="2095073"/>
            <a:ext cx="235549" cy="235549"/>
          </a:xfrm>
          <a:prstGeom prst="rect">
            <a:avLst/>
          </a:prstGeom>
        </p:spPr>
      </p:pic>
      <p:sp>
        <p:nvSpPr>
          <p:cNvPr id="9" name="Text 6"/>
          <p:cNvSpPr/>
          <p:nvPr/>
        </p:nvSpPr>
        <p:spPr>
          <a:xfrm>
            <a:off x="1353312" y="2029968"/>
            <a:ext cx="2697480" cy="384048"/>
          </a:xfrm>
          <a:prstGeom prst="rect">
            <a:avLst/>
          </a:prstGeom>
          <a:noFill/>
          <a:ln/>
        </p:spPr>
        <p:txBody>
          <a:bodyPr wrap="square" lIns="0" tIns="0" rIns="0" bIns="0" rtlCol="0" anchor="ctr"/>
          <a:lstStyle/>
          <a:p>
            <a:pPr marL="0" indent="0">
              <a:buNone/>
            </a:pPr>
            <a:r>
              <a:rPr lang="en-US" sz="1380" b="1" dirty="0">
                <a:solidFill>
                  <a:srgbClr val="0F172A"/>
                </a:solidFill>
                <a:latin typeface="Cambria" pitchFamily="34" charset="0"/>
                <a:ea typeface="Cambria" pitchFamily="34" charset="-122"/>
                <a:cs typeface="Cambria" pitchFamily="34" charset="-120"/>
              </a:rPr>
              <a:t>Salary &amp; Compensation</a:t>
            </a:r>
            <a:endParaRPr lang="en-US" sz="1380" dirty="0"/>
          </a:p>
        </p:txBody>
      </p:sp>
      <p:sp>
        <p:nvSpPr>
          <p:cNvPr id="10" name="Text 7"/>
          <p:cNvSpPr/>
          <p:nvPr/>
        </p:nvSpPr>
        <p:spPr>
          <a:xfrm>
            <a:off x="804672" y="2532888"/>
            <a:ext cx="3145536" cy="914400"/>
          </a:xfrm>
          <a:prstGeom prst="rect">
            <a:avLst/>
          </a:prstGeom>
          <a:noFill/>
          <a:ln/>
        </p:spPr>
        <p:txBody>
          <a:bodyPr wrap="square" lIns="0" tIns="0" rIns="0" bIns="0" rtlCol="0" anchor="t"/>
          <a:lstStyle/>
          <a:p>
            <a:pPr marL="0" indent="0">
              <a:buNone/>
            </a:pPr>
            <a:r>
              <a:rPr lang="en-US" sz="1120" dirty="0">
                <a:solidFill>
                  <a:srgbClr val="64748B"/>
                </a:solidFill>
                <a:latin typeface="Calibri" pitchFamily="34" charset="0"/>
                <a:ea typeface="Calibri" pitchFamily="34" charset="-122"/>
                <a:cs typeface="Calibri" pitchFamily="34" charset="-120"/>
              </a:rPr>
              <a:t>Relevant salary and compensation information.</a:t>
            </a:r>
            <a:endParaRPr lang="en-US" sz="1120" dirty="0"/>
          </a:p>
        </p:txBody>
      </p:sp>
      <p:sp>
        <p:nvSpPr>
          <p:cNvPr id="11" name="Shape 8"/>
          <p:cNvSpPr/>
          <p:nvPr/>
        </p:nvSpPr>
        <p:spPr>
          <a:xfrm>
            <a:off x="4370832" y="1783080"/>
            <a:ext cx="3657600" cy="1783080"/>
          </a:xfrm>
          <a:prstGeom prst="roundRect">
            <a:avLst>
              <a:gd name="adj" fmla="val 5128"/>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2" name="Shape 9"/>
          <p:cNvSpPr/>
          <p:nvPr/>
        </p:nvSpPr>
        <p:spPr>
          <a:xfrm>
            <a:off x="4626864" y="2002536"/>
            <a:ext cx="420624" cy="420624"/>
          </a:xfrm>
          <a:prstGeom prst="roundRect">
            <a:avLst>
              <a:gd name="adj" fmla="val 19565"/>
            </a:avLst>
          </a:prstGeom>
          <a:solidFill>
            <a:srgbClr val="EEF2FF"/>
          </a:solidFill>
          <a:ln/>
        </p:spPr>
        <p:txBody>
          <a:bodyPr/>
          <a:lstStyle/>
          <a:p>
            <a:endParaRPr lang="en-IN"/>
          </a:p>
        </p:txBody>
      </p:sp>
      <p:pic>
        <p:nvPicPr>
          <p:cNvPr id="13" name="Image 1" descr="preencoded.png"/>
          <p:cNvPicPr>
            <a:picLocks noChangeAspect="1"/>
          </p:cNvPicPr>
          <p:nvPr/>
        </p:nvPicPr>
        <p:blipFill>
          <a:blip r:embed="rId4"/>
          <a:stretch>
            <a:fillRect/>
          </a:stretch>
        </p:blipFill>
        <p:spPr>
          <a:xfrm>
            <a:off x="4719401" y="2095073"/>
            <a:ext cx="235549" cy="235549"/>
          </a:xfrm>
          <a:prstGeom prst="rect">
            <a:avLst/>
          </a:prstGeom>
        </p:spPr>
      </p:pic>
      <p:sp>
        <p:nvSpPr>
          <p:cNvPr id="14" name="Text 10"/>
          <p:cNvSpPr/>
          <p:nvPr/>
        </p:nvSpPr>
        <p:spPr>
          <a:xfrm>
            <a:off x="5175504" y="2029968"/>
            <a:ext cx="2697480" cy="384048"/>
          </a:xfrm>
          <a:prstGeom prst="rect">
            <a:avLst/>
          </a:prstGeom>
          <a:noFill/>
          <a:ln/>
        </p:spPr>
        <p:txBody>
          <a:bodyPr wrap="square" lIns="0" tIns="0" rIns="0" bIns="0" rtlCol="0" anchor="ctr"/>
          <a:lstStyle/>
          <a:p>
            <a:pPr marL="0" indent="0">
              <a:buNone/>
            </a:pPr>
            <a:r>
              <a:rPr lang="en-US" sz="1380" b="1" dirty="0">
                <a:solidFill>
                  <a:srgbClr val="0F172A"/>
                </a:solidFill>
                <a:latin typeface="Cambria" pitchFamily="34" charset="0"/>
                <a:ea typeface="Cambria" pitchFamily="34" charset="-122"/>
                <a:cs typeface="Cambria" pitchFamily="34" charset="-120"/>
              </a:rPr>
              <a:t>Contracts</a:t>
            </a:r>
            <a:endParaRPr lang="en-US" sz="1380" dirty="0"/>
          </a:p>
        </p:txBody>
      </p:sp>
      <p:sp>
        <p:nvSpPr>
          <p:cNvPr id="15" name="Text 11"/>
          <p:cNvSpPr/>
          <p:nvPr/>
        </p:nvSpPr>
        <p:spPr>
          <a:xfrm>
            <a:off x="4626864" y="2532888"/>
            <a:ext cx="3145536" cy="914400"/>
          </a:xfrm>
          <a:prstGeom prst="rect">
            <a:avLst/>
          </a:prstGeom>
          <a:noFill/>
          <a:ln/>
        </p:spPr>
        <p:txBody>
          <a:bodyPr wrap="square" lIns="0" tIns="0" rIns="0" bIns="0" rtlCol="0" anchor="t"/>
          <a:lstStyle/>
          <a:p>
            <a:pPr marL="0" indent="0">
              <a:buNone/>
            </a:pPr>
            <a:r>
              <a:rPr lang="en-US" sz="1120" dirty="0">
                <a:solidFill>
                  <a:srgbClr val="64748B"/>
                </a:solidFill>
                <a:latin typeface="Calibri" pitchFamily="34" charset="0"/>
                <a:ea typeface="Calibri" pitchFamily="34" charset="-122"/>
                <a:cs typeface="Calibri" pitchFamily="34" charset="-120"/>
              </a:rPr>
              <a:t>Employment agreements and related records.</a:t>
            </a:r>
            <a:endParaRPr lang="en-US" sz="1120" dirty="0"/>
          </a:p>
        </p:txBody>
      </p:sp>
      <p:sp>
        <p:nvSpPr>
          <p:cNvPr id="16" name="Shape 12"/>
          <p:cNvSpPr/>
          <p:nvPr/>
        </p:nvSpPr>
        <p:spPr>
          <a:xfrm>
            <a:off x="8193024" y="1783080"/>
            <a:ext cx="3657600" cy="1783080"/>
          </a:xfrm>
          <a:prstGeom prst="roundRect">
            <a:avLst>
              <a:gd name="adj" fmla="val 5128"/>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7" name="Shape 13"/>
          <p:cNvSpPr/>
          <p:nvPr/>
        </p:nvSpPr>
        <p:spPr>
          <a:xfrm>
            <a:off x="8449056" y="2002536"/>
            <a:ext cx="420624" cy="420624"/>
          </a:xfrm>
          <a:prstGeom prst="roundRect">
            <a:avLst>
              <a:gd name="adj" fmla="val 19565"/>
            </a:avLst>
          </a:prstGeom>
          <a:solidFill>
            <a:srgbClr val="EEF2FF"/>
          </a:solidFill>
          <a:ln/>
        </p:spPr>
        <p:txBody>
          <a:bodyPr/>
          <a:lstStyle/>
          <a:p>
            <a:endParaRPr lang="en-IN"/>
          </a:p>
        </p:txBody>
      </p:sp>
      <p:pic>
        <p:nvPicPr>
          <p:cNvPr id="18" name="Image 2" descr="preencoded.png"/>
          <p:cNvPicPr>
            <a:picLocks noChangeAspect="1"/>
          </p:cNvPicPr>
          <p:nvPr/>
        </p:nvPicPr>
        <p:blipFill>
          <a:blip r:embed="rId5"/>
          <a:stretch>
            <a:fillRect/>
          </a:stretch>
        </p:blipFill>
        <p:spPr>
          <a:xfrm>
            <a:off x="8541593" y="2095073"/>
            <a:ext cx="235549" cy="235549"/>
          </a:xfrm>
          <a:prstGeom prst="rect">
            <a:avLst/>
          </a:prstGeom>
        </p:spPr>
      </p:pic>
      <p:sp>
        <p:nvSpPr>
          <p:cNvPr id="19" name="Text 14"/>
          <p:cNvSpPr/>
          <p:nvPr/>
        </p:nvSpPr>
        <p:spPr>
          <a:xfrm>
            <a:off x="8997696" y="2029968"/>
            <a:ext cx="2697480" cy="384048"/>
          </a:xfrm>
          <a:prstGeom prst="rect">
            <a:avLst/>
          </a:prstGeom>
          <a:noFill/>
          <a:ln/>
        </p:spPr>
        <p:txBody>
          <a:bodyPr wrap="square" lIns="0" tIns="0" rIns="0" bIns="0" rtlCol="0" anchor="ctr"/>
          <a:lstStyle/>
          <a:p>
            <a:pPr marL="0" indent="0">
              <a:buNone/>
            </a:pPr>
            <a:r>
              <a:rPr lang="en-US" sz="1380" b="1" dirty="0">
                <a:solidFill>
                  <a:srgbClr val="0F172A"/>
                </a:solidFill>
                <a:latin typeface="Cambria" pitchFamily="34" charset="0"/>
                <a:ea typeface="Cambria" pitchFamily="34" charset="-122"/>
                <a:cs typeface="Cambria" pitchFamily="34" charset="-120"/>
              </a:rPr>
              <a:t>Documents</a:t>
            </a:r>
            <a:endParaRPr lang="en-US" sz="1380" dirty="0"/>
          </a:p>
        </p:txBody>
      </p:sp>
      <p:sp>
        <p:nvSpPr>
          <p:cNvPr id="20" name="Text 15"/>
          <p:cNvSpPr/>
          <p:nvPr/>
        </p:nvSpPr>
        <p:spPr>
          <a:xfrm>
            <a:off x="8449056" y="2532888"/>
            <a:ext cx="3145536" cy="914400"/>
          </a:xfrm>
          <a:prstGeom prst="rect">
            <a:avLst/>
          </a:prstGeom>
          <a:noFill/>
          <a:ln/>
        </p:spPr>
        <p:txBody>
          <a:bodyPr wrap="square" lIns="0" tIns="0" rIns="0" bIns="0" rtlCol="0" anchor="t"/>
          <a:lstStyle/>
          <a:p>
            <a:pPr marL="0" indent="0">
              <a:buNone/>
            </a:pPr>
            <a:r>
              <a:rPr lang="en-US" sz="1120" dirty="0">
                <a:solidFill>
                  <a:srgbClr val="64748B"/>
                </a:solidFill>
                <a:latin typeface="Calibri" pitchFamily="34" charset="0"/>
                <a:ea typeface="Calibri" pitchFamily="34" charset="-122"/>
                <a:cs typeface="Calibri" pitchFamily="34" charset="-120"/>
              </a:rPr>
              <a:t>Employee and company HR documents.</a:t>
            </a:r>
            <a:endParaRPr lang="en-US" sz="1120" dirty="0"/>
          </a:p>
        </p:txBody>
      </p:sp>
      <p:sp>
        <p:nvSpPr>
          <p:cNvPr id="21" name="Shape 16"/>
          <p:cNvSpPr/>
          <p:nvPr/>
        </p:nvSpPr>
        <p:spPr>
          <a:xfrm>
            <a:off x="548640" y="3785616"/>
            <a:ext cx="3657600" cy="1783080"/>
          </a:xfrm>
          <a:prstGeom prst="roundRect">
            <a:avLst>
              <a:gd name="adj" fmla="val 5128"/>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22" name="Shape 17"/>
          <p:cNvSpPr/>
          <p:nvPr/>
        </p:nvSpPr>
        <p:spPr>
          <a:xfrm>
            <a:off x="804672" y="4005072"/>
            <a:ext cx="420624" cy="420624"/>
          </a:xfrm>
          <a:prstGeom prst="roundRect">
            <a:avLst>
              <a:gd name="adj" fmla="val 19565"/>
            </a:avLst>
          </a:prstGeom>
          <a:solidFill>
            <a:srgbClr val="EEF2FF"/>
          </a:solidFill>
          <a:ln/>
        </p:spPr>
        <p:txBody>
          <a:bodyPr/>
          <a:lstStyle/>
          <a:p>
            <a:endParaRPr lang="en-IN"/>
          </a:p>
        </p:txBody>
      </p:sp>
      <p:pic>
        <p:nvPicPr>
          <p:cNvPr id="23" name="Image 3" descr="preencoded.png"/>
          <p:cNvPicPr>
            <a:picLocks noChangeAspect="1"/>
          </p:cNvPicPr>
          <p:nvPr/>
        </p:nvPicPr>
        <p:blipFill>
          <a:blip r:embed="rId6"/>
          <a:stretch>
            <a:fillRect/>
          </a:stretch>
        </p:blipFill>
        <p:spPr>
          <a:xfrm>
            <a:off x="897209" y="4097609"/>
            <a:ext cx="235549" cy="235549"/>
          </a:xfrm>
          <a:prstGeom prst="rect">
            <a:avLst/>
          </a:prstGeom>
        </p:spPr>
      </p:pic>
      <p:sp>
        <p:nvSpPr>
          <p:cNvPr id="24" name="Text 18"/>
          <p:cNvSpPr/>
          <p:nvPr/>
        </p:nvSpPr>
        <p:spPr>
          <a:xfrm>
            <a:off x="1353312" y="4032504"/>
            <a:ext cx="2697480" cy="384048"/>
          </a:xfrm>
          <a:prstGeom prst="rect">
            <a:avLst/>
          </a:prstGeom>
          <a:noFill/>
          <a:ln/>
        </p:spPr>
        <p:txBody>
          <a:bodyPr wrap="square" lIns="0" tIns="0" rIns="0" bIns="0" rtlCol="0" anchor="ctr"/>
          <a:lstStyle/>
          <a:p>
            <a:pPr marL="0" indent="0">
              <a:buNone/>
            </a:pPr>
            <a:r>
              <a:rPr lang="en-US" sz="1380" b="1" dirty="0">
                <a:solidFill>
                  <a:srgbClr val="0F172A"/>
                </a:solidFill>
                <a:latin typeface="Cambria" pitchFamily="34" charset="0"/>
                <a:ea typeface="Cambria" pitchFamily="34" charset="-122"/>
                <a:cs typeface="Cambria" pitchFamily="34" charset="-120"/>
              </a:rPr>
              <a:t>Policies &amp; Rules</a:t>
            </a:r>
            <a:endParaRPr lang="en-US" sz="1380" dirty="0"/>
          </a:p>
        </p:txBody>
      </p:sp>
      <p:sp>
        <p:nvSpPr>
          <p:cNvPr id="25" name="Text 19"/>
          <p:cNvSpPr/>
          <p:nvPr/>
        </p:nvSpPr>
        <p:spPr>
          <a:xfrm>
            <a:off x="804672" y="4535424"/>
            <a:ext cx="3145536" cy="914400"/>
          </a:xfrm>
          <a:prstGeom prst="rect">
            <a:avLst/>
          </a:prstGeom>
          <a:noFill/>
          <a:ln/>
        </p:spPr>
        <p:txBody>
          <a:bodyPr wrap="square" lIns="0" tIns="0" rIns="0" bIns="0" rtlCol="0" anchor="t"/>
          <a:lstStyle/>
          <a:p>
            <a:pPr marL="0" indent="0">
              <a:buNone/>
            </a:pPr>
            <a:r>
              <a:rPr lang="en-US" sz="1120" dirty="0">
                <a:solidFill>
                  <a:srgbClr val="64748B"/>
                </a:solidFill>
                <a:latin typeface="Calibri" pitchFamily="34" charset="0"/>
                <a:ea typeface="Calibri" pitchFamily="34" charset="-122"/>
                <a:cs typeface="Calibri" pitchFamily="34" charset="-120"/>
              </a:rPr>
              <a:t>A clear place to access relevant company policies.</a:t>
            </a:r>
            <a:endParaRPr lang="en-US" sz="1120" dirty="0"/>
          </a:p>
        </p:txBody>
      </p:sp>
      <p:sp>
        <p:nvSpPr>
          <p:cNvPr id="26" name="Shape 20"/>
          <p:cNvSpPr/>
          <p:nvPr/>
        </p:nvSpPr>
        <p:spPr>
          <a:xfrm>
            <a:off x="4370832" y="3785616"/>
            <a:ext cx="3657600" cy="1783080"/>
          </a:xfrm>
          <a:prstGeom prst="roundRect">
            <a:avLst>
              <a:gd name="adj" fmla="val 5128"/>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27" name="Shape 21"/>
          <p:cNvSpPr/>
          <p:nvPr/>
        </p:nvSpPr>
        <p:spPr>
          <a:xfrm>
            <a:off x="4626864" y="4005072"/>
            <a:ext cx="420624" cy="420624"/>
          </a:xfrm>
          <a:prstGeom prst="roundRect">
            <a:avLst>
              <a:gd name="adj" fmla="val 19565"/>
            </a:avLst>
          </a:prstGeom>
          <a:solidFill>
            <a:srgbClr val="EEF2FF"/>
          </a:solidFill>
          <a:ln/>
        </p:spPr>
        <p:txBody>
          <a:bodyPr/>
          <a:lstStyle/>
          <a:p>
            <a:endParaRPr lang="en-IN"/>
          </a:p>
        </p:txBody>
      </p:sp>
      <p:pic>
        <p:nvPicPr>
          <p:cNvPr id="28" name="Image 4" descr="preencoded.png"/>
          <p:cNvPicPr>
            <a:picLocks noChangeAspect="1"/>
          </p:cNvPicPr>
          <p:nvPr/>
        </p:nvPicPr>
        <p:blipFill>
          <a:blip r:embed="rId7"/>
          <a:stretch>
            <a:fillRect/>
          </a:stretch>
        </p:blipFill>
        <p:spPr>
          <a:xfrm>
            <a:off x="4719401" y="4097609"/>
            <a:ext cx="235549" cy="235549"/>
          </a:xfrm>
          <a:prstGeom prst="rect">
            <a:avLst/>
          </a:prstGeom>
        </p:spPr>
      </p:pic>
      <p:sp>
        <p:nvSpPr>
          <p:cNvPr id="29" name="Text 22"/>
          <p:cNvSpPr/>
          <p:nvPr/>
        </p:nvSpPr>
        <p:spPr>
          <a:xfrm>
            <a:off x="5175504" y="4032504"/>
            <a:ext cx="2697480" cy="384048"/>
          </a:xfrm>
          <a:prstGeom prst="rect">
            <a:avLst/>
          </a:prstGeom>
          <a:noFill/>
          <a:ln/>
        </p:spPr>
        <p:txBody>
          <a:bodyPr wrap="square" lIns="0" tIns="0" rIns="0" bIns="0" rtlCol="0" anchor="ctr"/>
          <a:lstStyle/>
          <a:p>
            <a:pPr marL="0" indent="0">
              <a:buNone/>
            </a:pPr>
            <a:r>
              <a:rPr lang="en-US" sz="1380" b="1" dirty="0">
                <a:solidFill>
                  <a:srgbClr val="0F172A"/>
                </a:solidFill>
                <a:latin typeface="Cambria" pitchFamily="34" charset="0"/>
                <a:ea typeface="Cambria" pitchFamily="34" charset="-122"/>
                <a:cs typeface="Cambria" pitchFamily="34" charset="-120"/>
              </a:rPr>
              <a:t>HR Requests / Tickets</a:t>
            </a:r>
            <a:endParaRPr lang="en-US" sz="1380" dirty="0"/>
          </a:p>
        </p:txBody>
      </p:sp>
      <p:sp>
        <p:nvSpPr>
          <p:cNvPr id="30" name="Text 23"/>
          <p:cNvSpPr/>
          <p:nvPr/>
        </p:nvSpPr>
        <p:spPr>
          <a:xfrm>
            <a:off x="4626864" y="4535424"/>
            <a:ext cx="3145536" cy="914400"/>
          </a:xfrm>
          <a:prstGeom prst="rect">
            <a:avLst/>
          </a:prstGeom>
          <a:noFill/>
          <a:ln/>
        </p:spPr>
        <p:txBody>
          <a:bodyPr wrap="square" lIns="0" tIns="0" rIns="0" bIns="0" rtlCol="0" anchor="t"/>
          <a:lstStyle/>
          <a:p>
            <a:pPr marL="0" indent="0">
              <a:buNone/>
            </a:pPr>
            <a:r>
              <a:rPr lang="en-US" sz="1120" dirty="0">
                <a:solidFill>
                  <a:srgbClr val="64748B"/>
                </a:solidFill>
                <a:latin typeface="Calibri" pitchFamily="34" charset="0"/>
                <a:ea typeface="Calibri" pitchFamily="34" charset="-122"/>
                <a:cs typeface="Calibri" pitchFamily="34" charset="-120"/>
              </a:rPr>
              <a:t>Structured requests to HR instead of scattered messages.</a:t>
            </a:r>
            <a:endParaRPr lang="en-US" sz="1120" dirty="0"/>
          </a:p>
        </p:txBody>
      </p:sp>
      <p:sp>
        <p:nvSpPr>
          <p:cNvPr id="31" name="Shape 24"/>
          <p:cNvSpPr/>
          <p:nvPr/>
        </p:nvSpPr>
        <p:spPr>
          <a:xfrm>
            <a:off x="8193024" y="3785616"/>
            <a:ext cx="3657600" cy="1783080"/>
          </a:xfrm>
          <a:prstGeom prst="roundRect">
            <a:avLst>
              <a:gd name="adj" fmla="val 5128"/>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32" name="Shape 25"/>
          <p:cNvSpPr/>
          <p:nvPr/>
        </p:nvSpPr>
        <p:spPr>
          <a:xfrm>
            <a:off x="8449056" y="4005072"/>
            <a:ext cx="420624" cy="420624"/>
          </a:xfrm>
          <a:prstGeom prst="roundRect">
            <a:avLst>
              <a:gd name="adj" fmla="val 19565"/>
            </a:avLst>
          </a:prstGeom>
          <a:solidFill>
            <a:srgbClr val="EEF2FF"/>
          </a:solidFill>
          <a:ln/>
        </p:spPr>
        <p:txBody>
          <a:bodyPr/>
          <a:lstStyle/>
          <a:p>
            <a:endParaRPr lang="en-IN"/>
          </a:p>
        </p:txBody>
      </p:sp>
      <p:pic>
        <p:nvPicPr>
          <p:cNvPr id="33" name="Image 5" descr="preencoded.png"/>
          <p:cNvPicPr>
            <a:picLocks noChangeAspect="1"/>
          </p:cNvPicPr>
          <p:nvPr/>
        </p:nvPicPr>
        <p:blipFill>
          <a:blip r:embed="rId8"/>
          <a:stretch>
            <a:fillRect/>
          </a:stretch>
        </p:blipFill>
        <p:spPr>
          <a:xfrm>
            <a:off x="8541593" y="4097609"/>
            <a:ext cx="235549" cy="235549"/>
          </a:xfrm>
          <a:prstGeom prst="rect">
            <a:avLst/>
          </a:prstGeom>
        </p:spPr>
      </p:pic>
      <p:sp>
        <p:nvSpPr>
          <p:cNvPr id="34" name="Text 26"/>
          <p:cNvSpPr/>
          <p:nvPr/>
        </p:nvSpPr>
        <p:spPr>
          <a:xfrm>
            <a:off x="8997696" y="4032504"/>
            <a:ext cx="2697480" cy="384048"/>
          </a:xfrm>
          <a:prstGeom prst="rect">
            <a:avLst/>
          </a:prstGeom>
          <a:noFill/>
          <a:ln/>
        </p:spPr>
        <p:txBody>
          <a:bodyPr wrap="square" lIns="0" tIns="0" rIns="0" bIns="0" rtlCol="0" anchor="ctr"/>
          <a:lstStyle/>
          <a:p>
            <a:pPr marL="0" indent="0">
              <a:buNone/>
            </a:pPr>
            <a:r>
              <a:rPr lang="en-US" sz="1380" b="1" dirty="0">
                <a:solidFill>
                  <a:srgbClr val="0F172A"/>
                </a:solidFill>
                <a:latin typeface="Cambria" pitchFamily="34" charset="0"/>
                <a:ea typeface="Cambria" pitchFamily="34" charset="-122"/>
                <a:cs typeface="Cambria" pitchFamily="34" charset="-120"/>
              </a:rPr>
              <a:t>Employee Administration</a:t>
            </a:r>
            <a:endParaRPr lang="en-US" sz="1380" dirty="0"/>
          </a:p>
        </p:txBody>
      </p:sp>
      <p:sp>
        <p:nvSpPr>
          <p:cNvPr id="35" name="Text 27"/>
          <p:cNvSpPr/>
          <p:nvPr/>
        </p:nvSpPr>
        <p:spPr>
          <a:xfrm>
            <a:off x="8449056" y="4535424"/>
            <a:ext cx="3145536" cy="914400"/>
          </a:xfrm>
          <a:prstGeom prst="rect">
            <a:avLst/>
          </a:prstGeom>
          <a:noFill/>
          <a:ln/>
        </p:spPr>
        <p:txBody>
          <a:bodyPr wrap="square" lIns="0" tIns="0" rIns="0" bIns="0" rtlCol="0" anchor="t"/>
          <a:lstStyle/>
          <a:p>
            <a:pPr marL="0" indent="0">
              <a:buNone/>
            </a:pPr>
            <a:r>
              <a:rPr lang="en-US" sz="1120" dirty="0">
                <a:solidFill>
                  <a:srgbClr val="64748B"/>
                </a:solidFill>
                <a:latin typeface="Calibri" pitchFamily="34" charset="0"/>
                <a:ea typeface="Calibri" pitchFamily="34" charset="-122"/>
                <a:cs typeface="Calibri" pitchFamily="34" charset="-120"/>
              </a:rPr>
              <a:t>The everyday processes employees and managers need throughout the employment lifecycle.</a:t>
            </a:r>
            <a:endParaRPr lang="en-US" sz="1120" dirty="0"/>
          </a:p>
        </p:txBody>
      </p:sp>
      <p:sp>
        <p:nvSpPr>
          <p:cNvPr id="36" name="Shape 28"/>
          <p:cNvSpPr/>
          <p:nvPr/>
        </p:nvSpPr>
        <p:spPr>
          <a:xfrm>
            <a:off x="548640" y="5742432"/>
            <a:ext cx="11064240" cy="566928"/>
          </a:xfrm>
          <a:prstGeom prst="roundRect">
            <a:avLst>
              <a:gd name="adj" fmla="val 16129"/>
            </a:avLst>
          </a:prstGeom>
          <a:solidFill>
            <a:srgbClr val="0F172A"/>
          </a:solidFill>
          <a:ln w="12700">
            <a:solidFill>
              <a:srgbClr val="0F172A"/>
            </a:solidFill>
            <a:prstDash val="solid"/>
          </a:ln>
          <a:effectLst>
            <a:outerShdw blurRad="76200" dist="12700" dir="5400000" algn="bl" rotWithShape="0">
              <a:srgbClr val="94A3B8">
                <a:alpha val="18000"/>
              </a:srgbClr>
            </a:outerShdw>
          </a:effectLst>
        </p:spPr>
        <p:txBody>
          <a:bodyPr/>
          <a:lstStyle/>
          <a:p>
            <a:endParaRPr lang="en-IN"/>
          </a:p>
        </p:txBody>
      </p:sp>
      <p:sp>
        <p:nvSpPr>
          <p:cNvPr id="37" name="Text 29"/>
          <p:cNvSpPr/>
          <p:nvPr/>
        </p:nvSpPr>
        <p:spPr>
          <a:xfrm>
            <a:off x="914400" y="5742432"/>
            <a:ext cx="10332720" cy="56692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One employee.  One workspace.  One reliable source.</a:t>
            </a:r>
            <a:endParaRPr lang="en-US" sz="1500" dirty="0"/>
          </a:p>
        </p:txBody>
      </p:sp>
      <p:sp>
        <p:nvSpPr>
          <p:cNvPr id="38" name="Text 30"/>
          <p:cNvSpPr/>
          <p:nvPr/>
        </p:nvSpPr>
        <p:spPr>
          <a:xfrm>
            <a:off x="548640" y="6473952"/>
            <a:ext cx="2743200" cy="274320"/>
          </a:xfrm>
          <a:prstGeom prst="rect">
            <a:avLst/>
          </a:prstGeom>
          <a:noFill/>
          <a:ln/>
        </p:spPr>
        <p:txBody>
          <a:bodyPr wrap="square" lIns="0" tIns="0" rIns="0" bIns="0"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Orbit</a:t>
            </a: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39" name="Text 31"/>
          <p:cNvSpPr/>
          <p:nvPr/>
        </p:nvSpPr>
        <p:spPr>
          <a:xfrm>
            <a:off x="11277295" y="6473952"/>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marL="0" indent="0">
              <a:buNone/>
            </a:pPr>
            <a:r>
              <a:rPr lang="en-US" sz="1200" b="1" kern="0" spc="300" dirty="0">
                <a:solidFill>
                  <a:srgbClr val="4F46E5"/>
                </a:solidFill>
                <a:latin typeface="Calibri" pitchFamily="34" charset="0"/>
                <a:ea typeface="Calibri" pitchFamily="34" charset="-122"/>
                <a:cs typeface="Calibri" pitchFamily="34" charset="-120"/>
              </a:rPr>
              <a:t>THE BIGGER VISION</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marL="0" indent="0">
              <a:buNone/>
            </a:pPr>
            <a:r>
              <a:rPr lang="en-US" sz="3000" b="1" dirty="0">
                <a:solidFill>
                  <a:srgbClr val="0F172A"/>
                </a:solidFill>
                <a:latin typeface="Cambria" pitchFamily="34" charset="0"/>
                <a:ea typeface="Cambria" pitchFamily="34" charset="-122"/>
                <a:cs typeface="Cambria" pitchFamily="34" charset="-120"/>
              </a:rPr>
              <a:t>From HRMS to employee workspace</a:t>
            </a:r>
            <a:endParaRPr lang="en-US" sz="3000" dirty="0"/>
          </a:p>
        </p:txBody>
      </p:sp>
      <p:sp>
        <p:nvSpPr>
          <p:cNvPr id="4" name="Shape 2"/>
          <p:cNvSpPr/>
          <p:nvPr/>
        </p:nvSpPr>
        <p:spPr>
          <a:xfrm>
            <a:off x="11341303" y="585216"/>
            <a:ext cx="146304" cy="146304"/>
          </a:xfrm>
          <a:prstGeom prst="diamond">
            <a:avLst/>
          </a:prstGeom>
          <a:solidFill>
            <a:srgbClr val="818CF8"/>
          </a:solidFill>
          <a:ln/>
        </p:spPr>
        <p:txBody>
          <a:bodyPr/>
          <a:lstStyle/>
          <a:p>
            <a:endParaRPr lang="en-IN"/>
          </a:p>
        </p:txBody>
      </p:sp>
      <p:sp>
        <p:nvSpPr>
          <p:cNvPr id="5" name="Shape 3"/>
          <p:cNvSpPr/>
          <p:nvPr/>
        </p:nvSpPr>
        <p:spPr>
          <a:xfrm>
            <a:off x="548640" y="1691640"/>
            <a:ext cx="3611880" cy="3291840"/>
          </a:xfrm>
          <a:prstGeom prst="roundRect">
            <a:avLst>
              <a:gd name="adj" fmla="val 2778"/>
            </a:avLst>
          </a:prstGeom>
          <a:solidFill>
            <a:srgbClr val="EEF2FF"/>
          </a:solidFill>
          <a:ln w="12700">
            <a:solidFill>
              <a:srgbClr val="C7D2FE"/>
            </a:solidFill>
            <a:prstDash val="solid"/>
          </a:ln>
          <a:effectLst>
            <a:outerShdw blurRad="76200" dist="12700" dir="5400000" algn="bl" rotWithShape="0">
              <a:srgbClr val="94A3B8">
                <a:alpha val="18000"/>
              </a:srgbClr>
            </a:outerShdw>
          </a:effectLst>
        </p:spPr>
        <p:txBody>
          <a:bodyPr/>
          <a:lstStyle/>
          <a:p>
            <a:endParaRPr lang="en-IN"/>
          </a:p>
        </p:txBody>
      </p:sp>
      <p:sp>
        <p:nvSpPr>
          <p:cNvPr id="6" name="Shape 4"/>
          <p:cNvSpPr/>
          <p:nvPr/>
        </p:nvSpPr>
        <p:spPr>
          <a:xfrm>
            <a:off x="822960" y="1965960"/>
            <a:ext cx="493776" cy="493776"/>
          </a:xfrm>
          <a:prstGeom prst="roundRect">
            <a:avLst>
              <a:gd name="adj" fmla="val 16667"/>
            </a:avLst>
          </a:prstGeom>
          <a:solidFill>
            <a:srgbClr val="E0E7FF"/>
          </a:solidFill>
          <a:ln/>
        </p:spPr>
        <p:txBody>
          <a:bodyPr/>
          <a:lstStyle/>
          <a:p>
            <a:endParaRPr lang="en-IN"/>
          </a:p>
        </p:txBody>
      </p:sp>
      <p:pic>
        <p:nvPicPr>
          <p:cNvPr id="7" name="Image 0" descr="preencoded.png"/>
          <p:cNvPicPr>
            <a:picLocks noChangeAspect="1"/>
          </p:cNvPicPr>
          <p:nvPr/>
        </p:nvPicPr>
        <p:blipFill>
          <a:blip r:embed="rId3"/>
          <a:stretch>
            <a:fillRect/>
          </a:stretch>
        </p:blipFill>
        <p:spPr>
          <a:xfrm>
            <a:off x="931591" y="2074591"/>
            <a:ext cx="276515" cy="276515"/>
          </a:xfrm>
          <a:prstGeom prst="rect">
            <a:avLst/>
          </a:prstGeom>
        </p:spPr>
      </p:pic>
      <p:sp>
        <p:nvSpPr>
          <p:cNvPr id="8" name="Text 5"/>
          <p:cNvSpPr/>
          <p:nvPr/>
        </p:nvSpPr>
        <p:spPr>
          <a:xfrm>
            <a:off x="1463040" y="2020824"/>
            <a:ext cx="2514600" cy="411480"/>
          </a:xfrm>
          <a:prstGeom prst="rect">
            <a:avLst/>
          </a:prstGeom>
          <a:noFill/>
          <a:ln/>
        </p:spPr>
        <p:txBody>
          <a:bodyPr wrap="square" lIns="0" tIns="0" rIns="0" bIns="0" rtlCol="0" anchor="ctr"/>
          <a:lstStyle/>
          <a:p>
            <a:pPr marL="0" indent="0">
              <a:buNone/>
            </a:pPr>
            <a:r>
              <a:rPr lang="en-US" sz="1900" b="1" dirty="0">
                <a:solidFill>
                  <a:srgbClr val="0F172A"/>
                </a:solidFill>
                <a:latin typeface="Cambria" pitchFamily="34" charset="0"/>
                <a:ea typeface="Cambria" pitchFamily="34" charset="-122"/>
                <a:cs typeface="Cambria" pitchFamily="34" charset="-120"/>
              </a:rPr>
              <a:t>Today</a:t>
            </a:r>
            <a:endParaRPr lang="en-US" sz="1900" dirty="0"/>
          </a:p>
        </p:txBody>
      </p:sp>
      <p:sp>
        <p:nvSpPr>
          <p:cNvPr id="9" name="Text 6"/>
          <p:cNvSpPr/>
          <p:nvPr/>
        </p:nvSpPr>
        <p:spPr>
          <a:xfrm>
            <a:off x="841248" y="2697480"/>
            <a:ext cx="3044952" cy="2103120"/>
          </a:xfrm>
          <a:prstGeom prst="rect">
            <a:avLst/>
          </a:prstGeom>
          <a:noFill/>
          <a:ln/>
        </p:spPr>
        <p:txBody>
          <a:bodyPr wrap="square" lIns="0" tIns="0" rIns="0" bIns="0" rtlCol="0" anchor="t"/>
          <a:lstStyle/>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Availability</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Calendar</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Leave</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Attendance</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Approvals</a:t>
            </a:r>
            <a:endParaRPr lang="en-US" sz="1300" dirty="0"/>
          </a:p>
        </p:txBody>
      </p:sp>
      <p:sp>
        <p:nvSpPr>
          <p:cNvPr id="10" name="Shape 7"/>
          <p:cNvSpPr/>
          <p:nvPr/>
        </p:nvSpPr>
        <p:spPr>
          <a:xfrm>
            <a:off x="4352544" y="1691640"/>
            <a:ext cx="3611880" cy="3291840"/>
          </a:xfrm>
          <a:prstGeom prst="roundRect">
            <a:avLst>
              <a:gd name="adj" fmla="val 2778"/>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1" name="Shape 8"/>
          <p:cNvSpPr/>
          <p:nvPr/>
        </p:nvSpPr>
        <p:spPr>
          <a:xfrm>
            <a:off x="4626864" y="1965960"/>
            <a:ext cx="493776" cy="493776"/>
          </a:xfrm>
          <a:prstGeom prst="roundRect">
            <a:avLst>
              <a:gd name="adj" fmla="val 16667"/>
            </a:avLst>
          </a:prstGeom>
          <a:solidFill>
            <a:srgbClr val="EEF2FF"/>
          </a:solidFill>
          <a:ln/>
        </p:spPr>
        <p:txBody>
          <a:bodyPr/>
          <a:lstStyle/>
          <a:p>
            <a:endParaRPr lang="en-IN"/>
          </a:p>
        </p:txBody>
      </p:sp>
      <p:pic>
        <p:nvPicPr>
          <p:cNvPr id="12" name="Image 1" descr="preencoded.png"/>
          <p:cNvPicPr>
            <a:picLocks noChangeAspect="1"/>
          </p:cNvPicPr>
          <p:nvPr/>
        </p:nvPicPr>
        <p:blipFill>
          <a:blip r:embed="rId4"/>
          <a:stretch>
            <a:fillRect/>
          </a:stretch>
        </p:blipFill>
        <p:spPr>
          <a:xfrm>
            <a:off x="4735495" y="2074591"/>
            <a:ext cx="276515" cy="276515"/>
          </a:xfrm>
          <a:prstGeom prst="rect">
            <a:avLst/>
          </a:prstGeom>
        </p:spPr>
      </p:pic>
      <p:sp>
        <p:nvSpPr>
          <p:cNvPr id="13" name="Text 9"/>
          <p:cNvSpPr/>
          <p:nvPr/>
        </p:nvSpPr>
        <p:spPr>
          <a:xfrm>
            <a:off x="5266944" y="2020824"/>
            <a:ext cx="2514600" cy="411480"/>
          </a:xfrm>
          <a:prstGeom prst="rect">
            <a:avLst/>
          </a:prstGeom>
          <a:noFill/>
          <a:ln/>
        </p:spPr>
        <p:txBody>
          <a:bodyPr wrap="square" lIns="0" tIns="0" rIns="0" bIns="0" rtlCol="0" anchor="ctr"/>
          <a:lstStyle/>
          <a:p>
            <a:pPr marL="0" indent="0">
              <a:buNone/>
            </a:pPr>
            <a:r>
              <a:rPr lang="en-US" sz="1900" b="1" dirty="0">
                <a:solidFill>
                  <a:srgbClr val="0F172A"/>
                </a:solidFill>
                <a:latin typeface="Cambria" pitchFamily="34" charset="0"/>
                <a:ea typeface="Cambria" pitchFamily="34" charset="-122"/>
                <a:cs typeface="Cambria" pitchFamily="34" charset="-120"/>
              </a:rPr>
              <a:t>Next</a:t>
            </a:r>
            <a:endParaRPr lang="en-US" sz="1900" dirty="0"/>
          </a:p>
        </p:txBody>
      </p:sp>
      <p:sp>
        <p:nvSpPr>
          <p:cNvPr id="14" name="Text 10"/>
          <p:cNvSpPr/>
          <p:nvPr/>
        </p:nvSpPr>
        <p:spPr>
          <a:xfrm>
            <a:off x="4645152" y="2697480"/>
            <a:ext cx="3044952" cy="2103120"/>
          </a:xfrm>
          <a:prstGeom prst="rect">
            <a:avLst/>
          </a:prstGeom>
          <a:noFill/>
          <a:ln/>
        </p:spPr>
        <p:txBody>
          <a:bodyPr wrap="square" lIns="0" tIns="0" rIns="0" bIns="0" rtlCol="0" anchor="t"/>
          <a:lstStyle/>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Documents</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Policies</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Structured HR requests</a:t>
            </a:r>
            <a:endParaRPr lang="en-US" sz="1300" dirty="0"/>
          </a:p>
        </p:txBody>
      </p:sp>
      <p:sp>
        <p:nvSpPr>
          <p:cNvPr id="15" name="Shape 11"/>
          <p:cNvSpPr/>
          <p:nvPr/>
        </p:nvSpPr>
        <p:spPr>
          <a:xfrm>
            <a:off x="8156448" y="1691640"/>
            <a:ext cx="3611880" cy="3291840"/>
          </a:xfrm>
          <a:prstGeom prst="roundRect">
            <a:avLst>
              <a:gd name="adj" fmla="val 2778"/>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6" name="Shape 12"/>
          <p:cNvSpPr/>
          <p:nvPr/>
        </p:nvSpPr>
        <p:spPr>
          <a:xfrm>
            <a:off x="8430768" y="1965960"/>
            <a:ext cx="493776" cy="493776"/>
          </a:xfrm>
          <a:prstGeom prst="roundRect">
            <a:avLst>
              <a:gd name="adj" fmla="val 16667"/>
            </a:avLst>
          </a:prstGeom>
          <a:solidFill>
            <a:srgbClr val="EEF2FF"/>
          </a:solidFill>
          <a:ln/>
        </p:spPr>
        <p:txBody>
          <a:bodyPr/>
          <a:lstStyle/>
          <a:p>
            <a:endParaRPr lang="en-IN"/>
          </a:p>
        </p:txBody>
      </p:sp>
      <p:pic>
        <p:nvPicPr>
          <p:cNvPr id="17" name="Image 2" descr="preencoded.png"/>
          <p:cNvPicPr>
            <a:picLocks noChangeAspect="1"/>
          </p:cNvPicPr>
          <p:nvPr/>
        </p:nvPicPr>
        <p:blipFill>
          <a:blip r:embed="rId5"/>
          <a:stretch>
            <a:fillRect/>
          </a:stretch>
        </p:blipFill>
        <p:spPr>
          <a:xfrm>
            <a:off x="8539399" y="2074591"/>
            <a:ext cx="276515" cy="276515"/>
          </a:xfrm>
          <a:prstGeom prst="rect">
            <a:avLst/>
          </a:prstGeom>
        </p:spPr>
      </p:pic>
      <p:sp>
        <p:nvSpPr>
          <p:cNvPr id="18" name="Text 13"/>
          <p:cNvSpPr/>
          <p:nvPr/>
        </p:nvSpPr>
        <p:spPr>
          <a:xfrm>
            <a:off x="9070848" y="2020824"/>
            <a:ext cx="2514600" cy="411480"/>
          </a:xfrm>
          <a:prstGeom prst="rect">
            <a:avLst/>
          </a:prstGeom>
          <a:noFill/>
          <a:ln/>
        </p:spPr>
        <p:txBody>
          <a:bodyPr wrap="square" lIns="0" tIns="0" rIns="0" bIns="0" rtlCol="0" anchor="ctr"/>
          <a:lstStyle/>
          <a:p>
            <a:pPr marL="0" indent="0">
              <a:buNone/>
            </a:pPr>
            <a:r>
              <a:rPr lang="en-US" sz="1900" b="1" dirty="0">
                <a:solidFill>
                  <a:srgbClr val="0F172A"/>
                </a:solidFill>
                <a:latin typeface="Cambria" pitchFamily="34" charset="0"/>
                <a:ea typeface="Cambria" pitchFamily="34" charset="-122"/>
                <a:cs typeface="Cambria" pitchFamily="34" charset="-120"/>
              </a:rPr>
              <a:t>Over time</a:t>
            </a:r>
            <a:endParaRPr lang="en-US" sz="1900" dirty="0"/>
          </a:p>
        </p:txBody>
      </p:sp>
      <p:sp>
        <p:nvSpPr>
          <p:cNvPr id="19" name="Text 14"/>
          <p:cNvSpPr/>
          <p:nvPr/>
        </p:nvSpPr>
        <p:spPr>
          <a:xfrm>
            <a:off x="8449056" y="2697480"/>
            <a:ext cx="3044952" cy="2103120"/>
          </a:xfrm>
          <a:prstGeom prst="rect">
            <a:avLst/>
          </a:prstGeom>
          <a:noFill/>
          <a:ln/>
        </p:spPr>
        <p:txBody>
          <a:bodyPr wrap="square" lIns="0" tIns="0" rIns="0" bIns="0" rtlCol="0" anchor="t"/>
          <a:lstStyle/>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Contracts</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Compensation</a:t>
            </a:r>
            <a:endParaRPr lang="en-US" sz="1300" dirty="0"/>
          </a:p>
          <a:p>
            <a:pPr marL="127000" indent="-127000">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Broader employee operations</a:t>
            </a:r>
            <a:endParaRPr lang="en-US" sz="1300" dirty="0"/>
          </a:p>
        </p:txBody>
      </p:sp>
      <p:sp>
        <p:nvSpPr>
          <p:cNvPr id="20" name="Shape 15"/>
          <p:cNvSpPr/>
          <p:nvPr/>
        </p:nvSpPr>
        <p:spPr>
          <a:xfrm>
            <a:off x="548640" y="5257800"/>
            <a:ext cx="11064240" cy="914400"/>
          </a:xfrm>
          <a:prstGeom prst="roundRect">
            <a:avLst>
              <a:gd name="adj" fmla="val 10000"/>
            </a:avLst>
          </a:prstGeom>
          <a:solidFill>
            <a:srgbClr val="EEF2FF"/>
          </a:solidFill>
          <a:ln w="12700">
            <a:solidFill>
              <a:srgbClr val="C7D2FE"/>
            </a:solidFill>
            <a:prstDash val="solid"/>
          </a:ln>
          <a:effectLst>
            <a:outerShdw blurRad="76200" dist="12700" dir="5400000" algn="bl" rotWithShape="0">
              <a:srgbClr val="94A3B8">
                <a:alpha val="18000"/>
              </a:srgbClr>
            </a:outerShdw>
          </a:effectLst>
        </p:spPr>
        <p:txBody>
          <a:bodyPr/>
          <a:lstStyle/>
          <a:p>
            <a:endParaRPr lang="en-IN"/>
          </a:p>
        </p:txBody>
      </p:sp>
      <p:sp>
        <p:nvSpPr>
          <p:cNvPr id="21" name="Text 16"/>
          <p:cNvSpPr/>
          <p:nvPr/>
        </p:nvSpPr>
        <p:spPr>
          <a:xfrm>
            <a:off x="914400" y="5257800"/>
            <a:ext cx="10332720" cy="914400"/>
          </a:xfrm>
          <a:prstGeom prst="rect">
            <a:avLst/>
          </a:prstGeom>
          <a:noFill/>
          <a:ln/>
        </p:spPr>
        <p:txBody>
          <a:bodyPr wrap="square" lIns="0" tIns="0" rIns="0" bIns="0" rtlCol="0" anchor="ctr"/>
          <a:lstStyle/>
          <a:p>
            <a:pPr marL="0" indent="0">
              <a:spcAft>
                <a:spcPts val="600"/>
              </a:spcAft>
              <a:buNone/>
            </a:pPr>
            <a:r>
              <a:rPr lang="en-US" sz="1250" dirty="0">
                <a:solidFill>
                  <a:srgbClr val="0F172A"/>
                </a:solidFill>
                <a:latin typeface="Calibri" pitchFamily="34" charset="0"/>
                <a:ea typeface="Calibri" pitchFamily="34" charset="-122"/>
                <a:cs typeface="Calibri" pitchFamily="34" charset="-120"/>
              </a:rPr>
              <a:t>The objective is not to add features for the sake of having more features.
</a:t>
            </a:r>
            <a:endParaRPr lang="en-US" sz="1250" dirty="0"/>
          </a:p>
          <a:p>
            <a:pPr marL="0" indent="0">
              <a:spcAft>
                <a:spcPts val="600"/>
              </a:spcAft>
              <a:buNone/>
            </a:pPr>
            <a:r>
              <a:rPr lang="en-US" sz="1350" b="1" dirty="0">
                <a:solidFill>
                  <a:srgbClr val="4F46E5"/>
                </a:solidFill>
                <a:latin typeface="Calibri" pitchFamily="34" charset="0"/>
                <a:ea typeface="Calibri" pitchFamily="34" charset="-122"/>
                <a:cs typeface="Calibri" pitchFamily="34" charset="-120"/>
              </a:rPr>
              <a:t>Every new module should remove another fragmented process from the organization.</a:t>
            </a:r>
            <a:endParaRPr lang="en-US" sz="1250" dirty="0"/>
          </a:p>
        </p:txBody>
      </p:sp>
      <p:sp>
        <p:nvSpPr>
          <p:cNvPr id="22" name="Text 17"/>
          <p:cNvSpPr/>
          <p:nvPr/>
        </p:nvSpPr>
        <p:spPr>
          <a:xfrm>
            <a:off x="548640" y="6473952"/>
            <a:ext cx="2743200" cy="274320"/>
          </a:xfrm>
          <a:prstGeom prst="rect">
            <a:avLst/>
          </a:prstGeom>
          <a:noFill/>
          <a:ln/>
        </p:spPr>
        <p:txBody>
          <a:bodyPr wrap="square" lIns="0" tIns="0" rIns="0" bIns="0"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Orbit</a:t>
            </a: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23" name="Text 18"/>
          <p:cNvSpPr/>
          <p:nvPr/>
        </p:nvSpPr>
        <p:spPr>
          <a:xfrm>
            <a:off x="11277295" y="6473952"/>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marL="0" indent="0">
              <a:buNone/>
            </a:pPr>
            <a:r>
              <a:rPr lang="en-US" sz="1200" b="1" kern="0" spc="300" dirty="0">
                <a:solidFill>
                  <a:srgbClr val="4F46E5"/>
                </a:solidFill>
                <a:latin typeface="Calibri" pitchFamily="34" charset="0"/>
                <a:ea typeface="Calibri" pitchFamily="34" charset="-122"/>
                <a:cs typeface="Calibri" pitchFamily="34" charset="-120"/>
              </a:rPr>
              <a:t>BETA &amp; FEEDBACK</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marL="0" indent="0">
              <a:buNone/>
            </a:pPr>
            <a:r>
              <a:rPr lang="en-US" sz="3000" b="1" dirty="0">
                <a:solidFill>
                  <a:srgbClr val="0F172A"/>
                </a:solidFill>
                <a:latin typeface="Cambria" pitchFamily="34" charset="0"/>
                <a:ea typeface="Cambria" pitchFamily="34" charset="-122"/>
                <a:cs typeface="Cambria" pitchFamily="34" charset="-120"/>
              </a:rPr>
              <a:t>This is a beta</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Orbit will improve through real usage.</a:t>
            </a:r>
            <a:endParaRPr lang="en-US" sz="1400" dirty="0"/>
          </a:p>
        </p:txBody>
      </p:sp>
      <p:sp>
        <p:nvSpPr>
          <p:cNvPr id="5" name="Shape 3"/>
          <p:cNvSpPr/>
          <p:nvPr/>
        </p:nvSpPr>
        <p:spPr>
          <a:xfrm>
            <a:off x="11341303" y="585216"/>
            <a:ext cx="146304" cy="146304"/>
          </a:xfrm>
          <a:prstGeom prst="diamond">
            <a:avLst/>
          </a:prstGeom>
          <a:solidFill>
            <a:srgbClr val="818CF8"/>
          </a:solidFill>
          <a:ln/>
        </p:spPr>
        <p:txBody>
          <a:bodyPr/>
          <a:lstStyle/>
          <a:p>
            <a:endParaRPr lang="en-IN"/>
          </a:p>
        </p:txBody>
      </p:sp>
      <p:sp>
        <p:nvSpPr>
          <p:cNvPr id="6" name="Text 4"/>
          <p:cNvSpPr/>
          <p:nvPr/>
        </p:nvSpPr>
        <p:spPr>
          <a:xfrm>
            <a:off x="566928" y="1691640"/>
            <a:ext cx="10515600" cy="365760"/>
          </a:xfrm>
          <a:prstGeom prst="rect">
            <a:avLst/>
          </a:prstGeom>
          <a:noFill/>
          <a:ln/>
        </p:spPr>
        <p:txBody>
          <a:bodyPr wrap="square" lIns="0" tIns="0" rIns="0" bIns="0" rtlCol="0" anchor="ctr"/>
          <a:lstStyle/>
          <a:p>
            <a:pPr marL="0" indent="0">
              <a:buNone/>
            </a:pPr>
            <a:r>
              <a:rPr lang="en-US" sz="1350" dirty="0">
                <a:solidFill>
                  <a:srgbClr val="0F172A"/>
                </a:solidFill>
                <a:latin typeface="Calibri" pitchFamily="34" charset="0"/>
                <a:ea typeface="Calibri" pitchFamily="34" charset="-122"/>
                <a:cs typeface="Calibri" pitchFamily="34" charset="-120"/>
              </a:rPr>
              <a:t>The application is still in its first version. That means you may encounter:</a:t>
            </a:r>
            <a:endParaRPr lang="en-US" sz="1350" dirty="0"/>
          </a:p>
        </p:txBody>
      </p:sp>
      <p:sp>
        <p:nvSpPr>
          <p:cNvPr id="7" name="Shape 5"/>
          <p:cNvSpPr/>
          <p:nvPr/>
        </p:nvSpPr>
        <p:spPr>
          <a:xfrm>
            <a:off x="548640" y="2286000"/>
            <a:ext cx="5349240" cy="777240"/>
          </a:xfrm>
          <a:prstGeom prst="roundRect">
            <a:avLst>
              <a:gd name="adj" fmla="val 11765"/>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8" name="Shape 6"/>
          <p:cNvSpPr/>
          <p:nvPr/>
        </p:nvSpPr>
        <p:spPr>
          <a:xfrm>
            <a:off x="786384" y="2450592"/>
            <a:ext cx="438912" cy="438912"/>
          </a:xfrm>
          <a:prstGeom prst="roundRect">
            <a:avLst>
              <a:gd name="adj" fmla="val 18750"/>
            </a:avLst>
          </a:prstGeom>
          <a:solidFill>
            <a:srgbClr val="EEF2FF"/>
          </a:solidFill>
          <a:ln/>
        </p:spPr>
        <p:txBody>
          <a:bodyPr/>
          <a:lstStyle/>
          <a:p>
            <a:endParaRPr lang="en-IN"/>
          </a:p>
        </p:txBody>
      </p:sp>
      <p:pic>
        <p:nvPicPr>
          <p:cNvPr id="9" name="Image 0" descr="preencoded.png"/>
          <p:cNvPicPr>
            <a:picLocks noChangeAspect="1"/>
          </p:cNvPicPr>
          <p:nvPr/>
        </p:nvPicPr>
        <p:blipFill>
          <a:blip r:embed="rId3"/>
          <a:stretch>
            <a:fillRect/>
          </a:stretch>
        </p:blipFill>
        <p:spPr>
          <a:xfrm>
            <a:off x="882945" y="2547153"/>
            <a:ext cx="245791" cy="245791"/>
          </a:xfrm>
          <a:prstGeom prst="rect">
            <a:avLst/>
          </a:prstGeom>
        </p:spPr>
      </p:pic>
      <p:sp>
        <p:nvSpPr>
          <p:cNvPr id="10" name="Text 7"/>
          <p:cNvSpPr/>
          <p:nvPr/>
        </p:nvSpPr>
        <p:spPr>
          <a:xfrm>
            <a:off x="1389888" y="2286000"/>
            <a:ext cx="4297680" cy="777240"/>
          </a:xfrm>
          <a:prstGeom prst="rect">
            <a:avLst/>
          </a:prstGeom>
          <a:noFill/>
          <a:ln/>
        </p:spPr>
        <p:txBody>
          <a:bodyPr wrap="square" lIns="0" tIns="0" rIns="0" bIns="0" rtlCol="0" anchor="ctr"/>
          <a:lstStyle/>
          <a:p>
            <a:pPr marL="0" indent="0">
              <a:buNone/>
            </a:pPr>
            <a:r>
              <a:rPr lang="en-US" sz="1350" b="1" dirty="0">
                <a:solidFill>
                  <a:srgbClr val="0F172A"/>
                </a:solidFill>
                <a:latin typeface="Calibri" pitchFamily="34" charset="0"/>
                <a:ea typeface="Calibri" pitchFamily="34" charset="-122"/>
                <a:cs typeface="Calibri" pitchFamily="34" charset="-120"/>
              </a:rPr>
              <a:t>A technical bug</a:t>
            </a:r>
            <a:endParaRPr lang="en-US" sz="1350" dirty="0"/>
          </a:p>
        </p:txBody>
      </p:sp>
      <p:sp>
        <p:nvSpPr>
          <p:cNvPr id="11" name="Shape 8"/>
          <p:cNvSpPr/>
          <p:nvPr/>
        </p:nvSpPr>
        <p:spPr>
          <a:xfrm>
            <a:off x="6263640" y="2286000"/>
            <a:ext cx="5349240" cy="777240"/>
          </a:xfrm>
          <a:prstGeom prst="roundRect">
            <a:avLst>
              <a:gd name="adj" fmla="val 11765"/>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2" name="Shape 9"/>
          <p:cNvSpPr/>
          <p:nvPr/>
        </p:nvSpPr>
        <p:spPr>
          <a:xfrm>
            <a:off x="6501384" y="2450592"/>
            <a:ext cx="438912" cy="438912"/>
          </a:xfrm>
          <a:prstGeom prst="roundRect">
            <a:avLst>
              <a:gd name="adj" fmla="val 18750"/>
            </a:avLst>
          </a:prstGeom>
          <a:solidFill>
            <a:srgbClr val="EEF2FF"/>
          </a:solidFill>
          <a:ln/>
        </p:spPr>
        <p:txBody>
          <a:bodyPr/>
          <a:lstStyle/>
          <a:p>
            <a:endParaRPr lang="en-IN"/>
          </a:p>
        </p:txBody>
      </p:sp>
      <p:pic>
        <p:nvPicPr>
          <p:cNvPr id="13" name="Image 1" descr="preencoded.png"/>
          <p:cNvPicPr>
            <a:picLocks noChangeAspect="1"/>
          </p:cNvPicPr>
          <p:nvPr/>
        </p:nvPicPr>
        <p:blipFill>
          <a:blip r:embed="rId4"/>
          <a:stretch>
            <a:fillRect/>
          </a:stretch>
        </p:blipFill>
        <p:spPr>
          <a:xfrm>
            <a:off x="6597945" y="2547153"/>
            <a:ext cx="245791" cy="245791"/>
          </a:xfrm>
          <a:prstGeom prst="rect">
            <a:avLst/>
          </a:prstGeom>
        </p:spPr>
      </p:pic>
      <p:sp>
        <p:nvSpPr>
          <p:cNvPr id="14" name="Text 10"/>
          <p:cNvSpPr/>
          <p:nvPr/>
        </p:nvSpPr>
        <p:spPr>
          <a:xfrm>
            <a:off x="7104888" y="2286000"/>
            <a:ext cx="4297680" cy="777240"/>
          </a:xfrm>
          <a:prstGeom prst="rect">
            <a:avLst/>
          </a:prstGeom>
          <a:noFill/>
          <a:ln/>
        </p:spPr>
        <p:txBody>
          <a:bodyPr wrap="square" lIns="0" tIns="0" rIns="0" bIns="0" rtlCol="0" anchor="ctr"/>
          <a:lstStyle/>
          <a:p>
            <a:pPr marL="0" indent="0">
              <a:buNone/>
            </a:pPr>
            <a:r>
              <a:rPr lang="en-US" sz="1350" b="1" dirty="0">
                <a:solidFill>
                  <a:srgbClr val="0F172A"/>
                </a:solidFill>
                <a:latin typeface="Calibri" pitchFamily="34" charset="0"/>
                <a:ea typeface="Calibri" pitchFamily="34" charset="-122"/>
                <a:cs typeface="Calibri" pitchFamily="34" charset="-120"/>
              </a:rPr>
              <a:t>Something that does not behave as expected</a:t>
            </a:r>
            <a:endParaRPr lang="en-US" sz="1350" dirty="0"/>
          </a:p>
        </p:txBody>
      </p:sp>
      <p:sp>
        <p:nvSpPr>
          <p:cNvPr id="15" name="Shape 11"/>
          <p:cNvSpPr/>
          <p:nvPr/>
        </p:nvSpPr>
        <p:spPr>
          <a:xfrm>
            <a:off x="548640" y="3291840"/>
            <a:ext cx="5349240" cy="777240"/>
          </a:xfrm>
          <a:prstGeom prst="roundRect">
            <a:avLst>
              <a:gd name="adj" fmla="val 11765"/>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6" name="Shape 12"/>
          <p:cNvSpPr/>
          <p:nvPr/>
        </p:nvSpPr>
        <p:spPr>
          <a:xfrm>
            <a:off x="786384" y="3456432"/>
            <a:ext cx="438912" cy="438912"/>
          </a:xfrm>
          <a:prstGeom prst="roundRect">
            <a:avLst>
              <a:gd name="adj" fmla="val 18750"/>
            </a:avLst>
          </a:prstGeom>
          <a:solidFill>
            <a:srgbClr val="EEF2FF"/>
          </a:solidFill>
          <a:ln/>
        </p:spPr>
        <p:txBody>
          <a:bodyPr/>
          <a:lstStyle/>
          <a:p>
            <a:endParaRPr lang="en-IN"/>
          </a:p>
        </p:txBody>
      </p:sp>
      <p:pic>
        <p:nvPicPr>
          <p:cNvPr id="17" name="Image 2" descr="preencoded.png"/>
          <p:cNvPicPr>
            <a:picLocks noChangeAspect="1"/>
          </p:cNvPicPr>
          <p:nvPr/>
        </p:nvPicPr>
        <p:blipFill>
          <a:blip r:embed="rId5"/>
          <a:stretch>
            <a:fillRect/>
          </a:stretch>
        </p:blipFill>
        <p:spPr>
          <a:xfrm>
            <a:off x="882945" y="3552993"/>
            <a:ext cx="245791" cy="245791"/>
          </a:xfrm>
          <a:prstGeom prst="rect">
            <a:avLst/>
          </a:prstGeom>
        </p:spPr>
      </p:pic>
      <p:sp>
        <p:nvSpPr>
          <p:cNvPr id="18" name="Text 13"/>
          <p:cNvSpPr/>
          <p:nvPr/>
        </p:nvSpPr>
        <p:spPr>
          <a:xfrm>
            <a:off x="1389888" y="3291840"/>
            <a:ext cx="4297680" cy="777240"/>
          </a:xfrm>
          <a:prstGeom prst="rect">
            <a:avLst/>
          </a:prstGeom>
          <a:noFill/>
          <a:ln/>
        </p:spPr>
        <p:txBody>
          <a:bodyPr wrap="square" lIns="0" tIns="0" rIns="0" bIns="0" rtlCol="0" anchor="ctr"/>
          <a:lstStyle/>
          <a:p>
            <a:pPr marL="0" indent="0">
              <a:buNone/>
            </a:pPr>
            <a:r>
              <a:rPr lang="en-US" sz="1350" b="1" dirty="0">
                <a:solidFill>
                  <a:srgbClr val="0F172A"/>
                </a:solidFill>
                <a:latin typeface="Calibri" pitchFamily="34" charset="0"/>
                <a:ea typeface="Calibri" pitchFamily="34" charset="-122"/>
                <a:cs typeface="Calibri" pitchFamily="34" charset="-120"/>
              </a:rPr>
              <a:t>A workflow that can be improved</a:t>
            </a:r>
            <a:endParaRPr lang="en-US" sz="1350" dirty="0"/>
          </a:p>
        </p:txBody>
      </p:sp>
      <p:sp>
        <p:nvSpPr>
          <p:cNvPr id="19" name="Shape 14"/>
          <p:cNvSpPr/>
          <p:nvPr/>
        </p:nvSpPr>
        <p:spPr>
          <a:xfrm>
            <a:off x="6263640" y="3291840"/>
            <a:ext cx="5349240" cy="777240"/>
          </a:xfrm>
          <a:prstGeom prst="roundRect">
            <a:avLst>
              <a:gd name="adj" fmla="val 11765"/>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20" name="Shape 15"/>
          <p:cNvSpPr/>
          <p:nvPr/>
        </p:nvSpPr>
        <p:spPr>
          <a:xfrm>
            <a:off x="6501384" y="3456432"/>
            <a:ext cx="438912" cy="438912"/>
          </a:xfrm>
          <a:prstGeom prst="roundRect">
            <a:avLst>
              <a:gd name="adj" fmla="val 18750"/>
            </a:avLst>
          </a:prstGeom>
          <a:solidFill>
            <a:srgbClr val="EEF2FF"/>
          </a:solidFill>
          <a:ln/>
        </p:spPr>
        <p:txBody>
          <a:bodyPr/>
          <a:lstStyle/>
          <a:p>
            <a:endParaRPr lang="en-IN"/>
          </a:p>
        </p:txBody>
      </p:sp>
      <p:pic>
        <p:nvPicPr>
          <p:cNvPr id="21" name="Image 3" descr="preencoded.png"/>
          <p:cNvPicPr>
            <a:picLocks noChangeAspect="1"/>
          </p:cNvPicPr>
          <p:nvPr/>
        </p:nvPicPr>
        <p:blipFill>
          <a:blip r:embed="rId6"/>
          <a:stretch>
            <a:fillRect/>
          </a:stretch>
        </p:blipFill>
        <p:spPr>
          <a:xfrm>
            <a:off x="6597945" y="3552993"/>
            <a:ext cx="245791" cy="245791"/>
          </a:xfrm>
          <a:prstGeom prst="rect">
            <a:avLst/>
          </a:prstGeom>
        </p:spPr>
      </p:pic>
      <p:sp>
        <p:nvSpPr>
          <p:cNvPr id="22" name="Text 16"/>
          <p:cNvSpPr/>
          <p:nvPr/>
        </p:nvSpPr>
        <p:spPr>
          <a:xfrm>
            <a:off x="7104888" y="3291840"/>
            <a:ext cx="4297680" cy="777240"/>
          </a:xfrm>
          <a:prstGeom prst="rect">
            <a:avLst/>
          </a:prstGeom>
          <a:noFill/>
          <a:ln/>
        </p:spPr>
        <p:txBody>
          <a:bodyPr wrap="square" lIns="0" tIns="0" rIns="0" bIns="0" rtlCol="0" anchor="ctr"/>
          <a:lstStyle/>
          <a:p>
            <a:pPr marL="0" indent="0">
              <a:buNone/>
            </a:pPr>
            <a:r>
              <a:rPr lang="en-US" sz="1350" b="1" dirty="0">
                <a:solidFill>
                  <a:srgbClr val="0F172A"/>
                </a:solidFill>
                <a:latin typeface="Calibri" pitchFamily="34" charset="0"/>
                <a:ea typeface="Calibri" pitchFamily="34" charset="-122"/>
                <a:cs typeface="Calibri" pitchFamily="34" charset="-120"/>
              </a:rPr>
              <a:t>A missing feature</a:t>
            </a:r>
            <a:endParaRPr lang="en-US" sz="1350" dirty="0"/>
          </a:p>
        </p:txBody>
      </p:sp>
      <p:sp>
        <p:nvSpPr>
          <p:cNvPr id="23" name="Shape 17"/>
          <p:cNvSpPr/>
          <p:nvPr/>
        </p:nvSpPr>
        <p:spPr>
          <a:xfrm>
            <a:off x="548640" y="4297680"/>
            <a:ext cx="5349240" cy="777240"/>
          </a:xfrm>
          <a:prstGeom prst="roundRect">
            <a:avLst>
              <a:gd name="adj" fmla="val 11765"/>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24" name="Shape 18"/>
          <p:cNvSpPr/>
          <p:nvPr/>
        </p:nvSpPr>
        <p:spPr>
          <a:xfrm>
            <a:off x="786384" y="4462272"/>
            <a:ext cx="438912" cy="438912"/>
          </a:xfrm>
          <a:prstGeom prst="roundRect">
            <a:avLst>
              <a:gd name="adj" fmla="val 18750"/>
            </a:avLst>
          </a:prstGeom>
          <a:solidFill>
            <a:srgbClr val="EEF2FF"/>
          </a:solidFill>
          <a:ln/>
        </p:spPr>
        <p:txBody>
          <a:bodyPr/>
          <a:lstStyle/>
          <a:p>
            <a:endParaRPr lang="en-IN"/>
          </a:p>
        </p:txBody>
      </p:sp>
      <p:pic>
        <p:nvPicPr>
          <p:cNvPr id="25" name="Image 4" descr="preencoded.png"/>
          <p:cNvPicPr>
            <a:picLocks noChangeAspect="1"/>
          </p:cNvPicPr>
          <p:nvPr/>
        </p:nvPicPr>
        <p:blipFill>
          <a:blip r:embed="rId7"/>
          <a:stretch>
            <a:fillRect/>
          </a:stretch>
        </p:blipFill>
        <p:spPr>
          <a:xfrm>
            <a:off x="882945" y="4558833"/>
            <a:ext cx="245791" cy="245791"/>
          </a:xfrm>
          <a:prstGeom prst="rect">
            <a:avLst/>
          </a:prstGeom>
        </p:spPr>
      </p:pic>
      <p:sp>
        <p:nvSpPr>
          <p:cNvPr id="26" name="Text 19"/>
          <p:cNvSpPr/>
          <p:nvPr/>
        </p:nvSpPr>
        <p:spPr>
          <a:xfrm>
            <a:off x="1389888" y="4297680"/>
            <a:ext cx="4297680" cy="777240"/>
          </a:xfrm>
          <a:prstGeom prst="rect">
            <a:avLst/>
          </a:prstGeom>
          <a:noFill/>
          <a:ln/>
        </p:spPr>
        <p:txBody>
          <a:bodyPr wrap="square" lIns="0" tIns="0" rIns="0" bIns="0" rtlCol="0" anchor="ctr"/>
          <a:lstStyle/>
          <a:p>
            <a:pPr marL="0" indent="0">
              <a:buNone/>
            </a:pPr>
            <a:r>
              <a:rPr lang="en-US" sz="1350" b="1" dirty="0">
                <a:solidFill>
                  <a:srgbClr val="0F172A"/>
                </a:solidFill>
                <a:latin typeface="Calibri" pitchFamily="34" charset="0"/>
                <a:ea typeface="Calibri" pitchFamily="34" charset="-122"/>
                <a:cs typeface="Calibri" pitchFamily="34" charset="-120"/>
              </a:rPr>
              <a:t>A usability issue</a:t>
            </a:r>
            <a:endParaRPr lang="en-US" sz="1350" dirty="0"/>
          </a:p>
        </p:txBody>
      </p:sp>
      <p:sp>
        <p:nvSpPr>
          <p:cNvPr id="27" name="Shape 20"/>
          <p:cNvSpPr/>
          <p:nvPr/>
        </p:nvSpPr>
        <p:spPr>
          <a:xfrm>
            <a:off x="6263640" y="4297680"/>
            <a:ext cx="5349240" cy="777240"/>
          </a:xfrm>
          <a:prstGeom prst="roundRect">
            <a:avLst>
              <a:gd name="adj" fmla="val 11765"/>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28" name="Shape 21"/>
          <p:cNvSpPr/>
          <p:nvPr/>
        </p:nvSpPr>
        <p:spPr>
          <a:xfrm>
            <a:off x="6501384" y="4462272"/>
            <a:ext cx="438912" cy="438912"/>
          </a:xfrm>
          <a:prstGeom prst="roundRect">
            <a:avLst>
              <a:gd name="adj" fmla="val 18750"/>
            </a:avLst>
          </a:prstGeom>
          <a:solidFill>
            <a:srgbClr val="EEF2FF"/>
          </a:solidFill>
          <a:ln/>
        </p:spPr>
        <p:txBody>
          <a:bodyPr/>
          <a:lstStyle/>
          <a:p>
            <a:endParaRPr lang="en-IN"/>
          </a:p>
        </p:txBody>
      </p:sp>
      <p:pic>
        <p:nvPicPr>
          <p:cNvPr id="29" name="Image 5" descr="preencoded.png"/>
          <p:cNvPicPr>
            <a:picLocks noChangeAspect="1"/>
          </p:cNvPicPr>
          <p:nvPr/>
        </p:nvPicPr>
        <p:blipFill>
          <a:blip r:embed="rId8"/>
          <a:stretch>
            <a:fillRect/>
          </a:stretch>
        </p:blipFill>
        <p:spPr>
          <a:xfrm>
            <a:off x="6597945" y="4558833"/>
            <a:ext cx="245791" cy="245791"/>
          </a:xfrm>
          <a:prstGeom prst="rect">
            <a:avLst/>
          </a:prstGeom>
        </p:spPr>
      </p:pic>
      <p:sp>
        <p:nvSpPr>
          <p:cNvPr id="30" name="Text 22"/>
          <p:cNvSpPr/>
          <p:nvPr/>
        </p:nvSpPr>
        <p:spPr>
          <a:xfrm>
            <a:off x="7104888" y="4297680"/>
            <a:ext cx="4297680" cy="777240"/>
          </a:xfrm>
          <a:prstGeom prst="rect">
            <a:avLst/>
          </a:prstGeom>
          <a:noFill/>
          <a:ln/>
        </p:spPr>
        <p:txBody>
          <a:bodyPr wrap="square" lIns="0" tIns="0" rIns="0" bIns="0" rtlCol="0" anchor="ctr"/>
          <a:lstStyle/>
          <a:p>
            <a:pPr marL="0" indent="0">
              <a:buNone/>
            </a:pPr>
            <a:r>
              <a:rPr lang="en-US" sz="1350" b="1" dirty="0">
                <a:solidFill>
                  <a:srgbClr val="0F172A"/>
                </a:solidFill>
                <a:latin typeface="Calibri" pitchFamily="34" charset="0"/>
                <a:ea typeface="Calibri" pitchFamily="34" charset="-122"/>
                <a:cs typeface="Calibri" pitchFamily="34" charset="-120"/>
              </a:rPr>
              <a:t>An idea that could make Orbit better</a:t>
            </a:r>
            <a:endParaRPr lang="en-US" sz="1350" dirty="0"/>
          </a:p>
        </p:txBody>
      </p:sp>
      <p:sp>
        <p:nvSpPr>
          <p:cNvPr id="31" name="Shape 23"/>
          <p:cNvSpPr/>
          <p:nvPr/>
        </p:nvSpPr>
        <p:spPr>
          <a:xfrm>
            <a:off x="548640" y="5486400"/>
            <a:ext cx="11064240" cy="658368"/>
          </a:xfrm>
          <a:prstGeom prst="roundRect">
            <a:avLst>
              <a:gd name="adj" fmla="val 13889"/>
            </a:avLst>
          </a:prstGeom>
          <a:solidFill>
            <a:srgbClr val="EEF2FF"/>
          </a:solidFill>
          <a:ln w="12700">
            <a:solidFill>
              <a:srgbClr val="C7D2FE"/>
            </a:solidFill>
            <a:prstDash val="solid"/>
          </a:ln>
          <a:effectLst>
            <a:outerShdw blurRad="76200" dist="12700" dir="5400000" algn="bl" rotWithShape="0">
              <a:srgbClr val="94A3B8">
                <a:alpha val="18000"/>
              </a:srgbClr>
            </a:outerShdw>
          </a:effectLst>
        </p:spPr>
        <p:txBody>
          <a:bodyPr/>
          <a:lstStyle/>
          <a:p>
            <a:endParaRPr lang="en-IN"/>
          </a:p>
        </p:txBody>
      </p:sp>
      <p:sp>
        <p:nvSpPr>
          <p:cNvPr id="32" name="Text 24"/>
          <p:cNvSpPr/>
          <p:nvPr/>
        </p:nvSpPr>
        <p:spPr>
          <a:xfrm>
            <a:off x="914400" y="5486400"/>
            <a:ext cx="10332720" cy="658368"/>
          </a:xfrm>
          <a:prstGeom prst="rect">
            <a:avLst/>
          </a:prstGeom>
          <a:noFill/>
          <a:ln/>
        </p:spPr>
        <p:txBody>
          <a:bodyPr wrap="square" lIns="0" tIns="0" rIns="0" bIns="0" rtlCol="0" anchor="ctr"/>
          <a:lstStyle/>
          <a:p>
            <a:pPr marL="0" indent="0" algn="ctr">
              <a:buNone/>
            </a:pPr>
            <a:r>
              <a:rPr lang="en-US" sz="1600" b="1" dirty="0">
                <a:solidFill>
                  <a:srgbClr val="4F46E5"/>
                </a:solidFill>
                <a:latin typeface="Cambria" pitchFamily="34" charset="0"/>
                <a:ea typeface="Cambria" pitchFamily="34" charset="-122"/>
                <a:cs typeface="Cambria" pitchFamily="34" charset="-120"/>
              </a:rPr>
              <a:t>We want to know about it.</a:t>
            </a:r>
            <a:endParaRPr lang="en-US" sz="1600" dirty="0"/>
          </a:p>
        </p:txBody>
      </p:sp>
      <p:sp>
        <p:nvSpPr>
          <p:cNvPr id="33" name="Text 25"/>
          <p:cNvSpPr/>
          <p:nvPr/>
        </p:nvSpPr>
        <p:spPr>
          <a:xfrm>
            <a:off x="548640" y="6473952"/>
            <a:ext cx="2743200" cy="274320"/>
          </a:xfrm>
          <a:prstGeom prst="rect">
            <a:avLst/>
          </a:prstGeom>
          <a:noFill/>
          <a:ln/>
        </p:spPr>
        <p:txBody>
          <a:bodyPr wrap="square" lIns="0" tIns="0" rIns="0" bIns="0"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Orbit</a:t>
            </a: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34" name="Text 26"/>
          <p:cNvSpPr/>
          <p:nvPr/>
        </p:nvSpPr>
        <p:spPr>
          <a:xfrm>
            <a:off x="11277295" y="6473952"/>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marL="0" indent="0">
              <a:buNone/>
            </a:pPr>
            <a:r>
              <a:rPr lang="en-US" sz="1200" b="1" kern="0" spc="300" dirty="0">
                <a:solidFill>
                  <a:srgbClr val="4F46E5"/>
                </a:solidFill>
                <a:latin typeface="Calibri" pitchFamily="34" charset="0"/>
                <a:ea typeface="Calibri" pitchFamily="34" charset="-122"/>
                <a:cs typeface="Calibri" pitchFamily="34" charset="-120"/>
              </a:rPr>
              <a:t>BETA &amp; FEEDBACK</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marL="0" indent="0">
              <a:buNone/>
            </a:pPr>
            <a:r>
              <a:rPr lang="en-US" sz="3000" b="1" dirty="0">
                <a:solidFill>
                  <a:srgbClr val="0F172A"/>
                </a:solidFill>
                <a:latin typeface="Cambria" pitchFamily="34" charset="0"/>
                <a:ea typeface="Cambria" pitchFamily="34" charset="-122"/>
                <a:cs typeface="Cambria" pitchFamily="34" charset="-120"/>
              </a:rPr>
              <a:t>One feedback system across our applications</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Found something? Report it.</a:t>
            </a:r>
            <a:endParaRPr lang="en-US" sz="1400" dirty="0"/>
          </a:p>
        </p:txBody>
      </p:sp>
      <p:sp>
        <p:nvSpPr>
          <p:cNvPr id="5" name="Shape 3"/>
          <p:cNvSpPr/>
          <p:nvPr/>
        </p:nvSpPr>
        <p:spPr>
          <a:xfrm>
            <a:off x="11341303" y="585216"/>
            <a:ext cx="146304" cy="146304"/>
          </a:xfrm>
          <a:prstGeom prst="diamond">
            <a:avLst/>
          </a:prstGeom>
          <a:solidFill>
            <a:srgbClr val="818CF8"/>
          </a:solidFill>
          <a:ln/>
        </p:spPr>
        <p:txBody>
          <a:bodyPr/>
          <a:lstStyle/>
          <a:p>
            <a:endParaRPr lang="en-IN"/>
          </a:p>
        </p:txBody>
      </p:sp>
      <p:sp>
        <p:nvSpPr>
          <p:cNvPr id="6" name="Shape 4"/>
          <p:cNvSpPr/>
          <p:nvPr/>
        </p:nvSpPr>
        <p:spPr>
          <a:xfrm>
            <a:off x="548640" y="1783080"/>
            <a:ext cx="5349240" cy="1600200"/>
          </a:xfrm>
          <a:prstGeom prst="roundRect">
            <a:avLst>
              <a:gd name="adj" fmla="val 5714"/>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7" name="Shape 5"/>
          <p:cNvSpPr/>
          <p:nvPr/>
        </p:nvSpPr>
        <p:spPr>
          <a:xfrm>
            <a:off x="804672" y="2039112"/>
            <a:ext cx="457200" cy="457200"/>
          </a:xfrm>
          <a:prstGeom prst="roundRect">
            <a:avLst>
              <a:gd name="adj" fmla="val 18000"/>
            </a:avLst>
          </a:prstGeom>
          <a:solidFill>
            <a:srgbClr val="EEF2FF"/>
          </a:solidFill>
          <a:ln/>
        </p:spPr>
        <p:txBody>
          <a:bodyPr/>
          <a:lstStyle/>
          <a:p>
            <a:endParaRPr lang="en-IN"/>
          </a:p>
        </p:txBody>
      </p:sp>
      <p:pic>
        <p:nvPicPr>
          <p:cNvPr id="8" name="Image 0" descr="preencoded.png"/>
          <p:cNvPicPr>
            <a:picLocks noChangeAspect="1"/>
          </p:cNvPicPr>
          <p:nvPr/>
        </p:nvPicPr>
        <p:blipFill>
          <a:blip r:embed="rId3"/>
          <a:stretch>
            <a:fillRect/>
          </a:stretch>
        </p:blipFill>
        <p:spPr>
          <a:xfrm>
            <a:off x="905256" y="2139696"/>
            <a:ext cx="256032" cy="256032"/>
          </a:xfrm>
          <a:prstGeom prst="rect">
            <a:avLst/>
          </a:prstGeom>
        </p:spPr>
      </p:pic>
      <p:sp>
        <p:nvSpPr>
          <p:cNvPr id="9" name="Text 6"/>
          <p:cNvSpPr/>
          <p:nvPr/>
        </p:nvSpPr>
        <p:spPr>
          <a:xfrm>
            <a:off x="1408176" y="2075688"/>
            <a:ext cx="4251960" cy="384048"/>
          </a:xfrm>
          <a:prstGeom prst="rect">
            <a:avLst/>
          </a:prstGeom>
          <a:noFill/>
          <a:ln/>
        </p:spPr>
        <p:txBody>
          <a:bodyPr wrap="square" lIns="0" tIns="0" rIns="0" bIns="0" rtlCol="0" anchor="ctr"/>
          <a:lstStyle/>
          <a:p>
            <a:pPr marL="0" indent="0">
              <a:buNone/>
            </a:pPr>
            <a:r>
              <a:rPr lang="en-US" sz="1550" b="1" dirty="0">
                <a:solidFill>
                  <a:srgbClr val="0F172A"/>
                </a:solidFill>
                <a:latin typeface="Cambria" pitchFamily="34" charset="0"/>
                <a:ea typeface="Cambria" pitchFamily="34" charset="-122"/>
                <a:cs typeface="Cambria" pitchFamily="34" charset="-120"/>
              </a:rPr>
              <a:t>Bug Report</a:t>
            </a:r>
            <a:endParaRPr lang="en-US" sz="1550" dirty="0"/>
          </a:p>
        </p:txBody>
      </p:sp>
      <p:sp>
        <p:nvSpPr>
          <p:cNvPr id="10" name="Text 7"/>
          <p:cNvSpPr/>
          <p:nvPr/>
        </p:nvSpPr>
        <p:spPr>
          <a:xfrm>
            <a:off x="1408176" y="2514600"/>
            <a:ext cx="4206240" cy="731520"/>
          </a:xfrm>
          <a:prstGeom prst="rect">
            <a:avLst/>
          </a:prstGeom>
          <a:noFill/>
          <a:ln/>
        </p:spPr>
        <p:txBody>
          <a:bodyPr wrap="square" lIns="0" tIns="0" rIns="0" bIns="0" rtlCol="0" anchor="t"/>
          <a:lstStyle/>
          <a:p>
            <a:pPr marL="0" indent="0">
              <a:buNone/>
            </a:pPr>
            <a:r>
              <a:rPr lang="en-US" sz="1250" dirty="0">
                <a:solidFill>
                  <a:srgbClr val="64748B"/>
                </a:solidFill>
                <a:latin typeface="Calibri" pitchFamily="34" charset="0"/>
                <a:ea typeface="Calibri" pitchFamily="34" charset="-122"/>
                <a:cs typeface="Calibri" pitchFamily="34" charset="-120"/>
              </a:rPr>
              <a:t>Something is not working.</a:t>
            </a:r>
            <a:endParaRPr lang="en-US" sz="1250" dirty="0"/>
          </a:p>
        </p:txBody>
      </p:sp>
      <p:sp>
        <p:nvSpPr>
          <p:cNvPr id="11" name="Shape 8"/>
          <p:cNvSpPr/>
          <p:nvPr/>
        </p:nvSpPr>
        <p:spPr>
          <a:xfrm>
            <a:off x="6263640" y="1783080"/>
            <a:ext cx="5349240" cy="1600200"/>
          </a:xfrm>
          <a:prstGeom prst="roundRect">
            <a:avLst>
              <a:gd name="adj" fmla="val 5714"/>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2" name="Shape 9"/>
          <p:cNvSpPr/>
          <p:nvPr/>
        </p:nvSpPr>
        <p:spPr>
          <a:xfrm>
            <a:off x="6519672" y="2039112"/>
            <a:ext cx="457200" cy="457200"/>
          </a:xfrm>
          <a:prstGeom prst="roundRect">
            <a:avLst>
              <a:gd name="adj" fmla="val 18000"/>
            </a:avLst>
          </a:prstGeom>
          <a:solidFill>
            <a:srgbClr val="EEF2FF"/>
          </a:solidFill>
          <a:ln/>
        </p:spPr>
        <p:txBody>
          <a:bodyPr/>
          <a:lstStyle/>
          <a:p>
            <a:endParaRPr lang="en-IN"/>
          </a:p>
        </p:txBody>
      </p:sp>
      <p:pic>
        <p:nvPicPr>
          <p:cNvPr id="13" name="Image 1" descr="preencoded.png"/>
          <p:cNvPicPr>
            <a:picLocks noChangeAspect="1"/>
          </p:cNvPicPr>
          <p:nvPr/>
        </p:nvPicPr>
        <p:blipFill>
          <a:blip r:embed="rId4"/>
          <a:stretch>
            <a:fillRect/>
          </a:stretch>
        </p:blipFill>
        <p:spPr>
          <a:xfrm>
            <a:off x="6620256" y="2139696"/>
            <a:ext cx="256032" cy="256032"/>
          </a:xfrm>
          <a:prstGeom prst="rect">
            <a:avLst/>
          </a:prstGeom>
        </p:spPr>
      </p:pic>
      <p:sp>
        <p:nvSpPr>
          <p:cNvPr id="14" name="Text 10"/>
          <p:cNvSpPr/>
          <p:nvPr/>
        </p:nvSpPr>
        <p:spPr>
          <a:xfrm>
            <a:off x="7123176" y="2075688"/>
            <a:ext cx="4251960" cy="384048"/>
          </a:xfrm>
          <a:prstGeom prst="rect">
            <a:avLst/>
          </a:prstGeom>
          <a:noFill/>
          <a:ln/>
        </p:spPr>
        <p:txBody>
          <a:bodyPr wrap="square" lIns="0" tIns="0" rIns="0" bIns="0" rtlCol="0" anchor="ctr"/>
          <a:lstStyle/>
          <a:p>
            <a:pPr marL="0" indent="0">
              <a:buNone/>
            </a:pPr>
            <a:r>
              <a:rPr lang="en-US" sz="1550" b="1" dirty="0">
                <a:solidFill>
                  <a:srgbClr val="0F172A"/>
                </a:solidFill>
                <a:latin typeface="Cambria" pitchFamily="34" charset="0"/>
                <a:ea typeface="Cambria" pitchFamily="34" charset="-122"/>
                <a:cs typeface="Cambria" pitchFamily="34" charset="-120"/>
              </a:rPr>
              <a:t>Feature Request</a:t>
            </a:r>
            <a:endParaRPr lang="en-US" sz="1550" dirty="0"/>
          </a:p>
        </p:txBody>
      </p:sp>
      <p:sp>
        <p:nvSpPr>
          <p:cNvPr id="15" name="Text 11"/>
          <p:cNvSpPr/>
          <p:nvPr/>
        </p:nvSpPr>
        <p:spPr>
          <a:xfrm>
            <a:off x="7123176" y="2514600"/>
            <a:ext cx="4206240" cy="731520"/>
          </a:xfrm>
          <a:prstGeom prst="rect">
            <a:avLst/>
          </a:prstGeom>
          <a:noFill/>
          <a:ln/>
        </p:spPr>
        <p:txBody>
          <a:bodyPr wrap="square" lIns="0" tIns="0" rIns="0" bIns="0" rtlCol="0" anchor="t"/>
          <a:lstStyle/>
          <a:p>
            <a:pPr marL="0" indent="0">
              <a:buNone/>
            </a:pPr>
            <a:r>
              <a:rPr lang="en-US" sz="1250" dirty="0">
                <a:solidFill>
                  <a:srgbClr val="64748B"/>
                </a:solidFill>
                <a:latin typeface="Calibri" pitchFamily="34" charset="0"/>
                <a:ea typeface="Calibri" pitchFamily="34" charset="-122"/>
                <a:cs typeface="Calibri" pitchFamily="34" charset="-120"/>
              </a:rPr>
              <a:t>Something useful is missing.</a:t>
            </a:r>
            <a:endParaRPr lang="en-US" sz="1250" dirty="0"/>
          </a:p>
        </p:txBody>
      </p:sp>
      <p:sp>
        <p:nvSpPr>
          <p:cNvPr id="16" name="Shape 12"/>
          <p:cNvSpPr/>
          <p:nvPr/>
        </p:nvSpPr>
        <p:spPr>
          <a:xfrm>
            <a:off x="548640" y="3639312"/>
            <a:ext cx="5349240" cy="1600200"/>
          </a:xfrm>
          <a:prstGeom prst="roundRect">
            <a:avLst>
              <a:gd name="adj" fmla="val 5714"/>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17" name="Shape 13"/>
          <p:cNvSpPr/>
          <p:nvPr/>
        </p:nvSpPr>
        <p:spPr>
          <a:xfrm>
            <a:off x="804672" y="3895344"/>
            <a:ext cx="457200" cy="457200"/>
          </a:xfrm>
          <a:prstGeom prst="roundRect">
            <a:avLst>
              <a:gd name="adj" fmla="val 18000"/>
            </a:avLst>
          </a:prstGeom>
          <a:solidFill>
            <a:srgbClr val="EEF2FF"/>
          </a:solidFill>
          <a:ln/>
        </p:spPr>
        <p:txBody>
          <a:bodyPr/>
          <a:lstStyle/>
          <a:p>
            <a:endParaRPr lang="en-IN"/>
          </a:p>
        </p:txBody>
      </p:sp>
      <p:pic>
        <p:nvPicPr>
          <p:cNvPr id="18" name="Image 2" descr="preencoded.png"/>
          <p:cNvPicPr>
            <a:picLocks noChangeAspect="1"/>
          </p:cNvPicPr>
          <p:nvPr/>
        </p:nvPicPr>
        <p:blipFill>
          <a:blip r:embed="rId5"/>
          <a:stretch>
            <a:fillRect/>
          </a:stretch>
        </p:blipFill>
        <p:spPr>
          <a:xfrm>
            <a:off x="905256" y="3995928"/>
            <a:ext cx="256032" cy="256032"/>
          </a:xfrm>
          <a:prstGeom prst="rect">
            <a:avLst/>
          </a:prstGeom>
        </p:spPr>
      </p:pic>
      <p:sp>
        <p:nvSpPr>
          <p:cNvPr id="19" name="Text 14"/>
          <p:cNvSpPr/>
          <p:nvPr/>
        </p:nvSpPr>
        <p:spPr>
          <a:xfrm>
            <a:off x="1408176" y="3931920"/>
            <a:ext cx="4251960" cy="384048"/>
          </a:xfrm>
          <a:prstGeom prst="rect">
            <a:avLst/>
          </a:prstGeom>
          <a:noFill/>
          <a:ln/>
        </p:spPr>
        <p:txBody>
          <a:bodyPr wrap="square" lIns="0" tIns="0" rIns="0" bIns="0" rtlCol="0" anchor="ctr"/>
          <a:lstStyle/>
          <a:p>
            <a:pPr marL="0" indent="0">
              <a:buNone/>
            </a:pPr>
            <a:r>
              <a:rPr lang="en-US" sz="1550" b="1" dirty="0">
                <a:solidFill>
                  <a:srgbClr val="0F172A"/>
                </a:solidFill>
                <a:latin typeface="Cambria" pitchFamily="34" charset="0"/>
                <a:ea typeface="Cambria" pitchFamily="34" charset="-122"/>
                <a:cs typeface="Cambria" pitchFamily="34" charset="-120"/>
              </a:rPr>
              <a:t>Improvement Suggestion</a:t>
            </a:r>
            <a:endParaRPr lang="en-US" sz="1550" dirty="0"/>
          </a:p>
        </p:txBody>
      </p:sp>
      <p:sp>
        <p:nvSpPr>
          <p:cNvPr id="20" name="Text 15"/>
          <p:cNvSpPr/>
          <p:nvPr/>
        </p:nvSpPr>
        <p:spPr>
          <a:xfrm>
            <a:off x="1408176" y="4370832"/>
            <a:ext cx="4206240" cy="731520"/>
          </a:xfrm>
          <a:prstGeom prst="rect">
            <a:avLst/>
          </a:prstGeom>
          <a:noFill/>
          <a:ln/>
        </p:spPr>
        <p:txBody>
          <a:bodyPr wrap="square" lIns="0" tIns="0" rIns="0" bIns="0" rtlCol="0" anchor="t"/>
          <a:lstStyle/>
          <a:p>
            <a:pPr marL="0" indent="0">
              <a:buNone/>
            </a:pPr>
            <a:r>
              <a:rPr lang="en-US" sz="1250" dirty="0">
                <a:solidFill>
                  <a:srgbClr val="64748B"/>
                </a:solidFill>
                <a:latin typeface="Calibri" pitchFamily="34" charset="0"/>
                <a:ea typeface="Calibri" pitchFamily="34" charset="-122"/>
                <a:cs typeface="Calibri" pitchFamily="34" charset="-120"/>
              </a:rPr>
              <a:t>Something works, but could work better.</a:t>
            </a:r>
            <a:endParaRPr lang="en-US" sz="1250" dirty="0"/>
          </a:p>
        </p:txBody>
      </p:sp>
      <p:sp>
        <p:nvSpPr>
          <p:cNvPr id="21" name="Shape 16"/>
          <p:cNvSpPr/>
          <p:nvPr/>
        </p:nvSpPr>
        <p:spPr>
          <a:xfrm>
            <a:off x="6263640" y="3639312"/>
            <a:ext cx="5349240" cy="1600200"/>
          </a:xfrm>
          <a:prstGeom prst="roundRect">
            <a:avLst>
              <a:gd name="adj" fmla="val 5714"/>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22" name="Shape 17"/>
          <p:cNvSpPr/>
          <p:nvPr/>
        </p:nvSpPr>
        <p:spPr>
          <a:xfrm>
            <a:off x="6519672" y="3895344"/>
            <a:ext cx="457200" cy="457200"/>
          </a:xfrm>
          <a:prstGeom prst="roundRect">
            <a:avLst>
              <a:gd name="adj" fmla="val 18000"/>
            </a:avLst>
          </a:prstGeom>
          <a:solidFill>
            <a:srgbClr val="EEF2FF"/>
          </a:solidFill>
          <a:ln/>
        </p:spPr>
        <p:txBody>
          <a:bodyPr/>
          <a:lstStyle/>
          <a:p>
            <a:endParaRPr lang="en-IN"/>
          </a:p>
        </p:txBody>
      </p:sp>
      <p:pic>
        <p:nvPicPr>
          <p:cNvPr id="23" name="Image 3" descr="preencoded.png"/>
          <p:cNvPicPr>
            <a:picLocks noChangeAspect="1"/>
          </p:cNvPicPr>
          <p:nvPr/>
        </p:nvPicPr>
        <p:blipFill>
          <a:blip r:embed="rId6"/>
          <a:stretch>
            <a:fillRect/>
          </a:stretch>
        </p:blipFill>
        <p:spPr>
          <a:xfrm>
            <a:off x="6620256" y="3995928"/>
            <a:ext cx="256032" cy="256032"/>
          </a:xfrm>
          <a:prstGeom prst="rect">
            <a:avLst/>
          </a:prstGeom>
        </p:spPr>
      </p:pic>
      <p:sp>
        <p:nvSpPr>
          <p:cNvPr id="24" name="Text 18"/>
          <p:cNvSpPr/>
          <p:nvPr/>
        </p:nvSpPr>
        <p:spPr>
          <a:xfrm>
            <a:off x="7123176" y="3931920"/>
            <a:ext cx="4251960" cy="384048"/>
          </a:xfrm>
          <a:prstGeom prst="rect">
            <a:avLst/>
          </a:prstGeom>
          <a:noFill/>
          <a:ln/>
        </p:spPr>
        <p:txBody>
          <a:bodyPr wrap="square" lIns="0" tIns="0" rIns="0" bIns="0" rtlCol="0" anchor="ctr"/>
          <a:lstStyle/>
          <a:p>
            <a:pPr marL="0" indent="0">
              <a:buNone/>
            </a:pPr>
            <a:r>
              <a:rPr lang="en-US" sz="1550" b="1" dirty="0">
                <a:solidFill>
                  <a:srgbClr val="0F172A"/>
                </a:solidFill>
                <a:latin typeface="Cambria" pitchFamily="34" charset="0"/>
                <a:ea typeface="Cambria" pitchFamily="34" charset="-122"/>
                <a:cs typeface="Cambria" pitchFamily="34" charset="-120"/>
              </a:rPr>
              <a:t>General Product Feedback</a:t>
            </a:r>
            <a:endParaRPr lang="en-US" sz="1550" dirty="0"/>
          </a:p>
        </p:txBody>
      </p:sp>
      <p:sp>
        <p:nvSpPr>
          <p:cNvPr id="25" name="Text 19"/>
          <p:cNvSpPr/>
          <p:nvPr/>
        </p:nvSpPr>
        <p:spPr>
          <a:xfrm>
            <a:off x="7123176" y="4370832"/>
            <a:ext cx="4206240" cy="731520"/>
          </a:xfrm>
          <a:prstGeom prst="rect">
            <a:avLst/>
          </a:prstGeom>
          <a:noFill/>
          <a:ln/>
        </p:spPr>
        <p:txBody>
          <a:bodyPr wrap="square" lIns="0" tIns="0" rIns="0" bIns="0" rtlCol="0" anchor="t"/>
          <a:lstStyle/>
          <a:p>
            <a:pPr marL="0" indent="0">
              <a:buNone/>
            </a:pPr>
            <a:r>
              <a:rPr lang="en-US" sz="1250" dirty="0">
                <a:solidFill>
                  <a:srgbClr val="64748B"/>
                </a:solidFill>
                <a:latin typeface="Calibri" pitchFamily="34" charset="0"/>
                <a:ea typeface="Calibri" pitchFamily="34" charset="-122"/>
                <a:cs typeface="Calibri" pitchFamily="34" charset="-120"/>
              </a:rPr>
              <a:t>Anything else that can help improve the application.</a:t>
            </a:r>
            <a:endParaRPr lang="en-US" sz="1250" dirty="0"/>
          </a:p>
        </p:txBody>
      </p:sp>
      <p:sp>
        <p:nvSpPr>
          <p:cNvPr id="26" name="Shape 20"/>
          <p:cNvSpPr/>
          <p:nvPr/>
        </p:nvSpPr>
        <p:spPr>
          <a:xfrm>
            <a:off x="548640" y="5532120"/>
            <a:ext cx="11064240" cy="658368"/>
          </a:xfrm>
          <a:prstGeom prst="roundRect">
            <a:avLst>
              <a:gd name="adj" fmla="val 13889"/>
            </a:avLst>
          </a:prstGeom>
          <a:solidFill>
            <a:srgbClr val="EEF2FF"/>
          </a:solidFill>
          <a:ln w="12700">
            <a:solidFill>
              <a:srgbClr val="C7D2FE"/>
            </a:solidFill>
            <a:prstDash val="solid"/>
          </a:ln>
          <a:effectLst>
            <a:outerShdw blurRad="76200" dist="12700" dir="5400000" algn="bl" rotWithShape="0">
              <a:srgbClr val="94A3B8">
                <a:alpha val="18000"/>
              </a:srgbClr>
            </a:outerShdw>
          </a:effectLst>
        </p:spPr>
        <p:txBody>
          <a:bodyPr/>
          <a:lstStyle/>
          <a:p>
            <a:endParaRPr lang="en-IN"/>
          </a:p>
        </p:txBody>
      </p:sp>
      <p:sp>
        <p:nvSpPr>
          <p:cNvPr id="27" name="Text 21"/>
          <p:cNvSpPr/>
          <p:nvPr/>
        </p:nvSpPr>
        <p:spPr>
          <a:xfrm>
            <a:off x="914400" y="5532120"/>
            <a:ext cx="10332720" cy="658368"/>
          </a:xfrm>
          <a:prstGeom prst="rect">
            <a:avLst/>
          </a:prstGeom>
          <a:noFill/>
          <a:ln/>
        </p:spPr>
        <p:txBody>
          <a:bodyPr wrap="square" lIns="0" tIns="0" rIns="0" bIns="0" rtlCol="0" anchor="ctr"/>
          <a:lstStyle/>
          <a:p>
            <a:pPr marL="0" indent="0">
              <a:buNone/>
            </a:pPr>
            <a:r>
              <a:rPr lang="en-US" sz="1200" dirty="0">
                <a:solidFill>
                  <a:srgbClr val="0F172A"/>
                </a:solidFill>
                <a:latin typeface="Calibri" pitchFamily="34" charset="0"/>
                <a:ea typeface="Calibri" pitchFamily="34" charset="-122"/>
                <a:cs typeface="Calibri" pitchFamily="34" charset="-120"/>
              </a:rPr>
              <a:t>Orbit uses the same common Feedback form as our other applications — the entry points are already in the beta.  </a:t>
            </a:r>
            <a:r>
              <a:rPr lang="en-US" sz="1250" b="1" dirty="0">
                <a:solidFill>
                  <a:srgbClr val="4F46E5"/>
                </a:solidFill>
                <a:latin typeface="Calibri" pitchFamily="34" charset="0"/>
                <a:ea typeface="Calibri" pitchFamily="34" charset="-122"/>
                <a:cs typeface="Calibri" pitchFamily="34" charset="-120"/>
              </a:rPr>
              <a:t>During beta, your feedback directly shapes the next version.</a:t>
            </a:r>
            <a:endParaRPr lang="en-US" sz="1200" dirty="0"/>
          </a:p>
        </p:txBody>
      </p:sp>
      <p:sp>
        <p:nvSpPr>
          <p:cNvPr id="28" name="Text 22"/>
          <p:cNvSpPr/>
          <p:nvPr/>
        </p:nvSpPr>
        <p:spPr>
          <a:xfrm>
            <a:off x="548640" y="6473952"/>
            <a:ext cx="2743200" cy="274320"/>
          </a:xfrm>
          <a:prstGeom prst="rect">
            <a:avLst/>
          </a:prstGeom>
          <a:noFill/>
          <a:ln/>
        </p:spPr>
        <p:txBody>
          <a:bodyPr wrap="square" lIns="0" tIns="0" rIns="0" bIns="0"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Orbit</a:t>
            </a: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29" name="Text 23"/>
          <p:cNvSpPr/>
          <p:nvPr/>
        </p:nvSpPr>
        <p:spPr>
          <a:xfrm>
            <a:off x="11277295" y="6473952"/>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84048"/>
            <a:ext cx="9601200" cy="292608"/>
          </a:xfrm>
          <a:prstGeom prst="rect">
            <a:avLst/>
          </a:prstGeom>
          <a:noFill/>
          <a:ln/>
        </p:spPr>
        <p:txBody>
          <a:bodyPr wrap="square" lIns="0" tIns="0" rIns="0" bIns="0" rtlCol="0" anchor="ctr"/>
          <a:lstStyle/>
          <a:p>
            <a:pPr marL="0" indent="0">
              <a:buNone/>
            </a:pPr>
            <a:r>
              <a:rPr lang="en-US" sz="1200" b="1" kern="0" spc="300" dirty="0">
                <a:solidFill>
                  <a:srgbClr val="4F46E5"/>
                </a:solidFill>
                <a:latin typeface="Calibri" pitchFamily="34" charset="0"/>
                <a:ea typeface="Calibri" pitchFamily="34" charset="-122"/>
                <a:cs typeface="Calibri" pitchFamily="34" charset="-120"/>
              </a:rPr>
              <a:t>GETTING STARTED</a:t>
            </a:r>
            <a:endParaRPr lang="en-US" sz="1200" dirty="0"/>
          </a:p>
        </p:txBody>
      </p:sp>
      <p:sp>
        <p:nvSpPr>
          <p:cNvPr id="3" name="Text 1"/>
          <p:cNvSpPr/>
          <p:nvPr/>
        </p:nvSpPr>
        <p:spPr>
          <a:xfrm>
            <a:off x="548640" y="658368"/>
            <a:ext cx="10424160" cy="658368"/>
          </a:xfrm>
          <a:prstGeom prst="rect">
            <a:avLst/>
          </a:prstGeom>
          <a:noFill/>
          <a:ln/>
        </p:spPr>
        <p:txBody>
          <a:bodyPr wrap="square" lIns="0" tIns="0" rIns="0" bIns="0" rtlCol="0" anchor="ctr"/>
          <a:lstStyle/>
          <a:p>
            <a:pPr marL="0" indent="0">
              <a:buNone/>
            </a:pPr>
            <a:r>
              <a:rPr lang="en-US" sz="3000" b="1" dirty="0">
                <a:solidFill>
                  <a:srgbClr val="0F172A"/>
                </a:solidFill>
                <a:latin typeface="Cambria" pitchFamily="34" charset="0"/>
                <a:ea typeface="Cambria" pitchFamily="34" charset="-122"/>
                <a:cs typeface="Cambria" pitchFamily="34" charset="-120"/>
              </a:rPr>
              <a:t>Starting with Orbit</a:t>
            </a:r>
            <a:endParaRPr lang="en-US" sz="3000" dirty="0"/>
          </a:p>
        </p:txBody>
      </p:sp>
      <p:sp>
        <p:nvSpPr>
          <p:cNvPr id="4" name="Text 2"/>
          <p:cNvSpPr/>
          <p:nvPr/>
        </p:nvSpPr>
        <p:spPr>
          <a:xfrm>
            <a:off x="566928" y="1298448"/>
            <a:ext cx="10424160" cy="320040"/>
          </a:xfrm>
          <a:prstGeom prst="rect">
            <a:avLst/>
          </a:prstGeom>
          <a:noFill/>
          <a:ln/>
        </p:spPr>
        <p:txBody>
          <a:bodyPr wrap="square" lIns="0" tIns="0" rIns="0" bIns="0" rtlCol="0" anchor="ctr"/>
          <a:lstStyle/>
          <a:p>
            <a:pPr marL="0" indent="0">
              <a:buNone/>
            </a:pPr>
            <a:r>
              <a:rPr lang="en-US" sz="1400" i="1" dirty="0">
                <a:solidFill>
                  <a:srgbClr val="64748B"/>
                </a:solidFill>
                <a:latin typeface="Calibri" pitchFamily="34" charset="0"/>
                <a:ea typeface="Calibri" pitchFamily="34" charset="-122"/>
                <a:cs typeface="Calibri" pitchFamily="34" charset="-120"/>
              </a:rPr>
              <a:t>Three things we need from everyone.</a:t>
            </a:r>
            <a:endParaRPr lang="en-US" sz="1400" dirty="0"/>
          </a:p>
        </p:txBody>
      </p:sp>
      <p:sp>
        <p:nvSpPr>
          <p:cNvPr id="5" name="Shape 3"/>
          <p:cNvSpPr/>
          <p:nvPr/>
        </p:nvSpPr>
        <p:spPr>
          <a:xfrm>
            <a:off x="11341303" y="585216"/>
            <a:ext cx="146304" cy="146304"/>
          </a:xfrm>
          <a:prstGeom prst="diamond">
            <a:avLst/>
          </a:prstGeom>
          <a:solidFill>
            <a:srgbClr val="818CF8"/>
          </a:solidFill>
          <a:ln/>
        </p:spPr>
        <p:txBody>
          <a:bodyPr/>
          <a:lstStyle/>
          <a:p>
            <a:endParaRPr lang="en-IN"/>
          </a:p>
        </p:txBody>
      </p:sp>
      <p:sp>
        <p:nvSpPr>
          <p:cNvPr id="6" name="Shape 4"/>
          <p:cNvSpPr/>
          <p:nvPr/>
        </p:nvSpPr>
        <p:spPr>
          <a:xfrm>
            <a:off x="548640" y="1828800"/>
            <a:ext cx="3611880" cy="3657600"/>
          </a:xfrm>
          <a:prstGeom prst="roundRect">
            <a:avLst>
              <a:gd name="adj" fmla="val 2532"/>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7" name="Shape 5"/>
          <p:cNvSpPr/>
          <p:nvPr/>
        </p:nvSpPr>
        <p:spPr>
          <a:xfrm>
            <a:off x="822960" y="2121408"/>
            <a:ext cx="512064" cy="512064"/>
          </a:xfrm>
          <a:prstGeom prst="roundRect">
            <a:avLst>
              <a:gd name="adj" fmla="val 19643"/>
            </a:avLst>
          </a:prstGeom>
          <a:solidFill>
            <a:srgbClr val="4F46E5"/>
          </a:solidFill>
          <a:ln/>
        </p:spPr>
        <p:txBody>
          <a:bodyPr/>
          <a:lstStyle/>
          <a:p>
            <a:endParaRPr lang="en-IN"/>
          </a:p>
        </p:txBody>
      </p:sp>
      <p:sp>
        <p:nvSpPr>
          <p:cNvPr id="8" name="Text 6"/>
          <p:cNvSpPr/>
          <p:nvPr/>
        </p:nvSpPr>
        <p:spPr>
          <a:xfrm>
            <a:off x="822960" y="2121408"/>
            <a:ext cx="512064" cy="512064"/>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9" name="Shape 7"/>
          <p:cNvSpPr/>
          <p:nvPr/>
        </p:nvSpPr>
        <p:spPr>
          <a:xfrm>
            <a:off x="3383280" y="2139696"/>
            <a:ext cx="475488" cy="475488"/>
          </a:xfrm>
          <a:prstGeom prst="roundRect">
            <a:avLst>
              <a:gd name="adj" fmla="val 17308"/>
            </a:avLst>
          </a:prstGeom>
          <a:solidFill>
            <a:srgbClr val="EEF2FF"/>
          </a:solidFill>
          <a:ln/>
        </p:spPr>
        <p:txBody>
          <a:bodyPr/>
          <a:lstStyle/>
          <a:p>
            <a:endParaRPr lang="en-IN"/>
          </a:p>
        </p:txBody>
      </p:sp>
      <p:pic>
        <p:nvPicPr>
          <p:cNvPr id="10" name="Image 0" descr="preencoded.png"/>
          <p:cNvPicPr>
            <a:picLocks noChangeAspect="1"/>
          </p:cNvPicPr>
          <p:nvPr/>
        </p:nvPicPr>
        <p:blipFill>
          <a:blip r:embed="rId3"/>
          <a:stretch>
            <a:fillRect/>
          </a:stretch>
        </p:blipFill>
        <p:spPr>
          <a:xfrm>
            <a:off x="3487887" y="2244303"/>
            <a:ext cx="266273" cy="266273"/>
          </a:xfrm>
          <a:prstGeom prst="rect">
            <a:avLst/>
          </a:prstGeom>
        </p:spPr>
      </p:pic>
      <p:sp>
        <p:nvSpPr>
          <p:cNvPr id="11" name="Text 8"/>
          <p:cNvSpPr/>
          <p:nvPr/>
        </p:nvSpPr>
        <p:spPr>
          <a:xfrm>
            <a:off x="822960" y="2971800"/>
            <a:ext cx="3063240" cy="777240"/>
          </a:xfrm>
          <a:prstGeom prst="rect">
            <a:avLst/>
          </a:prstGeom>
          <a:noFill/>
          <a:ln/>
        </p:spPr>
        <p:txBody>
          <a:bodyPr wrap="square" lIns="0" tIns="0" rIns="0" bIns="0" rtlCol="0" anchor="t"/>
          <a:lstStyle/>
          <a:p>
            <a:pPr marL="0" indent="0">
              <a:buNone/>
            </a:pPr>
            <a:r>
              <a:rPr lang="en-US" sz="1700" b="1" dirty="0">
                <a:solidFill>
                  <a:srgbClr val="0F172A"/>
                </a:solidFill>
                <a:latin typeface="Cambria" pitchFamily="34" charset="0"/>
                <a:ea typeface="Cambria" pitchFamily="34" charset="-122"/>
                <a:cs typeface="Cambria" pitchFamily="34" charset="-120"/>
              </a:rPr>
              <a:t>Use Orbit</a:t>
            </a:r>
            <a:endParaRPr lang="en-US" sz="1700" dirty="0"/>
          </a:p>
        </p:txBody>
      </p:sp>
      <p:sp>
        <p:nvSpPr>
          <p:cNvPr id="12" name="Text 9"/>
          <p:cNvSpPr/>
          <p:nvPr/>
        </p:nvSpPr>
        <p:spPr>
          <a:xfrm>
            <a:off x="822960" y="3794760"/>
            <a:ext cx="3063240" cy="1463040"/>
          </a:xfrm>
          <a:prstGeom prst="rect">
            <a:avLst/>
          </a:prstGeom>
          <a:noFill/>
          <a:ln/>
        </p:spPr>
        <p:txBody>
          <a:bodyPr wrap="square" lIns="0" tIns="0" rIns="0" bIns="0" rtlCol="0" anchor="t"/>
          <a:lstStyle/>
          <a:p>
            <a:pPr marL="0" indent="0">
              <a:buNone/>
            </a:pPr>
            <a:r>
              <a:rPr lang="en-US" sz="1280" dirty="0">
                <a:solidFill>
                  <a:srgbClr val="64748B"/>
                </a:solidFill>
                <a:latin typeface="Calibri" pitchFamily="34" charset="0"/>
                <a:ea typeface="Calibri" pitchFamily="34" charset="-122"/>
                <a:cs typeface="Calibri" pitchFamily="34" charset="-120"/>
              </a:rPr>
              <a:t>Start using it as part of your normal working routine.</a:t>
            </a:r>
            <a:endParaRPr lang="en-US" sz="1280" dirty="0"/>
          </a:p>
        </p:txBody>
      </p:sp>
      <p:sp>
        <p:nvSpPr>
          <p:cNvPr id="13" name="Shape 10"/>
          <p:cNvSpPr/>
          <p:nvPr/>
        </p:nvSpPr>
        <p:spPr>
          <a:xfrm>
            <a:off x="4352544" y="1828800"/>
            <a:ext cx="3611880" cy="3657600"/>
          </a:xfrm>
          <a:prstGeom prst="roundRect">
            <a:avLst>
              <a:gd name="adj" fmla="val 2532"/>
            </a:avLst>
          </a:prstGeom>
          <a:solidFill>
            <a:srgbClr val="EEF2FF"/>
          </a:solidFill>
          <a:ln w="12700">
            <a:solidFill>
              <a:srgbClr val="C7D2FE"/>
            </a:solidFill>
            <a:prstDash val="solid"/>
          </a:ln>
          <a:effectLst>
            <a:outerShdw blurRad="76200" dist="12700" dir="5400000" algn="bl" rotWithShape="0">
              <a:srgbClr val="94A3B8">
                <a:alpha val="18000"/>
              </a:srgbClr>
            </a:outerShdw>
          </a:effectLst>
        </p:spPr>
        <p:txBody>
          <a:bodyPr/>
          <a:lstStyle/>
          <a:p>
            <a:endParaRPr lang="en-IN"/>
          </a:p>
        </p:txBody>
      </p:sp>
      <p:sp>
        <p:nvSpPr>
          <p:cNvPr id="14" name="Shape 11"/>
          <p:cNvSpPr/>
          <p:nvPr/>
        </p:nvSpPr>
        <p:spPr>
          <a:xfrm>
            <a:off x="4626864" y="2121408"/>
            <a:ext cx="512064" cy="512064"/>
          </a:xfrm>
          <a:prstGeom prst="roundRect">
            <a:avLst>
              <a:gd name="adj" fmla="val 19643"/>
            </a:avLst>
          </a:prstGeom>
          <a:solidFill>
            <a:srgbClr val="4F46E5"/>
          </a:solidFill>
          <a:ln/>
        </p:spPr>
        <p:txBody>
          <a:bodyPr/>
          <a:lstStyle/>
          <a:p>
            <a:endParaRPr lang="en-IN"/>
          </a:p>
        </p:txBody>
      </p:sp>
      <p:sp>
        <p:nvSpPr>
          <p:cNvPr id="15" name="Text 12"/>
          <p:cNvSpPr/>
          <p:nvPr/>
        </p:nvSpPr>
        <p:spPr>
          <a:xfrm>
            <a:off x="4626864" y="2121408"/>
            <a:ext cx="512064" cy="512064"/>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6" name="Shape 13"/>
          <p:cNvSpPr/>
          <p:nvPr/>
        </p:nvSpPr>
        <p:spPr>
          <a:xfrm>
            <a:off x="7187184" y="2139696"/>
            <a:ext cx="475488" cy="475488"/>
          </a:xfrm>
          <a:prstGeom prst="roundRect">
            <a:avLst>
              <a:gd name="adj" fmla="val 17308"/>
            </a:avLst>
          </a:prstGeom>
          <a:solidFill>
            <a:srgbClr val="E0E7FF"/>
          </a:solidFill>
          <a:ln/>
        </p:spPr>
        <p:txBody>
          <a:bodyPr/>
          <a:lstStyle/>
          <a:p>
            <a:endParaRPr lang="en-IN"/>
          </a:p>
        </p:txBody>
      </p:sp>
      <p:pic>
        <p:nvPicPr>
          <p:cNvPr id="17" name="Image 1" descr="preencoded.png"/>
          <p:cNvPicPr>
            <a:picLocks noChangeAspect="1"/>
          </p:cNvPicPr>
          <p:nvPr/>
        </p:nvPicPr>
        <p:blipFill>
          <a:blip r:embed="rId4"/>
          <a:stretch>
            <a:fillRect/>
          </a:stretch>
        </p:blipFill>
        <p:spPr>
          <a:xfrm>
            <a:off x="7291791" y="2244303"/>
            <a:ext cx="266273" cy="266273"/>
          </a:xfrm>
          <a:prstGeom prst="rect">
            <a:avLst/>
          </a:prstGeom>
        </p:spPr>
      </p:pic>
      <p:sp>
        <p:nvSpPr>
          <p:cNvPr id="18" name="Text 14"/>
          <p:cNvSpPr/>
          <p:nvPr/>
        </p:nvSpPr>
        <p:spPr>
          <a:xfrm>
            <a:off x="4626864" y="2971800"/>
            <a:ext cx="3063240" cy="777240"/>
          </a:xfrm>
          <a:prstGeom prst="rect">
            <a:avLst/>
          </a:prstGeom>
          <a:noFill/>
          <a:ln/>
        </p:spPr>
        <p:txBody>
          <a:bodyPr wrap="square" lIns="0" tIns="0" rIns="0" bIns="0" rtlCol="0" anchor="t"/>
          <a:lstStyle/>
          <a:p>
            <a:pPr marL="0" indent="0">
              <a:buNone/>
            </a:pPr>
            <a:r>
              <a:rPr lang="en-US" sz="1700" b="1" dirty="0">
                <a:solidFill>
                  <a:srgbClr val="0F172A"/>
                </a:solidFill>
                <a:latin typeface="Cambria" pitchFamily="34" charset="0"/>
                <a:ea typeface="Cambria" pitchFamily="34" charset="-122"/>
                <a:cs typeface="Cambria" pitchFamily="34" charset="-120"/>
              </a:rPr>
              <a:t>Keep Orbit accurate</a:t>
            </a:r>
            <a:endParaRPr lang="en-US" sz="1700" dirty="0"/>
          </a:p>
        </p:txBody>
      </p:sp>
      <p:sp>
        <p:nvSpPr>
          <p:cNvPr id="19" name="Text 15"/>
          <p:cNvSpPr/>
          <p:nvPr/>
        </p:nvSpPr>
        <p:spPr>
          <a:xfrm>
            <a:off x="4626864" y="3794760"/>
            <a:ext cx="3063240" cy="1463040"/>
          </a:xfrm>
          <a:prstGeom prst="rect">
            <a:avLst/>
          </a:prstGeom>
          <a:noFill/>
          <a:ln/>
        </p:spPr>
        <p:txBody>
          <a:bodyPr wrap="square" lIns="0" tIns="0" rIns="0" bIns="0" rtlCol="0" anchor="t"/>
          <a:lstStyle/>
          <a:p>
            <a:pPr marL="0" indent="0">
              <a:buNone/>
            </a:pPr>
            <a:r>
              <a:rPr lang="en-US" sz="1280" dirty="0">
                <a:solidFill>
                  <a:srgbClr val="64748B"/>
                </a:solidFill>
                <a:latin typeface="Calibri" pitchFamily="34" charset="0"/>
                <a:ea typeface="Calibri" pitchFamily="34" charset="-122"/>
                <a:cs typeface="Calibri" pitchFamily="34" charset="-120"/>
              </a:rPr>
              <a:t>Record leave, WFH and other relevant information through the platform, so the shared calendar remains reliable.</a:t>
            </a:r>
            <a:endParaRPr lang="en-US" sz="1280" dirty="0"/>
          </a:p>
        </p:txBody>
      </p:sp>
      <p:sp>
        <p:nvSpPr>
          <p:cNvPr id="20" name="Shape 16"/>
          <p:cNvSpPr/>
          <p:nvPr/>
        </p:nvSpPr>
        <p:spPr>
          <a:xfrm>
            <a:off x="8156448" y="1828800"/>
            <a:ext cx="3611880" cy="3657600"/>
          </a:xfrm>
          <a:prstGeom prst="roundRect">
            <a:avLst>
              <a:gd name="adj" fmla="val 2532"/>
            </a:avLst>
          </a:prstGeom>
          <a:solidFill>
            <a:srgbClr val="F8FAFC"/>
          </a:solidFill>
          <a:ln w="12700">
            <a:solidFill>
              <a:srgbClr val="E2E8F0"/>
            </a:solidFill>
            <a:prstDash val="solid"/>
          </a:ln>
          <a:effectLst>
            <a:outerShdw blurRad="76200" dist="12700" dir="5400000" algn="bl" rotWithShape="0">
              <a:srgbClr val="94A3B8">
                <a:alpha val="18000"/>
              </a:srgbClr>
            </a:outerShdw>
          </a:effectLst>
        </p:spPr>
        <p:txBody>
          <a:bodyPr/>
          <a:lstStyle/>
          <a:p>
            <a:endParaRPr lang="en-IN"/>
          </a:p>
        </p:txBody>
      </p:sp>
      <p:sp>
        <p:nvSpPr>
          <p:cNvPr id="21" name="Shape 17"/>
          <p:cNvSpPr/>
          <p:nvPr/>
        </p:nvSpPr>
        <p:spPr>
          <a:xfrm>
            <a:off x="8430768" y="2121408"/>
            <a:ext cx="512064" cy="512064"/>
          </a:xfrm>
          <a:prstGeom prst="roundRect">
            <a:avLst>
              <a:gd name="adj" fmla="val 19643"/>
            </a:avLst>
          </a:prstGeom>
          <a:solidFill>
            <a:srgbClr val="4F46E5"/>
          </a:solidFill>
          <a:ln/>
        </p:spPr>
        <p:txBody>
          <a:bodyPr/>
          <a:lstStyle/>
          <a:p>
            <a:endParaRPr lang="en-IN"/>
          </a:p>
        </p:txBody>
      </p:sp>
      <p:sp>
        <p:nvSpPr>
          <p:cNvPr id="22" name="Text 18"/>
          <p:cNvSpPr/>
          <p:nvPr/>
        </p:nvSpPr>
        <p:spPr>
          <a:xfrm>
            <a:off x="8430768" y="2121408"/>
            <a:ext cx="512064" cy="512064"/>
          </a:xfrm>
          <a:prstGeom prst="rect">
            <a:avLst/>
          </a:prstGeom>
          <a:noFill/>
          <a:ln/>
        </p:spPr>
        <p:txBody>
          <a:bodyPr wrap="square" lIns="0" tIns="0" rIns="0" bIns="0" rtlCol="0" anchor="ctr"/>
          <a:lstStyle/>
          <a:p>
            <a:pPr marL="0" indent="0" algn="ctr">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23" name="Shape 19"/>
          <p:cNvSpPr/>
          <p:nvPr/>
        </p:nvSpPr>
        <p:spPr>
          <a:xfrm>
            <a:off x="10991088" y="2139696"/>
            <a:ext cx="475488" cy="475488"/>
          </a:xfrm>
          <a:prstGeom prst="roundRect">
            <a:avLst>
              <a:gd name="adj" fmla="val 17308"/>
            </a:avLst>
          </a:prstGeom>
          <a:solidFill>
            <a:srgbClr val="EEF2FF"/>
          </a:solidFill>
          <a:ln/>
        </p:spPr>
        <p:txBody>
          <a:bodyPr/>
          <a:lstStyle/>
          <a:p>
            <a:endParaRPr lang="en-IN"/>
          </a:p>
        </p:txBody>
      </p:sp>
      <p:pic>
        <p:nvPicPr>
          <p:cNvPr id="24" name="Image 2" descr="preencoded.png"/>
          <p:cNvPicPr>
            <a:picLocks noChangeAspect="1"/>
          </p:cNvPicPr>
          <p:nvPr/>
        </p:nvPicPr>
        <p:blipFill>
          <a:blip r:embed="rId5"/>
          <a:stretch>
            <a:fillRect/>
          </a:stretch>
        </p:blipFill>
        <p:spPr>
          <a:xfrm>
            <a:off x="11095695" y="2244303"/>
            <a:ext cx="266273" cy="266273"/>
          </a:xfrm>
          <a:prstGeom prst="rect">
            <a:avLst/>
          </a:prstGeom>
        </p:spPr>
      </p:pic>
      <p:sp>
        <p:nvSpPr>
          <p:cNvPr id="25" name="Text 20"/>
          <p:cNvSpPr/>
          <p:nvPr/>
        </p:nvSpPr>
        <p:spPr>
          <a:xfrm>
            <a:off x="8430768" y="2971800"/>
            <a:ext cx="3063240" cy="777240"/>
          </a:xfrm>
          <a:prstGeom prst="rect">
            <a:avLst/>
          </a:prstGeom>
          <a:noFill/>
          <a:ln/>
        </p:spPr>
        <p:txBody>
          <a:bodyPr wrap="square" lIns="0" tIns="0" rIns="0" bIns="0" rtlCol="0" anchor="t"/>
          <a:lstStyle/>
          <a:p>
            <a:pPr marL="0" indent="0">
              <a:buNone/>
            </a:pPr>
            <a:r>
              <a:rPr lang="en-US" sz="1700" b="1" dirty="0">
                <a:solidFill>
                  <a:srgbClr val="0F172A"/>
                </a:solidFill>
                <a:latin typeface="Cambria" pitchFamily="34" charset="0"/>
                <a:ea typeface="Cambria" pitchFamily="34" charset="-122"/>
                <a:cs typeface="Cambria" pitchFamily="34" charset="-120"/>
              </a:rPr>
              <a:t>Tell us what needs improvement</a:t>
            </a:r>
            <a:endParaRPr lang="en-US" sz="1700" dirty="0"/>
          </a:p>
        </p:txBody>
      </p:sp>
      <p:sp>
        <p:nvSpPr>
          <p:cNvPr id="26" name="Text 21"/>
          <p:cNvSpPr/>
          <p:nvPr/>
        </p:nvSpPr>
        <p:spPr>
          <a:xfrm>
            <a:off x="8430768" y="3794760"/>
            <a:ext cx="3063240" cy="1463040"/>
          </a:xfrm>
          <a:prstGeom prst="rect">
            <a:avLst/>
          </a:prstGeom>
          <a:noFill/>
          <a:ln/>
        </p:spPr>
        <p:txBody>
          <a:bodyPr wrap="square" lIns="0" tIns="0" rIns="0" bIns="0" rtlCol="0" anchor="t"/>
          <a:lstStyle/>
          <a:p>
            <a:pPr marL="0" indent="0">
              <a:buNone/>
            </a:pPr>
            <a:r>
              <a:rPr lang="en-US" sz="1280" dirty="0">
                <a:solidFill>
                  <a:srgbClr val="64748B"/>
                </a:solidFill>
                <a:latin typeface="Calibri" pitchFamily="34" charset="0"/>
                <a:ea typeface="Calibri" pitchFamily="34" charset="-122"/>
                <a:cs typeface="Calibri" pitchFamily="34" charset="-120"/>
              </a:rPr>
              <a:t>Use the Feedback form whenever you find an issue or have an idea.</a:t>
            </a:r>
            <a:endParaRPr lang="en-US" sz="1280" dirty="0"/>
          </a:p>
        </p:txBody>
      </p:sp>
      <p:sp>
        <p:nvSpPr>
          <p:cNvPr id="27" name="Text 22"/>
          <p:cNvSpPr/>
          <p:nvPr/>
        </p:nvSpPr>
        <p:spPr>
          <a:xfrm>
            <a:off x="548640" y="6473952"/>
            <a:ext cx="2743200" cy="274320"/>
          </a:xfrm>
          <a:prstGeom prst="rect">
            <a:avLst/>
          </a:prstGeom>
          <a:noFill/>
          <a:ln/>
        </p:spPr>
        <p:txBody>
          <a:bodyPr wrap="square" lIns="0" tIns="0" rIns="0" bIns="0" rtlCol="0" anchor="ctr"/>
          <a:lstStyle/>
          <a:p>
            <a:pPr marL="0" indent="0">
              <a:buNone/>
            </a:pPr>
            <a:r>
              <a:rPr lang="en-US" sz="900" b="1" dirty="0">
                <a:solidFill>
                  <a:srgbClr val="64748B"/>
                </a:solidFill>
                <a:latin typeface="Calibri" pitchFamily="34" charset="0"/>
                <a:ea typeface="Calibri" pitchFamily="34" charset="-122"/>
                <a:cs typeface="Calibri" pitchFamily="34" charset="-120"/>
              </a:rPr>
              <a:t>Orbit</a:t>
            </a:r>
            <a:r>
              <a:rPr lang="en-US" sz="900" dirty="0">
                <a:solidFill>
                  <a:srgbClr val="64748B"/>
                </a:solidFill>
                <a:latin typeface="Calibri" pitchFamily="34" charset="0"/>
                <a:ea typeface="Calibri" pitchFamily="34" charset="-122"/>
                <a:cs typeface="Calibri" pitchFamily="34" charset="-120"/>
              </a:rPr>
              <a:t>  by Trula.ai</a:t>
            </a:r>
            <a:endParaRPr lang="en-US" sz="900" dirty="0"/>
          </a:p>
        </p:txBody>
      </p:sp>
      <p:sp>
        <p:nvSpPr>
          <p:cNvPr id="28" name="Text 23"/>
          <p:cNvSpPr/>
          <p:nvPr/>
        </p:nvSpPr>
        <p:spPr>
          <a:xfrm>
            <a:off x="11277295" y="6473952"/>
            <a:ext cx="45720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TotalTime>
  <Words>2454</Words>
  <Application>Microsoft Office PowerPoint</Application>
  <PresentationFormat>Widescreen</PresentationFormat>
  <Paragraphs>312</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Aishwarya Sanjay</cp:lastModifiedBy>
  <cp:revision>2</cp:revision>
  <dcterms:created xsi:type="dcterms:W3CDTF">2026-08-10T09:11:16Z</dcterms:created>
  <dcterms:modified xsi:type="dcterms:W3CDTF">2026-08-13T12:06:54Z</dcterms:modified>
</cp:coreProperties>
</file>